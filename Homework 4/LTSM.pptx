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tmp" ContentType="image/p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4"/>
  </p:notesMasterIdLst>
  <p:sldIdLst>
    <p:sldId id="432" r:id="rId2"/>
    <p:sldId id="445" r:id="rId3"/>
    <p:sldId id="442" r:id="rId4"/>
    <p:sldId id="443" r:id="rId5"/>
    <p:sldId id="444" r:id="rId6"/>
    <p:sldId id="402" r:id="rId7"/>
    <p:sldId id="446" r:id="rId8"/>
    <p:sldId id="401" r:id="rId9"/>
    <p:sldId id="346" r:id="rId10"/>
    <p:sldId id="435" r:id="rId11"/>
    <p:sldId id="428" r:id="rId12"/>
    <p:sldId id="441" r:id="rId1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77" userDrawn="1">
          <p15:clr>
            <a:srgbClr val="A4A3A4"/>
          </p15:clr>
        </p15:guide>
        <p15:guide id="4" pos="4059" userDrawn="1">
          <p15:clr>
            <a:srgbClr val="A4A3A4"/>
          </p15:clr>
        </p15:guide>
        <p15:guide id="5" orient="horz" pos="259" userDrawn="1">
          <p15:clr>
            <a:srgbClr val="A4A3A4"/>
          </p15:clr>
        </p15:guide>
        <p15:guide id="6" pos="1701" userDrawn="1">
          <p15:clr>
            <a:srgbClr val="A4A3A4"/>
          </p15:clr>
        </p15:guide>
        <p15:guide id="7" pos="2880" userDrawn="1">
          <p15:clr>
            <a:srgbClr val="A4A3A4"/>
          </p15:clr>
        </p15:guide>
        <p15:guide id="8" orient="horz" pos="16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7287"/>
    <a:srgbClr val="25BFCB"/>
    <a:srgbClr val="CB483E"/>
    <a:srgbClr val="DBBA17"/>
    <a:srgbClr val="460972"/>
    <a:srgbClr val="C41AB8"/>
    <a:srgbClr val="207EBA"/>
    <a:srgbClr val="004D8C"/>
    <a:srgbClr val="3FAA96"/>
    <a:srgbClr val="2F7F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6441" autoAdjust="0"/>
  </p:normalViewPr>
  <p:slideViewPr>
    <p:cSldViewPr>
      <p:cViewPr varScale="1">
        <p:scale>
          <a:sx n="106" d="100"/>
          <a:sy n="106" d="100"/>
        </p:scale>
        <p:origin x="62" y="192"/>
      </p:cViewPr>
      <p:guideLst>
        <p:guide orient="horz" pos="577"/>
        <p:guide pos="4059"/>
        <p:guide orient="horz" pos="259"/>
        <p:guide pos="1701"/>
        <p:guide pos="2880"/>
        <p:guide orient="horz" pos="162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284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spPr>
            <a:ln>
              <a:noFill/>
            </a:ln>
          </c:spPr>
          <c:dPt>
            <c:idx val="0"/>
            <c:bubble3D val="0"/>
            <c:spPr>
              <a:noFill/>
              <a:ln w="79375">
                <a:noFill/>
              </a:ln>
              <a:effectLst/>
            </c:spPr>
            <c:extLst>
              <c:ext xmlns:c16="http://schemas.microsoft.com/office/drawing/2014/chart" uri="{C3380CC4-5D6E-409C-BE32-E72D297353CC}">
                <c16:uniqueId val="{00000001-410A-4B12-9FF6-851E237AB27B}"/>
              </c:ext>
            </c:extLst>
          </c:dPt>
          <c:dPt>
            <c:idx val="1"/>
            <c:bubble3D val="0"/>
            <c:spPr>
              <a:solidFill>
                <a:schemeClr val="accent1">
                  <a:lumMod val="60000"/>
                  <a:lumOff val="40000"/>
                </a:schemeClr>
              </a:solidFill>
              <a:ln w="19050">
                <a:noFill/>
              </a:ln>
              <a:effectLst/>
            </c:spPr>
            <c:extLst>
              <c:ext xmlns:c16="http://schemas.microsoft.com/office/drawing/2014/chart" uri="{C3380CC4-5D6E-409C-BE32-E72D297353CC}">
                <c16:uniqueId val="{00000003-410A-4B12-9FF6-851E237AB27B}"/>
              </c:ext>
            </c:extLst>
          </c:dPt>
          <c:val>
            <c:numRef>
              <c:f>Sheet1!$B$2:$B$3</c:f>
              <c:numCache>
                <c:formatCode>General</c:formatCode>
                <c:ptCount val="2"/>
                <c:pt idx="0">
                  <c:v>7</c:v>
                </c:pt>
                <c:pt idx="1">
                  <c:v>3</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filteredCategoryTitle>
                <c15:cat>
                  <c:strRef>
                    <c:extLst>
                      <c:ext uri="{02D57815-91ED-43cb-92C2-25804820EDAC}">
                        <c15:formulaRef>
                          <c15:sqref>Sheet1!$A$2:$A$3</c15:sqref>
                        </c15:formulaRef>
                      </c:ext>
                    </c:extLst>
                    <c:strCache>
                      <c:ptCount val="2"/>
                      <c:pt idx="0">
                        <c:v>1st Qtr</c:v>
                      </c:pt>
                      <c:pt idx="1">
                        <c:v>2nd Qtr</c:v>
                      </c:pt>
                    </c:strCache>
                  </c:strRef>
                </c15:cat>
              </c15:filteredCategoryTitle>
            </c:ext>
            <c:ext xmlns:c16="http://schemas.microsoft.com/office/drawing/2014/chart" uri="{C3380CC4-5D6E-409C-BE32-E72D297353CC}">
              <c16:uniqueId val="{00000004-410A-4B12-9FF6-851E237AB27B}"/>
            </c:ext>
          </c:extLst>
        </c:ser>
        <c:dLbls>
          <c:showLegendKey val="0"/>
          <c:showVal val="0"/>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052239-6C6F-472F-B175-F0FADCEE2BD3}" type="datetimeFigureOut">
              <a:rPr lang="en-US" smtClean="0"/>
              <a:t>11/21/2020</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4FF5570-FE69-4FDF-99DA-8CDE436443CD}" type="slidenum">
              <a:rPr lang="en-US" smtClean="0"/>
              <a:t>‹#›</a:t>
            </a:fld>
            <a:endParaRPr lang="en-US"/>
          </a:p>
        </p:txBody>
      </p:sp>
    </p:spTree>
    <p:extLst>
      <p:ext uri="{BB962C8B-B14F-4D97-AF65-F5344CB8AC3E}">
        <p14:creationId xmlns:p14="http://schemas.microsoft.com/office/powerpoint/2010/main" val="1880055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t>3</a:t>
            </a:fld>
            <a:endParaRPr lang="en-US"/>
          </a:p>
        </p:txBody>
      </p:sp>
    </p:spTree>
    <p:extLst>
      <p:ext uri="{BB962C8B-B14F-4D97-AF65-F5344CB8AC3E}">
        <p14:creationId xmlns:p14="http://schemas.microsoft.com/office/powerpoint/2010/main" val="1232864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t>4</a:t>
            </a:fld>
            <a:endParaRPr lang="en-US"/>
          </a:p>
        </p:txBody>
      </p:sp>
    </p:spTree>
    <p:extLst>
      <p:ext uri="{BB962C8B-B14F-4D97-AF65-F5344CB8AC3E}">
        <p14:creationId xmlns:p14="http://schemas.microsoft.com/office/powerpoint/2010/main" val="2220548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t>5</a:t>
            </a:fld>
            <a:endParaRPr lang="en-US"/>
          </a:p>
        </p:txBody>
      </p:sp>
    </p:spTree>
    <p:extLst>
      <p:ext uri="{BB962C8B-B14F-4D97-AF65-F5344CB8AC3E}">
        <p14:creationId xmlns:p14="http://schemas.microsoft.com/office/powerpoint/2010/main" val="274152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t>9</a:t>
            </a:fld>
            <a:endParaRPr lang="en-US"/>
          </a:p>
        </p:txBody>
      </p:sp>
    </p:spTree>
    <p:extLst>
      <p:ext uri="{BB962C8B-B14F-4D97-AF65-F5344CB8AC3E}">
        <p14:creationId xmlns:p14="http://schemas.microsoft.com/office/powerpoint/2010/main" val="3624644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t>10</a:t>
            </a:fld>
            <a:endParaRPr lang="en-US"/>
          </a:p>
        </p:txBody>
      </p:sp>
    </p:spTree>
    <p:extLst>
      <p:ext uri="{BB962C8B-B14F-4D97-AF65-F5344CB8AC3E}">
        <p14:creationId xmlns:p14="http://schemas.microsoft.com/office/powerpoint/2010/main" val="1699510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t>11</a:t>
            </a:fld>
            <a:endParaRPr lang="en-US"/>
          </a:p>
        </p:txBody>
      </p:sp>
    </p:spTree>
    <p:extLst>
      <p:ext uri="{BB962C8B-B14F-4D97-AF65-F5344CB8AC3E}">
        <p14:creationId xmlns:p14="http://schemas.microsoft.com/office/powerpoint/2010/main" val="2656175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9F42ADB-7D30-4CDA-A166-333DE990463F}" type="datetimeFigureOut">
              <a:rPr lang="en-US" smtClean="0"/>
              <a:t>11/21/2020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804248" y="4767263"/>
            <a:ext cx="2133600" cy="273844"/>
          </a:xfrm>
        </p:spPr>
        <p:txBody>
          <a:bodyPr/>
          <a:lstStyle/>
          <a:p>
            <a:fld id="{B10D5614-B734-4280-8F57-1D4947433C97}" type="slidenum">
              <a:rPr lang="en-US" smtClean="0"/>
              <a:t>‹#›</a:t>
            </a:fld>
            <a:endParaRPr lang="en-US" dirty="0"/>
          </a:p>
        </p:txBody>
      </p:sp>
    </p:spTree>
    <p:extLst>
      <p:ext uri="{BB962C8B-B14F-4D97-AF65-F5344CB8AC3E}">
        <p14:creationId xmlns:p14="http://schemas.microsoft.com/office/powerpoint/2010/main" val="2062187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单图02">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564904" y="1214911"/>
            <a:ext cx="3878759" cy="2628189"/>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Tree>
    <p:extLst>
      <p:ext uri="{BB962C8B-B14F-4D97-AF65-F5344CB8AC3E}">
        <p14:creationId xmlns:p14="http://schemas.microsoft.com/office/powerpoint/2010/main" val="555456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单图">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947168" y="1394712"/>
            <a:ext cx="3538274" cy="287655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Tree>
    <p:extLst>
      <p:ext uri="{BB962C8B-B14F-4D97-AF65-F5344CB8AC3E}">
        <p14:creationId xmlns:p14="http://schemas.microsoft.com/office/powerpoint/2010/main" val="413260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母子图">
    <p:spTree>
      <p:nvGrpSpPr>
        <p:cNvPr id="1" name=""/>
        <p:cNvGrpSpPr/>
        <p:nvPr/>
      </p:nvGrpSpPr>
      <p:grpSpPr>
        <a:xfrm>
          <a:off x="0" y="0"/>
          <a:ext cx="0" cy="0"/>
          <a:chOff x="0" y="0"/>
          <a:chExt cx="0" cy="0"/>
        </a:xfrm>
      </p:grpSpPr>
      <p:sp>
        <p:nvSpPr>
          <p:cNvPr id="8" name="Picture Placeholder 2"/>
          <p:cNvSpPr>
            <a:spLocks noGrp="1"/>
          </p:cNvSpPr>
          <p:nvPr>
            <p:ph type="pic" idx="11"/>
          </p:nvPr>
        </p:nvSpPr>
        <p:spPr>
          <a:xfrm>
            <a:off x="4620279" y="2965184"/>
            <a:ext cx="1940291" cy="1574478"/>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3" name="Picture Placeholder 2"/>
          <p:cNvSpPr>
            <a:spLocks noGrp="1"/>
          </p:cNvSpPr>
          <p:nvPr>
            <p:ph type="pic" idx="1"/>
          </p:nvPr>
        </p:nvSpPr>
        <p:spPr>
          <a:xfrm>
            <a:off x="611560" y="1274029"/>
            <a:ext cx="3357133" cy="2876550"/>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Picture Placeholder 2"/>
          <p:cNvSpPr>
            <a:spLocks noGrp="1"/>
          </p:cNvSpPr>
          <p:nvPr>
            <p:ph type="pic" idx="10"/>
          </p:nvPr>
        </p:nvSpPr>
        <p:spPr>
          <a:xfrm>
            <a:off x="4620280" y="1274028"/>
            <a:ext cx="1940291" cy="1574478"/>
          </a:xfr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Tree>
    <p:extLst>
      <p:ext uri="{BB962C8B-B14F-4D97-AF65-F5344CB8AC3E}">
        <p14:creationId xmlns:p14="http://schemas.microsoft.com/office/powerpoint/2010/main" val="1208519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多图">
    <p:spTree>
      <p:nvGrpSpPr>
        <p:cNvPr id="1" name=""/>
        <p:cNvGrpSpPr/>
        <p:nvPr/>
      </p:nvGrpSpPr>
      <p:grpSpPr>
        <a:xfrm>
          <a:off x="0" y="0"/>
          <a:ext cx="0" cy="0"/>
          <a:chOff x="0" y="0"/>
          <a:chExt cx="0" cy="0"/>
        </a:xfrm>
      </p:grpSpPr>
      <p:sp>
        <p:nvSpPr>
          <p:cNvPr id="11" name="Picture Placeholder 2"/>
          <p:cNvSpPr>
            <a:spLocks noGrp="1"/>
          </p:cNvSpPr>
          <p:nvPr>
            <p:ph type="pic" idx="11"/>
          </p:nvPr>
        </p:nvSpPr>
        <p:spPr>
          <a:xfrm>
            <a:off x="6910101" y="1238207"/>
            <a:ext cx="1080000" cy="1080000"/>
          </a:xfrm>
          <a:prstGeom prst="ellipse">
            <a:avLst/>
          </a:prstGeo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 name="Picture Placeholder 2"/>
          <p:cNvSpPr>
            <a:spLocks noGrp="1"/>
          </p:cNvSpPr>
          <p:nvPr>
            <p:ph type="pic" idx="10"/>
          </p:nvPr>
        </p:nvSpPr>
        <p:spPr>
          <a:xfrm>
            <a:off x="4018720" y="1229496"/>
            <a:ext cx="1080000" cy="1080000"/>
          </a:xfrm>
          <a:prstGeom prst="ellipse">
            <a:avLst/>
          </a:prstGeo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3" name="Picture Placeholder 2"/>
          <p:cNvSpPr>
            <a:spLocks noGrp="1"/>
          </p:cNvSpPr>
          <p:nvPr>
            <p:ph type="pic" idx="1"/>
          </p:nvPr>
        </p:nvSpPr>
        <p:spPr>
          <a:xfrm>
            <a:off x="1122278" y="1238207"/>
            <a:ext cx="1080000" cy="1080000"/>
          </a:xfrm>
          <a:prstGeom prst="ellipse">
            <a:avLst/>
          </a:prstGeo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Tree>
    <p:extLst>
      <p:ext uri="{BB962C8B-B14F-4D97-AF65-F5344CB8AC3E}">
        <p14:creationId xmlns:p14="http://schemas.microsoft.com/office/powerpoint/2010/main" val="251497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多图">
    <p:spTree>
      <p:nvGrpSpPr>
        <p:cNvPr id="1" name=""/>
        <p:cNvGrpSpPr/>
        <p:nvPr/>
      </p:nvGrpSpPr>
      <p:grpSpPr>
        <a:xfrm>
          <a:off x="0" y="0"/>
          <a:ext cx="0" cy="0"/>
          <a:chOff x="0" y="0"/>
          <a:chExt cx="0" cy="0"/>
        </a:xfrm>
      </p:grpSpPr>
      <p:sp>
        <p:nvSpPr>
          <p:cNvPr id="13" name="Picture Placeholder 2"/>
          <p:cNvSpPr>
            <a:spLocks noGrp="1"/>
          </p:cNvSpPr>
          <p:nvPr>
            <p:ph type="pic" idx="12"/>
          </p:nvPr>
        </p:nvSpPr>
        <p:spPr>
          <a:xfrm>
            <a:off x="714866" y="2807004"/>
            <a:ext cx="1467250" cy="1464723"/>
          </a:xfrm>
          <a:prstGeom prst="rect">
            <a:avLst/>
          </a:prstGeo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2" name="Picture Placeholder 2"/>
          <p:cNvSpPr>
            <a:spLocks noGrp="1"/>
          </p:cNvSpPr>
          <p:nvPr>
            <p:ph type="pic" idx="11"/>
          </p:nvPr>
        </p:nvSpPr>
        <p:spPr>
          <a:xfrm>
            <a:off x="4049403" y="2820380"/>
            <a:ext cx="1467250" cy="1464723"/>
          </a:xfrm>
          <a:prstGeom prst="rect">
            <a:avLst/>
          </a:prstGeo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9" name="Picture Placeholder 2"/>
          <p:cNvSpPr>
            <a:spLocks noGrp="1"/>
          </p:cNvSpPr>
          <p:nvPr>
            <p:ph type="pic" idx="10"/>
          </p:nvPr>
        </p:nvSpPr>
        <p:spPr>
          <a:xfrm>
            <a:off x="5516653" y="1335555"/>
            <a:ext cx="1467250" cy="1464723"/>
          </a:xfrm>
          <a:prstGeom prst="rect">
            <a:avLst/>
          </a:prstGeo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3" name="Picture Placeholder 2"/>
          <p:cNvSpPr>
            <a:spLocks noGrp="1"/>
          </p:cNvSpPr>
          <p:nvPr>
            <p:ph type="pic" idx="1"/>
          </p:nvPr>
        </p:nvSpPr>
        <p:spPr>
          <a:xfrm>
            <a:off x="2182116" y="1335555"/>
            <a:ext cx="1467250" cy="1464723"/>
          </a:xfrm>
          <a:prstGeom prst="rect">
            <a:avLst/>
          </a:prstGeo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Tree>
    <p:extLst>
      <p:ext uri="{BB962C8B-B14F-4D97-AF65-F5344CB8AC3E}">
        <p14:creationId xmlns:p14="http://schemas.microsoft.com/office/powerpoint/2010/main" val="2655470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多图">
    <p:spTree>
      <p:nvGrpSpPr>
        <p:cNvPr id="1" name=""/>
        <p:cNvGrpSpPr/>
        <p:nvPr/>
      </p:nvGrpSpPr>
      <p:grpSpPr>
        <a:xfrm>
          <a:off x="0" y="0"/>
          <a:ext cx="0" cy="0"/>
          <a:chOff x="0" y="0"/>
          <a:chExt cx="0" cy="0"/>
        </a:xfrm>
      </p:grpSpPr>
      <p:sp>
        <p:nvSpPr>
          <p:cNvPr id="7" name="Picture Placeholder 2"/>
          <p:cNvSpPr>
            <a:spLocks noGrp="1"/>
          </p:cNvSpPr>
          <p:nvPr>
            <p:ph type="pic" idx="10"/>
          </p:nvPr>
        </p:nvSpPr>
        <p:spPr>
          <a:xfrm>
            <a:off x="5829831" y="3179558"/>
            <a:ext cx="1483269" cy="1466234"/>
          </a:xfrm>
          <a:prstGeom prst="rect">
            <a:avLst/>
          </a:prstGeo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3" name="Picture Placeholder 2"/>
          <p:cNvSpPr>
            <a:spLocks noGrp="1"/>
          </p:cNvSpPr>
          <p:nvPr>
            <p:ph type="pic" idx="1"/>
          </p:nvPr>
        </p:nvSpPr>
        <p:spPr>
          <a:xfrm>
            <a:off x="2174652" y="1334735"/>
            <a:ext cx="1474713" cy="1466234"/>
          </a:xfrm>
          <a:prstGeom prst="rect">
            <a:avLst/>
          </a:prstGeom>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Tree>
    <p:extLst>
      <p:ext uri="{BB962C8B-B14F-4D97-AF65-F5344CB8AC3E}">
        <p14:creationId xmlns:p14="http://schemas.microsoft.com/office/powerpoint/2010/main" val="3529279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General slide">
    <p:spTree>
      <p:nvGrpSpPr>
        <p:cNvPr id="1" name=""/>
        <p:cNvGrpSpPr/>
        <p:nvPr/>
      </p:nvGrpSpPr>
      <p:grpSpPr>
        <a:xfrm>
          <a:off x="0" y="0"/>
          <a:ext cx="0" cy="0"/>
          <a:chOff x="0" y="0"/>
          <a:chExt cx="0" cy="0"/>
        </a:xfrm>
      </p:grpSpPr>
      <p:sp>
        <p:nvSpPr>
          <p:cNvPr id="6" name="Slide Number Placeholder 8"/>
          <p:cNvSpPr txBox="1">
            <a:spLocks/>
          </p:cNvSpPr>
          <p:nvPr userDrawn="1"/>
        </p:nvSpPr>
        <p:spPr>
          <a:xfrm>
            <a:off x="8395675" y="4869408"/>
            <a:ext cx="725405" cy="352697"/>
          </a:xfrm>
          <a:prstGeom prst="ellipse">
            <a:avLst/>
          </a:prstGeom>
        </p:spPr>
        <p:txBody>
          <a:bodyPr vert="horz" lIns="68580" tIns="34290" rIns="68580" bIns="34290" rtlCol="0" anchor="ctr"/>
          <a:lstStyle>
            <a:defPPr>
              <a:defRPr lang="en-US"/>
            </a:defPPr>
            <a:lvl1pPr marL="0" algn="r" defTabSz="685800" rtl="0" eaLnBrk="1" latinLnBrk="0" hangingPunct="1">
              <a:defRPr sz="900" kern="1200">
                <a:solidFill>
                  <a:schemeClr val="tx1">
                    <a:tint val="75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fld id="{3068952F-5E95-44E1-9562-3F7BE09D45B9}" type="slidenum">
              <a:rPr lang="en-US" sz="900" kern="1200" smtClean="0">
                <a:solidFill>
                  <a:srgbClr val="F0F6F4"/>
                </a:solidFill>
                <a:latin typeface="+mn-lt"/>
                <a:ea typeface="+mn-ea"/>
                <a:cs typeface="+mn-cs"/>
              </a:rPr>
              <a:pPr algn="ctr"/>
              <a:t>‹#›</a:t>
            </a:fld>
            <a:endParaRPr lang="en-US" sz="900" kern="1200" dirty="0">
              <a:solidFill>
                <a:srgbClr val="F0F6F4"/>
              </a:solidFill>
              <a:latin typeface="+mn-lt"/>
              <a:ea typeface="+mn-ea"/>
              <a:cs typeface="+mn-cs"/>
            </a:endParaRPr>
          </a:p>
        </p:txBody>
      </p:sp>
    </p:spTree>
    <p:extLst>
      <p:ext uri="{BB962C8B-B14F-4D97-AF65-F5344CB8AC3E}">
        <p14:creationId xmlns:p14="http://schemas.microsoft.com/office/powerpoint/2010/main" val="3509053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多图2">
    <p:spTree>
      <p:nvGrpSpPr>
        <p:cNvPr id="1" name=""/>
        <p:cNvGrpSpPr/>
        <p:nvPr/>
      </p:nvGrpSpPr>
      <p:grpSpPr>
        <a:xfrm>
          <a:off x="0" y="0"/>
          <a:ext cx="0" cy="0"/>
          <a:chOff x="0" y="0"/>
          <a:chExt cx="0" cy="0"/>
        </a:xfrm>
      </p:grpSpPr>
      <p:sp>
        <p:nvSpPr>
          <p:cNvPr id="6" name="Slide Number Placeholder 8"/>
          <p:cNvSpPr txBox="1">
            <a:spLocks/>
          </p:cNvSpPr>
          <p:nvPr userDrawn="1"/>
        </p:nvSpPr>
        <p:spPr>
          <a:xfrm>
            <a:off x="8395675" y="4869408"/>
            <a:ext cx="725405" cy="352697"/>
          </a:xfrm>
          <a:prstGeom prst="ellipse">
            <a:avLst/>
          </a:prstGeom>
        </p:spPr>
        <p:txBody>
          <a:bodyPr vert="horz" lIns="68580" tIns="34290" rIns="68580" bIns="34290" rtlCol="0" anchor="ctr"/>
          <a:lstStyle>
            <a:defPPr>
              <a:defRPr lang="en-US"/>
            </a:defPPr>
            <a:lvl1pPr marL="0" algn="r" defTabSz="685800" rtl="0" eaLnBrk="1" latinLnBrk="0" hangingPunct="1">
              <a:defRPr sz="900" kern="1200">
                <a:solidFill>
                  <a:schemeClr val="tx1">
                    <a:tint val="75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fld id="{3068952F-5E95-44E1-9562-3F7BE09D45B9}" type="slidenum">
              <a:rPr lang="en-US" sz="900" kern="1200" smtClean="0">
                <a:solidFill>
                  <a:srgbClr val="F0F6F4"/>
                </a:solidFill>
                <a:latin typeface="+mn-lt"/>
                <a:ea typeface="+mn-ea"/>
                <a:cs typeface="+mn-cs"/>
              </a:rPr>
              <a:pPr algn="ctr"/>
              <a:t>‹#›</a:t>
            </a:fld>
            <a:endParaRPr lang="en-US" sz="900" kern="1200" dirty="0">
              <a:solidFill>
                <a:srgbClr val="F0F6F4"/>
              </a:solidFill>
              <a:latin typeface="+mn-lt"/>
              <a:ea typeface="+mn-ea"/>
              <a:cs typeface="+mn-cs"/>
            </a:endParaRPr>
          </a:p>
        </p:txBody>
      </p:sp>
      <p:sp>
        <p:nvSpPr>
          <p:cNvPr id="10" name="Picture Placeholder 2"/>
          <p:cNvSpPr>
            <a:spLocks noGrp="1"/>
          </p:cNvSpPr>
          <p:nvPr>
            <p:ph type="pic" idx="1"/>
          </p:nvPr>
        </p:nvSpPr>
        <p:spPr>
          <a:xfrm>
            <a:off x="1351655" y="4244757"/>
            <a:ext cx="1131031" cy="898743"/>
          </a:xfrm>
        </p:spPr>
        <p:txBody>
          <a:bodyPr>
            <a:normAutofit/>
          </a:bodyPr>
          <a:lstStyle>
            <a:lvl1pPr marL="0" indent="0">
              <a:buNone/>
              <a:defRPr sz="105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1" name="Picture Placeholder 2"/>
          <p:cNvSpPr>
            <a:spLocks noGrp="1"/>
          </p:cNvSpPr>
          <p:nvPr>
            <p:ph type="pic" idx="10"/>
          </p:nvPr>
        </p:nvSpPr>
        <p:spPr>
          <a:xfrm>
            <a:off x="2497651" y="4244757"/>
            <a:ext cx="1131031" cy="898743"/>
          </a:xfrm>
        </p:spPr>
        <p:txBody>
          <a:bodyPr>
            <a:normAutofit/>
          </a:bodyPr>
          <a:lstStyle>
            <a:lvl1pPr marL="0" indent="0">
              <a:buNone/>
              <a:defRPr sz="105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2" name="Picture Placeholder 2"/>
          <p:cNvSpPr>
            <a:spLocks noGrp="1"/>
          </p:cNvSpPr>
          <p:nvPr>
            <p:ph type="pic" idx="11"/>
          </p:nvPr>
        </p:nvSpPr>
        <p:spPr>
          <a:xfrm>
            <a:off x="3635896" y="4246587"/>
            <a:ext cx="1131031" cy="898743"/>
          </a:xfrm>
        </p:spPr>
        <p:txBody>
          <a:bodyPr>
            <a:normAutofit/>
          </a:bodyPr>
          <a:lstStyle>
            <a:lvl1pPr marL="0" indent="0">
              <a:buNone/>
              <a:defRPr sz="105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3" name="Picture Placeholder 2"/>
          <p:cNvSpPr>
            <a:spLocks noGrp="1"/>
          </p:cNvSpPr>
          <p:nvPr>
            <p:ph type="pic" idx="12"/>
          </p:nvPr>
        </p:nvSpPr>
        <p:spPr>
          <a:xfrm>
            <a:off x="4789106" y="4244757"/>
            <a:ext cx="1131031" cy="898743"/>
          </a:xfrm>
        </p:spPr>
        <p:txBody>
          <a:bodyPr>
            <a:normAutofit/>
          </a:bodyPr>
          <a:lstStyle>
            <a:lvl1pPr marL="0" indent="0">
              <a:buNone/>
              <a:defRPr sz="105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4" name="Picture Placeholder 2"/>
          <p:cNvSpPr>
            <a:spLocks noGrp="1"/>
          </p:cNvSpPr>
          <p:nvPr>
            <p:ph type="pic" idx="13"/>
          </p:nvPr>
        </p:nvSpPr>
        <p:spPr>
          <a:xfrm>
            <a:off x="5940152" y="4244757"/>
            <a:ext cx="1131031" cy="898743"/>
          </a:xfrm>
        </p:spPr>
        <p:txBody>
          <a:bodyPr>
            <a:normAutofit/>
          </a:bodyPr>
          <a:lstStyle>
            <a:lvl1pPr marL="0" indent="0">
              <a:buNone/>
              <a:defRPr sz="105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6" name="Picture Placeholder 2"/>
          <p:cNvSpPr>
            <a:spLocks noGrp="1"/>
          </p:cNvSpPr>
          <p:nvPr>
            <p:ph type="pic" idx="14"/>
          </p:nvPr>
        </p:nvSpPr>
        <p:spPr>
          <a:xfrm>
            <a:off x="7091198" y="4244603"/>
            <a:ext cx="1131031" cy="898743"/>
          </a:xfrm>
        </p:spPr>
        <p:txBody>
          <a:bodyPr>
            <a:normAutofit/>
          </a:bodyPr>
          <a:lstStyle>
            <a:lvl1pPr marL="0" indent="0">
              <a:buNone/>
              <a:defRPr sz="105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Tree>
    <p:extLst>
      <p:ext uri="{BB962C8B-B14F-4D97-AF65-F5344CB8AC3E}">
        <p14:creationId xmlns:p14="http://schemas.microsoft.com/office/powerpoint/2010/main" val="3719738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Freeform 329"/>
          <p:cNvSpPr>
            <a:spLocks noEditPoints="1"/>
          </p:cNvSpPr>
          <p:nvPr userDrawn="1"/>
        </p:nvSpPr>
        <p:spPr bwMode="auto">
          <a:xfrm>
            <a:off x="7642756" y="3347888"/>
            <a:ext cx="227789" cy="232485"/>
          </a:xfrm>
          <a:custGeom>
            <a:avLst/>
            <a:gdLst>
              <a:gd name="T0" fmla="*/ 21 w 41"/>
              <a:gd name="T1" fmla="*/ 42 h 42"/>
              <a:gd name="T2" fmla="*/ 0 w 41"/>
              <a:gd name="T3" fmla="*/ 21 h 42"/>
              <a:gd name="T4" fmla="*/ 21 w 41"/>
              <a:gd name="T5" fmla="*/ 0 h 42"/>
              <a:gd name="T6" fmla="*/ 41 w 41"/>
              <a:gd name="T7" fmla="*/ 21 h 42"/>
              <a:gd name="T8" fmla="*/ 21 w 41"/>
              <a:gd name="T9" fmla="*/ 42 h 42"/>
              <a:gd name="T10" fmla="*/ 33 w 41"/>
              <a:gd name="T11" fmla="*/ 19 h 42"/>
              <a:gd name="T12" fmla="*/ 31 w 41"/>
              <a:gd name="T13" fmla="*/ 18 h 42"/>
              <a:gd name="T14" fmla="*/ 24 w 41"/>
              <a:gd name="T15" fmla="*/ 18 h 42"/>
              <a:gd name="T16" fmla="*/ 24 w 41"/>
              <a:gd name="T17" fmla="*/ 11 h 42"/>
              <a:gd name="T18" fmla="*/ 22 w 41"/>
              <a:gd name="T19" fmla="*/ 9 h 42"/>
              <a:gd name="T20" fmla="*/ 19 w 41"/>
              <a:gd name="T21" fmla="*/ 9 h 42"/>
              <a:gd name="T22" fmla="*/ 17 w 41"/>
              <a:gd name="T23" fmla="*/ 11 h 42"/>
              <a:gd name="T24" fmla="*/ 17 w 41"/>
              <a:gd name="T25" fmla="*/ 18 h 42"/>
              <a:gd name="T26" fmla="*/ 10 w 41"/>
              <a:gd name="T27" fmla="*/ 18 h 42"/>
              <a:gd name="T28" fmla="*/ 9 w 41"/>
              <a:gd name="T29" fmla="*/ 19 h 42"/>
              <a:gd name="T30" fmla="*/ 9 w 41"/>
              <a:gd name="T31" fmla="*/ 23 h 42"/>
              <a:gd name="T32" fmla="*/ 10 w 41"/>
              <a:gd name="T33" fmla="*/ 24 h 42"/>
              <a:gd name="T34" fmla="*/ 17 w 41"/>
              <a:gd name="T35" fmla="*/ 24 h 42"/>
              <a:gd name="T36" fmla="*/ 17 w 41"/>
              <a:gd name="T37" fmla="*/ 31 h 42"/>
              <a:gd name="T38" fmla="*/ 19 w 41"/>
              <a:gd name="T39" fmla="*/ 33 h 42"/>
              <a:gd name="T40" fmla="*/ 22 w 41"/>
              <a:gd name="T41" fmla="*/ 33 h 42"/>
              <a:gd name="T42" fmla="*/ 24 w 41"/>
              <a:gd name="T43" fmla="*/ 31 h 42"/>
              <a:gd name="T44" fmla="*/ 24 w 41"/>
              <a:gd name="T45" fmla="*/ 24 h 42"/>
              <a:gd name="T46" fmla="*/ 31 w 41"/>
              <a:gd name="T47" fmla="*/ 24 h 42"/>
              <a:gd name="T48" fmla="*/ 33 w 41"/>
              <a:gd name="T49" fmla="*/ 23 h 42"/>
              <a:gd name="T50" fmla="*/ 33 w 41"/>
              <a:gd name="T51" fmla="*/ 1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1" h="42">
                <a:moveTo>
                  <a:pt x="21" y="42"/>
                </a:moveTo>
                <a:cubicBezTo>
                  <a:pt x="9" y="42"/>
                  <a:pt x="0" y="32"/>
                  <a:pt x="0" y="21"/>
                </a:cubicBezTo>
                <a:cubicBezTo>
                  <a:pt x="0" y="10"/>
                  <a:pt x="9" y="0"/>
                  <a:pt x="21" y="0"/>
                </a:cubicBezTo>
                <a:cubicBezTo>
                  <a:pt x="32" y="0"/>
                  <a:pt x="41" y="10"/>
                  <a:pt x="41" y="21"/>
                </a:cubicBezTo>
                <a:cubicBezTo>
                  <a:pt x="41" y="32"/>
                  <a:pt x="32" y="42"/>
                  <a:pt x="21" y="42"/>
                </a:cubicBezTo>
                <a:close/>
                <a:moveTo>
                  <a:pt x="33" y="19"/>
                </a:moveTo>
                <a:cubicBezTo>
                  <a:pt x="33" y="18"/>
                  <a:pt x="32" y="18"/>
                  <a:pt x="31" y="18"/>
                </a:cubicBezTo>
                <a:cubicBezTo>
                  <a:pt x="24" y="18"/>
                  <a:pt x="24" y="18"/>
                  <a:pt x="24" y="18"/>
                </a:cubicBezTo>
                <a:cubicBezTo>
                  <a:pt x="24" y="11"/>
                  <a:pt x="24" y="11"/>
                  <a:pt x="24" y="11"/>
                </a:cubicBezTo>
                <a:cubicBezTo>
                  <a:pt x="24" y="10"/>
                  <a:pt x="23" y="9"/>
                  <a:pt x="22" y="9"/>
                </a:cubicBezTo>
                <a:cubicBezTo>
                  <a:pt x="19" y="9"/>
                  <a:pt x="19" y="9"/>
                  <a:pt x="19" y="9"/>
                </a:cubicBezTo>
                <a:cubicBezTo>
                  <a:pt x="18" y="9"/>
                  <a:pt x="17" y="10"/>
                  <a:pt x="17" y="11"/>
                </a:cubicBezTo>
                <a:cubicBezTo>
                  <a:pt x="17" y="18"/>
                  <a:pt x="17" y="18"/>
                  <a:pt x="17" y="18"/>
                </a:cubicBezTo>
                <a:cubicBezTo>
                  <a:pt x="10" y="18"/>
                  <a:pt x="10" y="18"/>
                  <a:pt x="10" y="18"/>
                </a:cubicBezTo>
                <a:cubicBezTo>
                  <a:pt x="9" y="18"/>
                  <a:pt x="9" y="18"/>
                  <a:pt x="9" y="19"/>
                </a:cubicBezTo>
                <a:cubicBezTo>
                  <a:pt x="9" y="23"/>
                  <a:pt x="9" y="23"/>
                  <a:pt x="9" y="23"/>
                </a:cubicBezTo>
                <a:cubicBezTo>
                  <a:pt x="9" y="24"/>
                  <a:pt x="9" y="24"/>
                  <a:pt x="10" y="24"/>
                </a:cubicBezTo>
                <a:cubicBezTo>
                  <a:pt x="17" y="24"/>
                  <a:pt x="17" y="24"/>
                  <a:pt x="17" y="24"/>
                </a:cubicBezTo>
                <a:cubicBezTo>
                  <a:pt x="17" y="31"/>
                  <a:pt x="17" y="31"/>
                  <a:pt x="17" y="31"/>
                </a:cubicBezTo>
                <a:cubicBezTo>
                  <a:pt x="17" y="32"/>
                  <a:pt x="18" y="33"/>
                  <a:pt x="19" y="33"/>
                </a:cubicBezTo>
                <a:cubicBezTo>
                  <a:pt x="22" y="33"/>
                  <a:pt x="22" y="33"/>
                  <a:pt x="22" y="33"/>
                </a:cubicBezTo>
                <a:cubicBezTo>
                  <a:pt x="23" y="33"/>
                  <a:pt x="24" y="32"/>
                  <a:pt x="24" y="31"/>
                </a:cubicBezTo>
                <a:cubicBezTo>
                  <a:pt x="24" y="24"/>
                  <a:pt x="24" y="24"/>
                  <a:pt x="24" y="24"/>
                </a:cubicBezTo>
                <a:cubicBezTo>
                  <a:pt x="31" y="24"/>
                  <a:pt x="31" y="24"/>
                  <a:pt x="31" y="24"/>
                </a:cubicBezTo>
                <a:cubicBezTo>
                  <a:pt x="32" y="24"/>
                  <a:pt x="33" y="24"/>
                  <a:pt x="33" y="23"/>
                </a:cubicBezTo>
                <a:lnTo>
                  <a:pt x="33" y="19"/>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 name="Freeform 330"/>
          <p:cNvSpPr>
            <a:spLocks noEditPoints="1"/>
          </p:cNvSpPr>
          <p:nvPr userDrawn="1"/>
        </p:nvSpPr>
        <p:spPr bwMode="auto">
          <a:xfrm>
            <a:off x="2079854" y="4330399"/>
            <a:ext cx="227789" cy="227789"/>
          </a:xfrm>
          <a:custGeom>
            <a:avLst/>
            <a:gdLst>
              <a:gd name="T0" fmla="*/ 41 w 41"/>
              <a:gd name="T1" fmla="*/ 34 h 41"/>
              <a:gd name="T2" fmla="*/ 33 w 41"/>
              <a:gd name="T3" fmla="*/ 41 h 41"/>
              <a:gd name="T4" fmla="*/ 8 w 41"/>
              <a:gd name="T5" fmla="*/ 41 h 41"/>
              <a:gd name="T6" fmla="*/ 0 w 41"/>
              <a:gd name="T7" fmla="*/ 34 h 41"/>
              <a:gd name="T8" fmla="*/ 0 w 41"/>
              <a:gd name="T9" fmla="*/ 8 h 41"/>
              <a:gd name="T10" fmla="*/ 8 w 41"/>
              <a:gd name="T11" fmla="*/ 0 h 41"/>
              <a:gd name="T12" fmla="*/ 33 w 41"/>
              <a:gd name="T13" fmla="*/ 0 h 41"/>
              <a:gd name="T14" fmla="*/ 41 w 41"/>
              <a:gd name="T15" fmla="*/ 8 h 41"/>
              <a:gd name="T16" fmla="*/ 41 w 41"/>
              <a:gd name="T17" fmla="*/ 34 h 41"/>
              <a:gd name="T18" fmla="*/ 34 w 41"/>
              <a:gd name="T19" fmla="*/ 19 h 41"/>
              <a:gd name="T20" fmla="*/ 33 w 41"/>
              <a:gd name="T21" fmla="*/ 17 h 41"/>
              <a:gd name="T22" fmla="*/ 24 w 41"/>
              <a:gd name="T23" fmla="*/ 17 h 41"/>
              <a:gd name="T24" fmla="*/ 24 w 41"/>
              <a:gd name="T25" fmla="*/ 9 h 41"/>
              <a:gd name="T26" fmla="*/ 22 w 41"/>
              <a:gd name="T27" fmla="*/ 7 h 41"/>
              <a:gd name="T28" fmla="*/ 19 w 41"/>
              <a:gd name="T29" fmla="*/ 7 h 41"/>
              <a:gd name="T30" fmla="*/ 17 w 41"/>
              <a:gd name="T31" fmla="*/ 9 h 41"/>
              <a:gd name="T32" fmla="*/ 17 w 41"/>
              <a:gd name="T33" fmla="*/ 17 h 41"/>
              <a:gd name="T34" fmla="*/ 9 w 41"/>
              <a:gd name="T35" fmla="*/ 17 h 41"/>
              <a:gd name="T36" fmla="*/ 7 w 41"/>
              <a:gd name="T37" fmla="*/ 19 h 41"/>
              <a:gd name="T38" fmla="*/ 7 w 41"/>
              <a:gd name="T39" fmla="*/ 22 h 41"/>
              <a:gd name="T40" fmla="*/ 9 w 41"/>
              <a:gd name="T41" fmla="*/ 24 h 41"/>
              <a:gd name="T42" fmla="*/ 17 w 41"/>
              <a:gd name="T43" fmla="*/ 24 h 41"/>
              <a:gd name="T44" fmla="*/ 17 w 41"/>
              <a:gd name="T45" fmla="*/ 33 h 41"/>
              <a:gd name="T46" fmla="*/ 19 w 41"/>
              <a:gd name="T47" fmla="*/ 34 h 41"/>
              <a:gd name="T48" fmla="*/ 22 w 41"/>
              <a:gd name="T49" fmla="*/ 34 h 41"/>
              <a:gd name="T50" fmla="*/ 24 w 41"/>
              <a:gd name="T51" fmla="*/ 33 h 41"/>
              <a:gd name="T52" fmla="*/ 24 w 41"/>
              <a:gd name="T53" fmla="*/ 24 h 41"/>
              <a:gd name="T54" fmla="*/ 33 w 41"/>
              <a:gd name="T55" fmla="*/ 24 h 41"/>
              <a:gd name="T56" fmla="*/ 34 w 41"/>
              <a:gd name="T57" fmla="*/ 22 h 41"/>
              <a:gd name="T58" fmla="*/ 34 w 41"/>
              <a:gd name="T59" fmla="*/ 1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41">
                <a:moveTo>
                  <a:pt x="41" y="34"/>
                </a:moveTo>
                <a:cubicBezTo>
                  <a:pt x="41" y="38"/>
                  <a:pt x="38" y="41"/>
                  <a:pt x="33" y="41"/>
                </a:cubicBezTo>
                <a:cubicBezTo>
                  <a:pt x="8" y="41"/>
                  <a:pt x="8" y="41"/>
                  <a:pt x="8" y="41"/>
                </a:cubicBezTo>
                <a:cubicBezTo>
                  <a:pt x="4" y="41"/>
                  <a:pt x="0" y="38"/>
                  <a:pt x="0" y="34"/>
                </a:cubicBezTo>
                <a:cubicBezTo>
                  <a:pt x="0" y="8"/>
                  <a:pt x="0" y="8"/>
                  <a:pt x="0" y="8"/>
                </a:cubicBezTo>
                <a:cubicBezTo>
                  <a:pt x="0" y="4"/>
                  <a:pt x="4" y="0"/>
                  <a:pt x="8" y="0"/>
                </a:cubicBezTo>
                <a:cubicBezTo>
                  <a:pt x="33" y="0"/>
                  <a:pt x="33" y="0"/>
                  <a:pt x="33" y="0"/>
                </a:cubicBezTo>
                <a:cubicBezTo>
                  <a:pt x="38" y="0"/>
                  <a:pt x="41" y="4"/>
                  <a:pt x="41" y="8"/>
                </a:cubicBezTo>
                <a:lnTo>
                  <a:pt x="41" y="34"/>
                </a:lnTo>
                <a:close/>
                <a:moveTo>
                  <a:pt x="34" y="19"/>
                </a:moveTo>
                <a:cubicBezTo>
                  <a:pt x="34" y="18"/>
                  <a:pt x="34" y="17"/>
                  <a:pt x="33" y="17"/>
                </a:cubicBezTo>
                <a:cubicBezTo>
                  <a:pt x="24" y="17"/>
                  <a:pt x="24" y="17"/>
                  <a:pt x="24" y="17"/>
                </a:cubicBezTo>
                <a:cubicBezTo>
                  <a:pt x="24" y="9"/>
                  <a:pt x="24" y="9"/>
                  <a:pt x="24" y="9"/>
                </a:cubicBezTo>
                <a:cubicBezTo>
                  <a:pt x="24" y="8"/>
                  <a:pt x="23" y="7"/>
                  <a:pt x="22" y="7"/>
                </a:cubicBezTo>
                <a:cubicBezTo>
                  <a:pt x="19" y="7"/>
                  <a:pt x="19" y="7"/>
                  <a:pt x="19" y="7"/>
                </a:cubicBezTo>
                <a:cubicBezTo>
                  <a:pt x="18" y="7"/>
                  <a:pt x="17" y="8"/>
                  <a:pt x="17" y="9"/>
                </a:cubicBezTo>
                <a:cubicBezTo>
                  <a:pt x="17" y="17"/>
                  <a:pt x="17" y="17"/>
                  <a:pt x="17" y="17"/>
                </a:cubicBezTo>
                <a:cubicBezTo>
                  <a:pt x="9" y="17"/>
                  <a:pt x="9" y="17"/>
                  <a:pt x="9" y="17"/>
                </a:cubicBezTo>
                <a:cubicBezTo>
                  <a:pt x="8" y="17"/>
                  <a:pt x="7" y="18"/>
                  <a:pt x="7" y="19"/>
                </a:cubicBezTo>
                <a:cubicBezTo>
                  <a:pt x="7" y="22"/>
                  <a:pt x="7" y="22"/>
                  <a:pt x="7" y="22"/>
                </a:cubicBezTo>
                <a:cubicBezTo>
                  <a:pt x="7" y="23"/>
                  <a:pt x="8" y="24"/>
                  <a:pt x="9" y="24"/>
                </a:cubicBezTo>
                <a:cubicBezTo>
                  <a:pt x="17" y="24"/>
                  <a:pt x="17" y="24"/>
                  <a:pt x="17" y="24"/>
                </a:cubicBezTo>
                <a:cubicBezTo>
                  <a:pt x="17" y="33"/>
                  <a:pt x="17" y="33"/>
                  <a:pt x="17" y="33"/>
                </a:cubicBezTo>
                <a:cubicBezTo>
                  <a:pt x="17" y="34"/>
                  <a:pt x="18" y="34"/>
                  <a:pt x="19" y="34"/>
                </a:cubicBezTo>
                <a:cubicBezTo>
                  <a:pt x="22" y="34"/>
                  <a:pt x="22" y="34"/>
                  <a:pt x="22" y="34"/>
                </a:cubicBezTo>
                <a:cubicBezTo>
                  <a:pt x="23" y="34"/>
                  <a:pt x="24" y="34"/>
                  <a:pt x="24" y="33"/>
                </a:cubicBezTo>
                <a:cubicBezTo>
                  <a:pt x="24" y="24"/>
                  <a:pt x="24" y="24"/>
                  <a:pt x="24" y="24"/>
                </a:cubicBezTo>
                <a:cubicBezTo>
                  <a:pt x="33" y="24"/>
                  <a:pt x="33" y="24"/>
                  <a:pt x="33" y="24"/>
                </a:cubicBezTo>
                <a:cubicBezTo>
                  <a:pt x="34" y="24"/>
                  <a:pt x="34" y="23"/>
                  <a:pt x="34" y="22"/>
                </a:cubicBezTo>
                <a:lnTo>
                  <a:pt x="34" y="19"/>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 name="Freeform 335"/>
          <p:cNvSpPr>
            <a:spLocks/>
          </p:cNvSpPr>
          <p:nvPr userDrawn="1"/>
        </p:nvSpPr>
        <p:spPr bwMode="auto">
          <a:xfrm>
            <a:off x="658645" y="4297197"/>
            <a:ext cx="263013" cy="265363"/>
          </a:xfrm>
          <a:custGeom>
            <a:avLst/>
            <a:gdLst>
              <a:gd name="T0" fmla="*/ 6 w 47"/>
              <a:gd name="T1" fmla="*/ 20 h 48"/>
              <a:gd name="T2" fmla="*/ 7 w 47"/>
              <a:gd name="T3" fmla="*/ 18 h 48"/>
              <a:gd name="T4" fmla="*/ 8 w 47"/>
              <a:gd name="T5" fmla="*/ 15 h 48"/>
              <a:gd name="T6" fmla="*/ 16 w 47"/>
              <a:gd name="T7" fmla="*/ 2 h 48"/>
              <a:gd name="T8" fmla="*/ 25 w 47"/>
              <a:gd name="T9" fmla="*/ 0 h 48"/>
              <a:gd name="T10" fmla="*/ 32 w 47"/>
              <a:gd name="T11" fmla="*/ 2 h 48"/>
              <a:gd name="T12" fmla="*/ 41 w 47"/>
              <a:gd name="T13" fmla="*/ 16 h 48"/>
              <a:gd name="T14" fmla="*/ 41 w 47"/>
              <a:gd name="T15" fmla="*/ 16 h 48"/>
              <a:gd name="T16" fmla="*/ 43 w 47"/>
              <a:gd name="T17" fmla="*/ 20 h 48"/>
              <a:gd name="T18" fmla="*/ 42 w 47"/>
              <a:gd name="T19" fmla="*/ 22 h 48"/>
              <a:gd name="T20" fmla="*/ 42 w 47"/>
              <a:gd name="T21" fmla="*/ 22 h 48"/>
              <a:gd name="T22" fmla="*/ 47 w 47"/>
              <a:gd name="T23" fmla="*/ 33 h 48"/>
              <a:gd name="T24" fmla="*/ 45 w 47"/>
              <a:gd name="T25" fmla="*/ 38 h 48"/>
              <a:gd name="T26" fmla="*/ 42 w 47"/>
              <a:gd name="T27" fmla="*/ 34 h 48"/>
              <a:gd name="T28" fmla="*/ 42 w 47"/>
              <a:gd name="T29" fmla="*/ 34 h 48"/>
              <a:gd name="T30" fmla="*/ 42 w 47"/>
              <a:gd name="T31" fmla="*/ 35 h 48"/>
              <a:gd name="T32" fmla="*/ 38 w 47"/>
              <a:gd name="T33" fmla="*/ 41 h 48"/>
              <a:gd name="T34" fmla="*/ 43 w 47"/>
              <a:gd name="T35" fmla="*/ 44 h 48"/>
              <a:gd name="T36" fmla="*/ 43 w 47"/>
              <a:gd name="T37" fmla="*/ 45 h 48"/>
              <a:gd name="T38" fmla="*/ 34 w 47"/>
              <a:gd name="T39" fmla="*/ 48 h 48"/>
              <a:gd name="T40" fmla="*/ 25 w 47"/>
              <a:gd name="T41" fmla="*/ 46 h 48"/>
              <a:gd name="T42" fmla="*/ 23 w 47"/>
              <a:gd name="T43" fmla="*/ 46 h 48"/>
              <a:gd name="T44" fmla="*/ 15 w 47"/>
              <a:gd name="T45" fmla="*/ 48 h 48"/>
              <a:gd name="T46" fmla="*/ 5 w 47"/>
              <a:gd name="T47" fmla="*/ 45 h 48"/>
              <a:gd name="T48" fmla="*/ 7 w 47"/>
              <a:gd name="T49" fmla="*/ 42 h 48"/>
              <a:gd name="T50" fmla="*/ 9 w 47"/>
              <a:gd name="T51" fmla="*/ 41 h 48"/>
              <a:gd name="T52" fmla="*/ 9 w 47"/>
              <a:gd name="T53" fmla="*/ 41 h 48"/>
              <a:gd name="T54" fmla="*/ 9 w 47"/>
              <a:gd name="T55" fmla="*/ 41 h 48"/>
              <a:gd name="T56" fmla="*/ 9 w 47"/>
              <a:gd name="T57" fmla="*/ 41 h 48"/>
              <a:gd name="T58" fmla="*/ 5 w 47"/>
              <a:gd name="T59" fmla="*/ 34 h 48"/>
              <a:gd name="T60" fmla="*/ 4 w 47"/>
              <a:gd name="T61" fmla="*/ 34 h 48"/>
              <a:gd name="T62" fmla="*/ 4 w 47"/>
              <a:gd name="T63" fmla="*/ 34 h 48"/>
              <a:gd name="T64" fmla="*/ 1 w 47"/>
              <a:gd name="T65" fmla="*/ 37 h 48"/>
              <a:gd name="T66" fmla="*/ 1 w 47"/>
              <a:gd name="T67" fmla="*/ 37 h 48"/>
              <a:gd name="T68" fmla="*/ 0 w 47"/>
              <a:gd name="T69" fmla="*/ 37 h 48"/>
              <a:gd name="T70" fmla="*/ 0 w 47"/>
              <a:gd name="T71" fmla="*/ 34 h 48"/>
              <a:gd name="T72" fmla="*/ 6 w 47"/>
              <a:gd name="T73" fmla="*/ 22 h 48"/>
              <a:gd name="T74" fmla="*/ 6 w 47"/>
              <a:gd name="T75" fmla="*/ 2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48">
                <a:moveTo>
                  <a:pt x="6" y="20"/>
                </a:moveTo>
                <a:cubicBezTo>
                  <a:pt x="6" y="20"/>
                  <a:pt x="7" y="18"/>
                  <a:pt x="7" y="18"/>
                </a:cubicBezTo>
                <a:cubicBezTo>
                  <a:pt x="7" y="17"/>
                  <a:pt x="7" y="16"/>
                  <a:pt x="8" y="15"/>
                </a:cubicBezTo>
                <a:cubicBezTo>
                  <a:pt x="8" y="10"/>
                  <a:pt x="12" y="4"/>
                  <a:pt x="16" y="2"/>
                </a:cubicBezTo>
                <a:cubicBezTo>
                  <a:pt x="19" y="1"/>
                  <a:pt x="22" y="0"/>
                  <a:pt x="25" y="0"/>
                </a:cubicBezTo>
                <a:cubicBezTo>
                  <a:pt x="27" y="0"/>
                  <a:pt x="30" y="1"/>
                  <a:pt x="32" y="2"/>
                </a:cubicBezTo>
                <a:cubicBezTo>
                  <a:pt x="38" y="4"/>
                  <a:pt x="40" y="9"/>
                  <a:pt x="41" y="16"/>
                </a:cubicBezTo>
                <a:cubicBezTo>
                  <a:pt x="41" y="16"/>
                  <a:pt x="41" y="16"/>
                  <a:pt x="41" y="16"/>
                </a:cubicBezTo>
                <a:cubicBezTo>
                  <a:pt x="42" y="17"/>
                  <a:pt x="43" y="18"/>
                  <a:pt x="43" y="20"/>
                </a:cubicBezTo>
                <a:cubicBezTo>
                  <a:pt x="43" y="20"/>
                  <a:pt x="42" y="21"/>
                  <a:pt x="42" y="22"/>
                </a:cubicBezTo>
                <a:cubicBezTo>
                  <a:pt x="42" y="22"/>
                  <a:pt x="42" y="22"/>
                  <a:pt x="42" y="22"/>
                </a:cubicBezTo>
                <a:cubicBezTo>
                  <a:pt x="45" y="26"/>
                  <a:pt x="47" y="29"/>
                  <a:pt x="47" y="33"/>
                </a:cubicBezTo>
                <a:cubicBezTo>
                  <a:pt x="47" y="34"/>
                  <a:pt x="46" y="38"/>
                  <a:pt x="45" y="38"/>
                </a:cubicBezTo>
                <a:cubicBezTo>
                  <a:pt x="44" y="38"/>
                  <a:pt x="43" y="35"/>
                  <a:pt x="42" y="34"/>
                </a:cubicBezTo>
                <a:cubicBezTo>
                  <a:pt x="42" y="34"/>
                  <a:pt x="42" y="34"/>
                  <a:pt x="42" y="34"/>
                </a:cubicBezTo>
                <a:cubicBezTo>
                  <a:pt x="42" y="35"/>
                  <a:pt x="42" y="35"/>
                  <a:pt x="42" y="35"/>
                </a:cubicBezTo>
                <a:cubicBezTo>
                  <a:pt x="41" y="37"/>
                  <a:pt x="40" y="39"/>
                  <a:pt x="38" y="41"/>
                </a:cubicBezTo>
                <a:cubicBezTo>
                  <a:pt x="40" y="42"/>
                  <a:pt x="42" y="42"/>
                  <a:pt x="43" y="44"/>
                </a:cubicBezTo>
                <a:cubicBezTo>
                  <a:pt x="43" y="45"/>
                  <a:pt x="43" y="45"/>
                  <a:pt x="43" y="45"/>
                </a:cubicBezTo>
                <a:cubicBezTo>
                  <a:pt x="41" y="48"/>
                  <a:pt x="37" y="48"/>
                  <a:pt x="34" y="48"/>
                </a:cubicBezTo>
                <a:cubicBezTo>
                  <a:pt x="31" y="48"/>
                  <a:pt x="29" y="47"/>
                  <a:pt x="25" y="46"/>
                </a:cubicBezTo>
                <a:cubicBezTo>
                  <a:pt x="25" y="46"/>
                  <a:pt x="24" y="46"/>
                  <a:pt x="23" y="46"/>
                </a:cubicBezTo>
                <a:cubicBezTo>
                  <a:pt x="21" y="48"/>
                  <a:pt x="18" y="48"/>
                  <a:pt x="15" y="48"/>
                </a:cubicBezTo>
                <a:cubicBezTo>
                  <a:pt x="13" y="48"/>
                  <a:pt x="5" y="48"/>
                  <a:pt x="5" y="45"/>
                </a:cubicBezTo>
                <a:cubicBezTo>
                  <a:pt x="5" y="43"/>
                  <a:pt x="6" y="43"/>
                  <a:pt x="7" y="42"/>
                </a:cubicBezTo>
                <a:cubicBezTo>
                  <a:pt x="7" y="42"/>
                  <a:pt x="8" y="41"/>
                  <a:pt x="9" y="41"/>
                </a:cubicBezTo>
                <a:cubicBezTo>
                  <a:pt x="9" y="41"/>
                  <a:pt x="9" y="41"/>
                  <a:pt x="9" y="41"/>
                </a:cubicBezTo>
                <a:cubicBezTo>
                  <a:pt x="9" y="41"/>
                  <a:pt x="9" y="41"/>
                  <a:pt x="9" y="41"/>
                </a:cubicBezTo>
                <a:cubicBezTo>
                  <a:pt x="9" y="41"/>
                  <a:pt x="9" y="41"/>
                  <a:pt x="9" y="41"/>
                </a:cubicBezTo>
                <a:cubicBezTo>
                  <a:pt x="8" y="40"/>
                  <a:pt x="5" y="36"/>
                  <a:pt x="5" y="34"/>
                </a:cubicBezTo>
                <a:cubicBezTo>
                  <a:pt x="4" y="34"/>
                  <a:pt x="4" y="34"/>
                  <a:pt x="4" y="34"/>
                </a:cubicBezTo>
                <a:cubicBezTo>
                  <a:pt x="4" y="34"/>
                  <a:pt x="4" y="34"/>
                  <a:pt x="4" y="34"/>
                </a:cubicBezTo>
                <a:cubicBezTo>
                  <a:pt x="4" y="36"/>
                  <a:pt x="2" y="37"/>
                  <a:pt x="1" y="37"/>
                </a:cubicBezTo>
                <a:cubicBezTo>
                  <a:pt x="1" y="37"/>
                  <a:pt x="1" y="37"/>
                  <a:pt x="1" y="37"/>
                </a:cubicBezTo>
                <a:cubicBezTo>
                  <a:pt x="0" y="37"/>
                  <a:pt x="0" y="37"/>
                  <a:pt x="0" y="37"/>
                </a:cubicBezTo>
                <a:cubicBezTo>
                  <a:pt x="0" y="36"/>
                  <a:pt x="0" y="35"/>
                  <a:pt x="0" y="34"/>
                </a:cubicBezTo>
                <a:cubicBezTo>
                  <a:pt x="0" y="29"/>
                  <a:pt x="2" y="25"/>
                  <a:pt x="6" y="22"/>
                </a:cubicBezTo>
                <a:cubicBezTo>
                  <a:pt x="6" y="21"/>
                  <a:pt x="6" y="21"/>
                  <a:pt x="6" y="20"/>
                </a:cubicBez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 name="Freeform 338"/>
          <p:cNvSpPr>
            <a:spLocks noEditPoints="1"/>
          </p:cNvSpPr>
          <p:nvPr userDrawn="1"/>
        </p:nvSpPr>
        <p:spPr bwMode="auto">
          <a:xfrm>
            <a:off x="1218999" y="3508043"/>
            <a:ext cx="227789" cy="232485"/>
          </a:xfrm>
          <a:custGeom>
            <a:avLst/>
            <a:gdLst>
              <a:gd name="T0" fmla="*/ 20 w 41"/>
              <a:gd name="T1" fmla="*/ 42 h 42"/>
              <a:gd name="T2" fmla="*/ 0 w 41"/>
              <a:gd name="T3" fmla="*/ 21 h 42"/>
              <a:gd name="T4" fmla="*/ 20 w 41"/>
              <a:gd name="T5" fmla="*/ 0 h 42"/>
              <a:gd name="T6" fmla="*/ 41 w 41"/>
              <a:gd name="T7" fmla="*/ 21 h 42"/>
              <a:gd name="T8" fmla="*/ 20 w 41"/>
              <a:gd name="T9" fmla="*/ 42 h 42"/>
              <a:gd name="T10" fmla="*/ 21 w 41"/>
              <a:gd name="T11" fmla="*/ 7 h 42"/>
              <a:gd name="T12" fmla="*/ 11 w 41"/>
              <a:gd name="T13" fmla="*/ 13 h 42"/>
              <a:gd name="T14" fmla="*/ 11 w 41"/>
              <a:gd name="T15" fmla="*/ 14 h 42"/>
              <a:gd name="T16" fmla="*/ 15 w 41"/>
              <a:gd name="T17" fmla="*/ 17 h 42"/>
              <a:gd name="T18" fmla="*/ 15 w 41"/>
              <a:gd name="T19" fmla="*/ 17 h 42"/>
              <a:gd name="T20" fmla="*/ 16 w 41"/>
              <a:gd name="T21" fmla="*/ 17 h 42"/>
              <a:gd name="T22" fmla="*/ 18 w 41"/>
              <a:gd name="T23" fmla="*/ 14 h 42"/>
              <a:gd name="T24" fmla="*/ 20 w 41"/>
              <a:gd name="T25" fmla="*/ 14 h 42"/>
              <a:gd name="T26" fmla="*/ 24 w 41"/>
              <a:gd name="T27" fmla="*/ 16 h 42"/>
              <a:gd name="T28" fmla="*/ 21 w 41"/>
              <a:gd name="T29" fmla="*/ 19 h 42"/>
              <a:gd name="T30" fmla="*/ 17 w 41"/>
              <a:gd name="T31" fmla="*/ 24 h 42"/>
              <a:gd name="T32" fmla="*/ 17 w 41"/>
              <a:gd name="T33" fmla="*/ 25 h 42"/>
              <a:gd name="T34" fmla="*/ 18 w 41"/>
              <a:gd name="T35" fmla="*/ 26 h 42"/>
              <a:gd name="T36" fmla="*/ 23 w 41"/>
              <a:gd name="T37" fmla="*/ 26 h 42"/>
              <a:gd name="T38" fmla="*/ 24 w 41"/>
              <a:gd name="T39" fmla="*/ 25 h 42"/>
              <a:gd name="T40" fmla="*/ 26 w 41"/>
              <a:gd name="T41" fmla="*/ 23 h 42"/>
              <a:gd name="T42" fmla="*/ 30 w 41"/>
              <a:gd name="T43" fmla="*/ 16 h 42"/>
              <a:gd name="T44" fmla="*/ 21 w 41"/>
              <a:gd name="T45" fmla="*/ 7 h 42"/>
              <a:gd name="T46" fmla="*/ 24 w 41"/>
              <a:gd name="T47" fmla="*/ 29 h 42"/>
              <a:gd name="T48" fmla="*/ 23 w 41"/>
              <a:gd name="T49" fmla="*/ 28 h 42"/>
              <a:gd name="T50" fmla="*/ 18 w 41"/>
              <a:gd name="T51" fmla="*/ 28 h 42"/>
              <a:gd name="T52" fmla="*/ 17 w 41"/>
              <a:gd name="T53" fmla="*/ 29 h 42"/>
              <a:gd name="T54" fmla="*/ 17 w 41"/>
              <a:gd name="T55" fmla="*/ 34 h 42"/>
              <a:gd name="T56" fmla="*/ 18 w 41"/>
              <a:gd name="T57" fmla="*/ 35 h 42"/>
              <a:gd name="T58" fmla="*/ 23 w 41"/>
              <a:gd name="T59" fmla="*/ 35 h 42"/>
              <a:gd name="T60" fmla="*/ 24 w 41"/>
              <a:gd name="T61" fmla="*/ 34 h 42"/>
              <a:gd name="T62" fmla="*/ 24 w 41"/>
              <a:gd name="T63" fmla="*/ 2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 h="42">
                <a:moveTo>
                  <a:pt x="20" y="42"/>
                </a:moveTo>
                <a:cubicBezTo>
                  <a:pt x="9" y="42"/>
                  <a:pt x="0" y="32"/>
                  <a:pt x="0" y="21"/>
                </a:cubicBezTo>
                <a:cubicBezTo>
                  <a:pt x="0" y="10"/>
                  <a:pt x="9" y="0"/>
                  <a:pt x="20" y="0"/>
                </a:cubicBezTo>
                <a:cubicBezTo>
                  <a:pt x="32" y="0"/>
                  <a:pt x="41" y="10"/>
                  <a:pt x="41" y="21"/>
                </a:cubicBezTo>
                <a:cubicBezTo>
                  <a:pt x="41" y="32"/>
                  <a:pt x="32" y="42"/>
                  <a:pt x="20" y="42"/>
                </a:cubicBezTo>
                <a:close/>
                <a:moveTo>
                  <a:pt x="21" y="7"/>
                </a:moveTo>
                <a:cubicBezTo>
                  <a:pt x="16" y="7"/>
                  <a:pt x="13" y="9"/>
                  <a:pt x="11" y="13"/>
                </a:cubicBezTo>
                <a:cubicBezTo>
                  <a:pt x="11" y="13"/>
                  <a:pt x="11" y="14"/>
                  <a:pt x="11" y="14"/>
                </a:cubicBezTo>
                <a:cubicBezTo>
                  <a:pt x="15" y="17"/>
                  <a:pt x="15" y="17"/>
                  <a:pt x="15" y="17"/>
                </a:cubicBezTo>
                <a:cubicBezTo>
                  <a:pt x="15" y="17"/>
                  <a:pt x="15" y="17"/>
                  <a:pt x="15" y="17"/>
                </a:cubicBezTo>
                <a:cubicBezTo>
                  <a:pt x="15" y="17"/>
                  <a:pt x="16" y="17"/>
                  <a:pt x="16" y="17"/>
                </a:cubicBezTo>
                <a:cubicBezTo>
                  <a:pt x="17" y="15"/>
                  <a:pt x="18" y="15"/>
                  <a:pt x="18" y="14"/>
                </a:cubicBezTo>
                <a:cubicBezTo>
                  <a:pt x="18" y="14"/>
                  <a:pt x="19" y="14"/>
                  <a:pt x="20" y="14"/>
                </a:cubicBezTo>
                <a:cubicBezTo>
                  <a:pt x="22" y="14"/>
                  <a:pt x="24" y="15"/>
                  <a:pt x="24" y="16"/>
                </a:cubicBezTo>
                <a:cubicBezTo>
                  <a:pt x="24" y="17"/>
                  <a:pt x="23" y="18"/>
                  <a:pt x="21" y="19"/>
                </a:cubicBezTo>
                <a:cubicBezTo>
                  <a:pt x="19" y="20"/>
                  <a:pt x="17" y="22"/>
                  <a:pt x="17" y="24"/>
                </a:cubicBezTo>
                <a:cubicBezTo>
                  <a:pt x="17" y="25"/>
                  <a:pt x="17" y="25"/>
                  <a:pt x="17" y="25"/>
                </a:cubicBezTo>
                <a:cubicBezTo>
                  <a:pt x="17" y="26"/>
                  <a:pt x="17" y="26"/>
                  <a:pt x="18" y="26"/>
                </a:cubicBezTo>
                <a:cubicBezTo>
                  <a:pt x="23" y="26"/>
                  <a:pt x="23" y="26"/>
                  <a:pt x="23" y="26"/>
                </a:cubicBezTo>
                <a:cubicBezTo>
                  <a:pt x="23" y="26"/>
                  <a:pt x="24" y="26"/>
                  <a:pt x="24" y="25"/>
                </a:cubicBezTo>
                <a:cubicBezTo>
                  <a:pt x="24" y="25"/>
                  <a:pt x="24" y="23"/>
                  <a:pt x="26" y="23"/>
                </a:cubicBezTo>
                <a:cubicBezTo>
                  <a:pt x="28" y="22"/>
                  <a:pt x="30" y="20"/>
                  <a:pt x="30" y="16"/>
                </a:cubicBezTo>
                <a:cubicBezTo>
                  <a:pt x="30" y="11"/>
                  <a:pt x="25" y="7"/>
                  <a:pt x="21" y="7"/>
                </a:cubicBezTo>
                <a:close/>
                <a:moveTo>
                  <a:pt x="24" y="29"/>
                </a:moveTo>
                <a:cubicBezTo>
                  <a:pt x="24" y="28"/>
                  <a:pt x="23" y="28"/>
                  <a:pt x="23" y="28"/>
                </a:cubicBezTo>
                <a:cubicBezTo>
                  <a:pt x="18" y="28"/>
                  <a:pt x="18" y="28"/>
                  <a:pt x="18" y="28"/>
                </a:cubicBezTo>
                <a:cubicBezTo>
                  <a:pt x="17" y="28"/>
                  <a:pt x="17" y="28"/>
                  <a:pt x="17" y="29"/>
                </a:cubicBezTo>
                <a:cubicBezTo>
                  <a:pt x="17" y="34"/>
                  <a:pt x="17" y="34"/>
                  <a:pt x="17" y="34"/>
                </a:cubicBezTo>
                <a:cubicBezTo>
                  <a:pt x="17" y="34"/>
                  <a:pt x="17" y="35"/>
                  <a:pt x="18" y="35"/>
                </a:cubicBezTo>
                <a:cubicBezTo>
                  <a:pt x="23" y="35"/>
                  <a:pt x="23" y="35"/>
                  <a:pt x="23" y="35"/>
                </a:cubicBezTo>
                <a:cubicBezTo>
                  <a:pt x="23" y="35"/>
                  <a:pt x="24" y="34"/>
                  <a:pt x="24" y="34"/>
                </a:cubicBezTo>
                <a:lnTo>
                  <a:pt x="24" y="29"/>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7" name="Freeform 340"/>
          <p:cNvSpPr>
            <a:spLocks noEditPoints="1"/>
          </p:cNvSpPr>
          <p:nvPr userDrawn="1"/>
        </p:nvSpPr>
        <p:spPr bwMode="auto">
          <a:xfrm>
            <a:off x="3096416" y="3862177"/>
            <a:ext cx="244226" cy="206654"/>
          </a:xfrm>
          <a:custGeom>
            <a:avLst/>
            <a:gdLst>
              <a:gd name="T0" fmla="*/ 20 w 44"/>
              <a:gd name="T1" fmla="*/ 24 h 37"/>
              <a:gd name="T2" fmla="*/ 7 w 44"/>
              <a:gd name="T3" fmla="*/ 37 h 37"/>
              <a:gd name="T4" fmla="*/ 5 w 44"/>
              <a:gd name="T5" fmla="*/ 37 h 37"/>
              <a:gd name="T6" fmla="*/ 3 w 44"/>
              <a:gd name="T7" fmla="*/ 36 h 37"/>
              <a:gd name="T8" fmla="*/ 3 w 44"/>
              <a:gd name="T9" fmla="*/ 32 h 37"/>
              <a:gd name="T10" fmla="*/ 5 w 44"/>
              <a:gd name="T11" fmla="*/ 31 h 37"/>
              <a:gd name="T12" fmla="*/ 7 w 44"/>
              <a:gd name="T13" fmla="*/ 31 h 37"/>
              <a:gd name="T14" fmla="*/ 14 w 44"/>
              <a:gd name="T15" fmla="*/ 24 h 37"/>
              <a:gd name="T16" fmla="*/ 14 w 44"/>
              <a:gd name="T17" fmla="*/ 23 h 37"/>
              <a:gd name="T18" fmla="*/ 11 w 44"/>
              <a:gd name="T19" fmla="*/ 20 h 37"/>
              <a:gd name="T20" fmla="*/ 5 w 44"/>
              <a:gd name="T21" fmla="*/ 20 h 37"/>
              <a:gd name="T22" fmla="*/ 0 w 44"/>
              <a:gd name="T23" fmla="*/ 15 h 37"/>
              <a:gd name="T24" fmla="*/ 0 w 44"/>
              <a:gd name="T25" fmla="*/ 5 h 37"/>
              <a:gd name="T26" fmla="*/ 5 w 44"/>
              <a:gd name="T27" fmla="*/ 0 h 37"/>
              <a:gd name="T28" fmla="*/ 15 w 44"/>
              <a:gd name="T29" fmla="*/ 0 h 37"/>
              <a:gd name="T30" fmla="*/ 20 w 44"/>
              <a:gd name="T31" fmla="*/ 5 h 37"/>
              <a:gd name="T32" fmla="*/ 20 w 44"/>
              <a:gd name="T33" fmla="*/ 24 h 37"/>
              <a:gd name="T34" fmla="*/ 44 w 44"/>
              <a:gd name="T35" fmla="*/ 24 h 37"/>
              <a:gd name="T36" fmla="*/ 31 w 44"/>
              <a:gd name="T37" fmla="*/ 37 h 37"/>
              <a:gd name="T38" fmla="*/ 29 w 44"/>
              <a:gd name="T39" fmla="*/ 37 h 37"/>
              <a:gd name="T40" fmla="*/ 27 w 44"/>
              <a:gd name="T41" fmla="*/ 36 h 37"/>
              <a:gd name="T42" fmla="*/ 27 w 44"/>
              <a:gd name="T43" fmla="*/ 32 h 37"/>
              <a:gd name="T44" fmla="*/ 29 w 44"/>
              <a:gd name="T45" fmla="*/ 31 h 37"/>
              <a:gd name="T46" fmla="*/ 31 w 44"/>
              <a:gd name="T47" fmla="*/ 31 h 37"/>
              <a:gd name="T48" fmla="*/ 38 w 44"/>
              <a:gd name="T49" fmla="*/ 24 h 37"/>
              <a:gd name="T50" fmla="*/ 38 w 44"/>
              <a:gd name="T51" fmla="*/ 23 h 37"/>
              <a:gd name="T52" fmla="*/ 35 w 44"/>
              <a:gd name="T53" fmla="*/ 20 h 37"/>
              <a:gd name="T54" fmla="*/ 29 w 44"/>
              <a:gd name="T55" fmla="*/ 20 h 37"/>
              <a:gd name="T56" fmla="*/ 24 w 44"/>
              <a:gd name="T57" fmla="*/ 15 h 37"/>
              <a:gd name="T58" fmla="*/ 24 w 44"/>
              <a:gd name="T59" fmla="*/ 5 h 37"/>
              <a:gd name="T60" fmla="*/ 29 w 44"/>
              <a:gd name="T61" fmla="*/ 0 h 37"/>
              <a:gd name="T62" fmla="*/ 39 w 44"/>
              <a:gd name="T63" fmla="*/ 0 h 37"/>
              <a:gd name="T64" fmla="*/ 44 w 44"/>
              <a:gd name="T65" fmla="*/ 5 h 37"/>
              <a:gd name="T66" fmla="*/ 44 w 44"/>
              <a:gd name="T67" fmla="*/ 2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37">
                <a:moveTo>
                  <a:pt x="20" y="24"/>
                </a:moveTo>
                <a:cubicBezTo>
                  <a:pt x="20" y="31"/>
                  <a:pt x="14" y="37"/>
                  <a:pt x="7" y="37"/>
                </a:cubicBezTo>
                <a:cubicBezTo>
                  <a:pt x="5" y="37"/>
                  <a:pt x="5" y="37"/>
                  <a:pt x="5" y="37"/>
                </a:cubicBezTo>
                <a:cubicBezTo>
                  <a:pt x="4" y="37"/>
                  <a:pt x="3" y="37"/>
                  <a:pt x="3" y="36"/>
                </a:cubicBezTo>
                <a:cubicBezTo>
                  <a:pt x="3" y="32"/>
                  <a:pt x="3" y="32"/>
                  <a:pt x="3" y="32"/>
                </a:cubicBezTo>
                <a:cubicBezTo>
                  <a:pt x="3" y="31"/>
                  <a:pt x="4" y="31"/>
                  <a:pt x="5" y="31"/>
                </a:cubicBezTo>
                <a:cubicBezTo>
                  <a:pt x="7" y="31"/>
                  <a:pt x="7" y="31"/>
                  <a:pt x="7" y="31"/>
                </a:cubicBezTo>
                <a:cubicBezTo>
                  <a:pt x="11" y="31"/>
                  <a:pt x="14" y="27"/>
                  <a:pt x="14" y="24"/>
                </a:cubicBezTo>
                <a:cubicBezTo>
                  <a:pt x="14" y="23"/>
                  <a:pt x="14" y="23"/>
                  <a:pt x="14" y="23"/>
                </a:cubicBezTo>
                <a:cubicBezTo>
                  <a:pt x="14" y="21"/>
                  <a:pt x="12" y="20"/>
                  <a:pt x="11" y="20"/>
                </a:cubicBezTo>
                <a:cubicBezTo>
                  <a:pt x="5" y="20"/>
                  <a:pt x="5" y="20"/>
                  <a:pt x="5" y="20"/>
                </a:cubicBezTo>
                <a:cubicBezTo>
                  <a:pt x="2" y="20"/>
                  <a:pt x="0" y="18"/>
                  <a:pt x="0" y="15"/>
                </a:cubicBezTo>
                <a:cubicBezTo>
                  <a:pt x="0" y="5"/>
                  <a:pt x="0" y="5"/>
                  <a:pt x="0" y="5"/>
                </a:cubicBezTo>
                <a:cubicBezTo>
                  <a:pt x="0" y="2"/>
                  <a:pt x="2" y="0"/>
                  <a:pt x="5" y="0"/>
                </a:cubicBezTo>
                <a:cubicBezTo>
                  <a:pt x="15" y="0"/>
                  <a:pt x="15" y="0"/>
                  <a:pt x="15" y="0"/>
                </a:cubicBezTo>
                <a:cubicBezTo>
                  <a:pt x="18" y="0"/>
                  <a:pt x="20" y="2"/>
                  <a:pt x="20" y="5"/>
                </a:cubicBezTo>
                <a:lnTo>
                  <a:pt x="20" y="24"/>
                </a:lnTo>
                <a:close/>
                <a:moveTo>
                  <a:pt x="44" y="24"/>
                </a:moveTo>
                <a:cubicBezTo>
                  <a:pt x="44" y="31"/>
                  <a:pt x="38" y="37"/>
                  <a:pt x="31" y="37"/>
                </a:cubicBezTo>
                <a:cubicBezTo>
                  <a:pt x="29" y="37"/>
                  <a:pt x="29" y="37"/>
                  <a:pt x="29" y="37"/>
                </a:cubicBezTo>
                <a:cubicBezTo>
                  <a:pt x="28" y="37"/>
                  <a:pt x="27" y="37"/>
                  <a:pt x="27" y="36"/>
                </a:cubicBezTo>
                <a:cubicBezTo>
                  <a:pt x="27" y="32"/>
                  <a:pt x="27" y="32"/>
                  <a:pt x="27" y="32"/>
                </a:cubicBezTo>
                <a:cubicBezTo>
                  <a:pt x="27" y="31"/>
                  <a:pt x="28" y="31"/>
                  <a:pt x="29" y="31"/>
                </a:cubicBezTo>
                <a:cubicBezTo>
                  <a:pt x="31" y="31"/>
                  <a:pt x="31" y="31"/>
                  <a:pt x="31" y="31"/>
                </a:cubicBezTo>
                <a:cubicBezTo>
                  <a:pt x="35" y="31"/>
                  <a:pt x="38" y="27"/>
                  <a:pt x="38" y="24"/>
                </a:cubicBezTo>
                <a:cubicBezTo>
                  <a:pt x="38" y="23"/>
                  <a:pt x="38" y="23"/>
                  <a:pt x="38" y="23"/>
                </a:cubicBezTo>
                <a:cubicBezTo>
                  <a:pt x="38" y="21"/>
                  <a:pt x="36" y="20"/>
                  <a:pt x="35" y="20"/>
                </a:cubicBezTo>
                <a:cubicBezTo>
                  <a:pt x="29" y="20"/>
                  <a:pt x="29" y="20"/>
                  <a:pt x="29" y="20"/>
                </a:cubicBezTo>
                <a:cubicBezTo>
                  <a:pt x="26" y="20"/>
                  <a:pt x="24" y="18"/>
                  <a:pt x="24" y="15"/>
                </a:cubicBezTo>
                <a:cubicBezTo>
                  <a:pt x="24" y="5"/>
                  <a:pt x="24" y="5"/>
                  <a:pt x="24" y="5"/>
                </a:cubicBezTo>
                <a:cubicBezTo>
                  <a:pt x="24" y="2"/>
                  <a:pt x="26" y="0"/>
                  <a:pt x="29" y="0"/>
                </a:cubicBezTo>
                <a:cubicBezTo>
                  <a:pt x="39" y="0"/>
                  <a:pt x="39" y="0"/>
                  <a:pt x="39" y="0"/>
                </a:cubicBezTo>
                <a:cubicBezTo>
                  <a:pt x="42" y="0"/>
                  <a:pt x="44" y="2"/>
                  <a:pt x="44" y="5"/>
                </a:cubicBezTo>
                <a:lnTo>
                  <a:pt x="44" y="24"/>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9" name="Freeform 342"/>
          <p:cNvSpPr>
            <a:spLocks noEditPoints="1"/>
          </p:cNvSpPr>
          <p:nvPr userDrawn="1"/>
        </p:nvSpPr>
        <p:spPr bwMode="auto">
          <a:xfrm>
            <a:off x="3800355" y="4550394"/>
            <a:ext cx="267709" cy="237182"/>
          </a:xfrm>
          <a:custGeom>
            <a:avLst/>
            <a:gdLst>
              <a:gd name="T0" fmla="*/ 48 w 48"/>
              <a:gd name="T1" fmla="*/ 10 h 43"/>
              <a:gd name="T2" fmla="*/ 39 w 48"/>
              <a:gd name="T3" fmla="*/ 19 h 43"/>
              <a:gd name="T4" fmla="*/ 39 w 48"/>
              <a:gd name="T5" fmla="*/ 19 h 43"/>
              <a:gd name="T6" fmla="*/ 38 w 48"/>
              <a:gd name="T7" fmla="*/ 18 h 43"/>
              <a:gd name="T8" fmla="*/ 38 w 48"/>
              <a:gd name="T9" fmla="*/ 13 h 43"/>
              <a:gd name="T10" fmla="*/ 31 w 48"/>
              <a:gd name="T11" fmla="*/ 13 h 43"/>
              <a:gd name="T12" fmla="*/ 24 w 48"/>
              <a:gd name="T13" fmla="*/ 18 h 43"/>
              <a:gd name="T14" fmla="*/ 22 w 48"/>
              <a:gd name="T15" fmla="*/ 23 h 43"/>
              <a:gd name="T16" fmla="*/ 7 w 48"/>
              <a:gd name="T17" fmla="*/ 37 h 43"/>
              <a:gd name="T18" fmla="*/ 1 w 48"/>
              <a:gd name="T19" fmla="*/ 37 h 43"/>
              <a:gd name="T20" fmla="*/ 0 w 48"/>
              <a:gd name="T21" fmla="*/ 36 h 43"/>
              <a:gd name="T22" fmla="*/ 0 w 48"/>
              <a:gd name="T23" fmla="*/ 31 h 43"/>
              <a:gd name="T24" fmla="*/ 1 w 48"/>
              <a:gd name="T25" fmla="*/ 30 h 43"/>
              <a:gd name="T26" fmla="*/ 7 w 48"/>
              <a:gd name="T27" fmla="*/ 30 h 43"/>
              <a:gd name="T28" fmla="*/ 14 w 48"/>
              <a:gd name="T29" fmla="*/ 25 h 43"/>
              <a:gd name="T30" fmla="*/ 16 w 48"/>
              <a:gd name="T31" fmla="*/ 20 h 43"/>
              <a:gd name="T32" fmla="*/ 31 w 48"/>
              <a:gd name="T33" fmla="*/ 6 h 43"/>
              <a:gd name="T34" fmla="*/ 38 w 48"/>
              <a:gd name="T35" fmla="*/ 6 h 43"/>
              <a:gd name="T36" fmla="*/ 38 w 48"/>
              <a:gd name="T37" fmla="*/ 1 h 43"/>
              <a:gd name="T38" fmla="*/ 39 w 48"/>
              <a:gd name="T39" fmla="*/ 0 h 43"/>
              <a:gd name="T40" fmla="*/ 39 w 48"/>
              <a:gd name="T41" fmla="*/ 1 h 43"/>
              <a:gd name="T42" fmla="*/ 48 w 48"/>
              <a:gd name="T43" fmla="*/ 9 h 43"/>
              <a:gd name="T44" fmla="*/ 48 w 48"/>
              <a:gd name="T45" fmla="*/ 10 h 43"/>
              <a:gd name="T46" fmla="*/ 48 w 48"/>
              <a:gd name="T47" fmla="*/ 10 h 43"/>
              <a:gd name="T48" fmla="*/ 14 w 48"/>
              <a:gd name="T49" fmla="*/ 20 h 43"/>
              <a:gd name="T50" fmla="*/ 7 w 48"/>
              <a:gd name="T51" fmla="*/ 13 h 43"/>
              <a:gd name="T52" fmla="*/ 1 w 48"/>
              <a:gd name="T53" fmla="*/ 13 h 43"/>
              <a:gd name="T54" fmla="*/ 0 w 48"/>
              <a:gd name="T55" fmla="*/ 12 h 43"/>
              <a:gd name="T56" fmla="*/ 0 w 48"/>
              <a:gd name="T57" fmla="*/ 7 h 43"/>
              <a:gd name="T58" fmla="*/ 1 w 48"/>
              <a:gd name="T59" fmla="*/ 6 h 43"/>
              <a:gd name="T60" fmla="*/ 7 w 48"/>
              <a:gd name="T61" fmla="*/ 6 h 43"/>
              <a:gd name="T62" fmla="*/ 18 w 48"/>
              <a:gd name="T63" fmla="*/ 12 h 43"/>
              <a:gd name="T64" fmla="*/ 14 w 48"/>
              <a:gd name="T65" fmla="*/ 20 h 43"/>
              <a:gd name="T66" fmla="*/ 48 w 48"/>
              <a:gd name="T67" fmla="*/ 34 h 43"/>
              <a:gd name="T68" fmla="*/ 39 w 48"/>
              <a:gd name="T69" fmla="*/ 43 h 43"/>
              <a:gd name="T70" fmla="*/ 39 w 48"/>
              <a:gd name="T71" fmla="*/ 43 h 43"/>
              <a:gd name="T72" fmla="*/ 38 w 48"/>
              <a:gd name="T73" fmla="*/ 42 h 43"/>
              <a:gd name="T74" fmla="*/ 38 w 48"/>
              <a:gd name="T75" fmla="*/ 37 h 43"/>
              <a:gd name="T76" fmla="*/ 20 w 48"/>
              <a:gd name="T77" fmla="*/ 31 h 43"/>
              <a:gd name="T78" fmla="*/ 24 w 48"/>
              <a:gd name="T79" fmla="*/ 24 h 43"/>
              <a:gd name="T80" fmla="*/ 31 w 48"/>
              <a:gd name="T81" fmla="*/ 30 h 43"/>
              <a:gd name="T82" fmla="*/ 38 w 48"/>
              <a:gd name="T83" fmla="*/ 30 h 43"/>
              <a:gd name="T84" fmla="*/ 38 w 48"/>
              <a:gd name="T85" fmla="*/ 25 h 43"/>
              <a:gd name="T86" fmla="*/ 39 w 48"/>
              <a:gd name="T87" fmla="*/ 24 h 43"/>
              <a:gd name="T88" fmla="*/ 39 w 48"/>
              <a:gd name="T89" fmla="*/ 25 h 43"/>
              <a:gd name="T90" fmla="*/ 48 w 48"/>
              <a:gd name="T91" fmla="*/ 33 h 43"/>
              <a:gd name="T92" fmla="*/ 48 w 48"/>
              <a:gd name="T93" fmla="*/ 34 h 43"/>
              <a:gd name="T94" fmla="*/ 48 w 48"/>
              <a:gd name="T95" fmla="*/ 3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 h="43">
                <a:moveTo>
                  <a:pt x="48" y="10"/>
                </a:moveTo>
                <a:cubicBezTo>
                  <a:pt x="39" y="19"/>
                  <a:pt x="39" y="19"/>
                  <a:pt x="39" y="19"/>
                </a:cubicBezTo>
                <a:cubicBezTo>
                  <a:pt x="39" y="19"/>
                  <a:pt x="39" y="19"/>
                  <a:pt x="39" y="19"/>
                </a:cubicBezTo>
                <a:cubicBezTo>
                  <a:pt x="38" y="19"/>
                  <a:pt x="38" y="19"/>
                  <a:pt x="38" y="18"/>
                </a:cubicBezTo>
                <a:cubicBezTo>
                  <a:pt x="38" y="13"/>
                  <a:pt x="38" y="13"/>
                  <a:pt x="38" y="13"/>
                </a:cubicBezTo>
                <a:cubicBezTo>
                  <a:pt x="31" y="13"/>
                  <a:pt x="31" y="13"/>
                  <a:pt x="31" y="13"/>
                </a:cubicBezTo>
                <a:cubicBezTo>
                  <a:pt x="27" y="13"/>
                  <a:pt x="26" y="16"/>
                  <a:pt x="24" y="18"/>
                </a:cubicBezTo>
                <a:cubicBezTo>
                  <a:pt x="24" y="20"/>
                  <a:pt x="23" y="22"/>
                  <a:pt x="22" y="23"/>
                </a:cubicBezTo>
                <a:cubicBezTo>
                  <a:pt x="19" y="30"/>
                  <a:pt x="16" y="37"/>
                  <a:pt x="7" y="37"/>
                </a:cubicBezTo>
                <a:cubicBezTo>
                  <a:pt x="1" y="37"/>
                  <a:pt x="1" y="37"/>
                  <a:pt x="1" y="37"/>
                </a:cubicBezTo>
                <a:cubicBezTo>
                  <a:pt x="1" y="37"/>
                  <a:pt x="0" y="37"/>
                  <a:pt x="0" y="36"/>
                </a:cubicBezTo>
                <a:cubicBezTo>
                  <a:pt x="0" y="31"/>
                  <a:pt x="0" y="31"/>
                  <a:pt x="0" y="31"/>
                </a:cubicBezTo>
                <a:cubicBezTo>
                  <a:pt x="0" y="31"/>
                  <a:pt x="1" y="30"/>
                  <a:pt x="1" y="30"/>
                </a:cubicBezTo>
                <a:cubicBezTo>
                  <a:pt x="7" y="30"/>
                  <a:pt x="7" y="30"/>
                  <a:pt x="7" y="30"/>
                </a:cubicBezTo>
                <a:cubicBezTo>
                  <a:pt x="11" y="30"/>
                  <a:pt x="12" y="28"/>
                  <a:pt x="14" y="25"/>
                </a:cubicBezTo>
                <a:cubicBezTo>
                  <a:pt x="15" y="23"/>
                  <a:pt x="15" y="22"/>
                  <a:pt x="16" y="20"/>
                </a:cubicBezTo>
                <a:cubicBezTo>
                  <a:pt x="19" y="13"/>
                  <a:pt x="22" y="6"/>
                  <a:pt x="31" y="6"/>
                </a:cubicBezTo>
                <a:cubicBezTo>
                  <a:pt x="38" y="6"/>
                  <a:pt x="38" y="6"/>
                  <a:pt x="38" y="6"/>
                </a:cubicBezTo>
                <a:cubicBezTo>
                  <a:pt x="38" y="1"/>
                  <a:pt x="38" y="1"/>
                  <a:pt x="38" y="1"/>
                </a:cubicBezTo>
                <a:cubicBezTo>
                  <a:pt x="38" y="1"/>
                  <a:pt x="38" y="0"/>
                  <a:pt x="39" y="0"/>
                </a:cubicBezTo>
                <a:cubicBezTo>
                  <a:pt x="39" y="0"/>
                  <a:pt x="39" y="0"/>
                  <a:pt x="39" y="1"/>
                </a:cubicBezTo>
                <a:cubicBezTo>
                  <a:pt x="48" y="9"/>
                  <a:pt x="48" y="9"/>
                  <a:pt x="48" y="9"/>
                </a:cubicBezTo>
                <a:cubicBezTo>
                  <a:pt x="48" y="9"/>
                  <a:pt x="48" y="10"/>
                  <a:pt x="48" y="10"/>
                </a:cubicBezTo>
                <a:cubicBezTo>
                  <a:pt x="48" y="10"/>
                  <a:pt x="48" y="10"/>
                  <a:pt x="48" y="10"/>
                </a:cubicBezTo>
                <a:close/>
                <a:moveTo>
                  <a:pt x="14" y="20"/>
                </a:moveTo>
                <a:cubicBezTo>
                  <a:pt x="13" y="16"/>
                  <a:pt x="11" y="13"/>
                  <a:pt x="7" y="13"/>
                </a:cubicBezTo>
                <a:cubicBezTo>
                  <a:pt x="1" y="13"/>
                  <a:pt x="1" y="13"/>
                  <a:pt x="1" y="13"/>
                </a:cubicBezTo>
                <a:cubicBezTo>
                  <a:pt x="1" y="13"/>
                  <a:pt x="0" y="13"/>
                  <a:pt x="0" y="12"/>
                </a:cubicBezTo>
                <a:cubicBezTo>
                  <a:pt x="0" y="7"/>
                  <a:pt x="0" y="7"/>
                  <a:pt x="0" y="7"/>
                </a:cubicBezTo>
                <a:cubicBezTo>
                  <a:pt x="0" y="7"/>
                  <a:pt x="1" y="6"/>
                  <a:pt x="1" y="6"/>
                </a:cubicBezTo>
                <a:cubicBezTo>
                  <a:pt x="7" y="6"/>
                  <a:pt x="7" y="6"/>
                  <a:pt x="7" y="6"/>
                </a:cubicBezTo>
                <a:cubicBezTo>
                  <a:pt x="12" y="6"/>
                  <a:pt x="15" y="9"/>
                  <a:pt x="18" y="12"/>
                </a:cubicBezTo>
                <a:cubicBezTo>
                  <a:pt x="17" y="15"/>
                  <a:pt x="15" y="17"/>
                  <a:pt x="14" y="20"/>
                </a:cubicBezTo>
                <a:close/>
                <a:moveTo>
                  <a:pt x="48" y="34"/>
                </a:moveTo>
                <a:cubicBezTo>
                  <a:pt x="39" y="43"/>
                  <a:pt x="39" y="43"/>
                  <a:pt x="39" y="43"/>
                </a:cubicBezTo>
                <a:cubicBezTo>
                  <a:pt x="39" y="43"/>
                  <a:pt x="39" y="43"/>
                  <a:pt x="39" y="43"/>
                </a:cubicBezTo>
                <a:cubicBezTo>
                  <a:pt x="38" y="43"/>
                  <a:pt x="38" y="43"/>
                  <a:pt x="38" y="42"/>
                </a:cubicBezTo>
                <a:cubicBezTo>
                  <a:pt x="38" y="37"/>
                  <a:pt x="38" y="37"/>
                  <a:pt x="38" y="37"/>
                </a:cubicBezTo>
                <a:cubicBezTo>
                  <a:pt x="30" y="37"/>
                  <a:pt x="25" y="38"/>
                  <a:pt x="20" y="31"/>
                </a:cubicBezTo>
                <a:cubicBezTo>
                  <a:pt x="22" y="29"/>
                  <a:pt x="23" y="26"/>
                  <a:pt x="24" y="24"/>
                </a:cubicBezTo>
                <a:cubicBezTo>
                  <a:pt x="25" y="27"/>
                  <a:pt x="27" y="30"/>
                  <a:pt x="31" y="30"/>
                </a:cubicBezTo>
                <a:cubicBezTo>
                  <a:pt x="38" y="30"/>
                  <a:pt x="38" y="30"/>
                  <a:pt x="38" y="30"/>
                </a:cubicBezTo>
                <a:cubicBezTo>
                  <a:pt x="38" y="25"/>
                  <a:pt x="38" y="25"/>
                  <a:pt x="38" y="25"/>
                </a:cubicBezTo>
                <a:cubicBezTo>
                  <a:pt x="38" y="25"/>
                  <a:pt x="38" y="24"/>
                  <a:pt x="39" y="24"/>
                </a:cubicBezTo>
                <a:cubicBezTo>
                  <a:pt x="39" y="24"/>
                  <a:pt x="39" y="24"/>
                  <a:pt x="39" y="25"/>
                </a:cubicBezTo>
                <a:cubicBezTo>
                  <a:pt x="48" y="33"/>
                  <a:pt x="48" y="33"/>
                  <a:pt x="48" y="33"/>
                </a:cubicBezTo>
                <a:cubicBezTo>
                  <a:pt x="48" y="33"/>
                  <a:pt x="48" y="34"/>
                  <a:pt x="48" y="34"/>
                </a:cubicBezTo>
                <a:cubicBezTo>
                  <a:pt x="48" y="34"/>
                  <a:pt x="48" y="34"/>
                  <a:pt x="48" y="34"/>
                </a:cubicBez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3" name="Freeform 347"/>
          <p:cNvSpPr>
            <a:spLocks noEditPoints="1"/>
          </p:cNvSpPr>
          <p:nvPr userDrawn="1"/>
        </p:nvSpPr>
        <p:spPr bwMode="auto">
          <a:xfrm>
            <a:off x="3008928" y="4439774"/>
            <a:ext cx="227789" cy="227789"/>
          </a:xfrm>
          <a:custGeom>
            <a:avLst/>
            <a:gdLst>
              <a:gd name="T0" fmla="*/ 17 w 41"/>
              <a:gd name="T1" fmla="*/ 13 h 41"/>
              <a:gd name="T2" fmla="*/ 4 w 41"/>
              <a:gd name="T3" fmla="*/ 34 h 41"/>
              <a:gd name="T4" fmla="*/ 0 w 41"/>
              <a:gd name="T5" fmla="*/ 21 h 41"/>
              <a:gd name="T6" fmla="*/ 17 w 41"/>
              <a:gd name="T7" fmla="*/ 0 h 41"/>
              <a:gd name="T8" fmla="*/ 17 w 41"/>
              <a:gd name="T9" fmla="*/ 13 h 41"/>
              <a:gd name="T10" fmla="*/ 20 w 41"/>
              <a:gd name="T11" fmla="*/ 41 h 41"/>
              <a:gd name="T12" fmla="*/ 10 w 41"/>
              <a:gd name="T13" fmla="*/ 39 h 41"/>
              <a:gd name="T14" fmla="*/ 20 w 41"/>
              <a:gd name="T15" fmla="*/ 26 h 41"/>
              <a:gd name="T16" fmla="*/ 30 w 41"/>
              <a:gd name="T17" fmla="*/ 39 h 41"/>
              <a:gd name="T18" fmla="*/ 20 w 41"/>
              <a:gd name="T19" fmla="*/ 41 h 41"/>
              <a:gd name="T20" fmla="*/ 36 w 41"/>
              <a:gd name="T21" fmla="*/ 34 h 41"/>
              <a:gd name="T22" fmla="*/ 24 w 41"/>
              <a:gd name="T23" fmla="*/ 13 h 41"/>
              <a:gd name="T24" fmla="*/ 24 w 41"/>
              <a:gd name="T25" fmla="*/ 0 h 41"/>
              <a:gd name="T26" fmla="*/ 41 w 41"/>
              <a:gd name="T27" fmla="*/ 21 h 41"/>
              <a:gd name="T28" fmla="*/ 36 w 41"/>
              <a:gd name="T29" fmla="*/ 3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 h="41">
                <a:moveTo>
                  <a:pt x="17" y="13"/>
                </a:moveTo>
                <a:cubicBezTo>
                  <a:pt x="17" y="22"/>
                  <a:pt x="12" y="30"/>
                  <a:pt x="4" y="34"/>
                </a:cubicBezTo>
                <a:cubicBezTo>
                  <a:pt x="1" y="30"/>
                  <a:pt x="0" y="26"/>
                  <a:pt x="0" y="21"/>
                </a:cubicBezTo>
                <a:cubicBezTo>
                  <a:pt x="0" y="10"/>
                  <a:pt x="7" y="2"/>
                  <a:pt x="17" y="0"/>
                </a:cubicBezTo>
                <a:lnTo>
                  <a:pt x="17" y="13"/>
                </a:lnTo>
                <a:close/>
                <a:moveTo>
                  <a:pt x="20" y="41"/>
                </a:moveTo>
                <a:cubicBezTo>
                  <a:pt x="17" y="41"/>
                  <a:pt x="13" y="40"/>
                  <a:pt x="10" y="39"/>
                </a:cubicBezTo>
                <a:cubicBezTo>
                  <a:pt x="15" y="36"/>
                  <a:pt x="19" y="31"/>
                  <a:pt x="20" y="26"/>
                </a:cubicBezTo>
                <a:cubicBezTo>
                  <a:pt x="21" y="31"/>
                  <a:pt x="25" y="36"/>
                  <a:pt x="30" y="39"/>
                </a:cubicBezTo>
                <a:cubicBezTo>
                  <a:pt x="27" y="40"/>
                  <a:pt x="24" y="41"/>
                  <a:pt x="20" y="41"/>
                </a:cubicBezTo>
                <a:close/>
                <a:moveTo>
                  <a:pt x="36" y="34"/>
                </a:moveTo>
                <a:cubicBezTo>
                  <a:pt x="29" y="30"/>
                  <a:pt x="24" y="22"/>
                  <a:pt x="24" y="13"/>
                </a:cubicBezTo>
                <a:cubicBezTo>
                  <a:pt x="24" y="0"/>
                  <a:pt x="24" y="0"/>
                  <a:pt x="24" y="0"/>
                </a:cubicBezTo>
                <a:cubicBezTo>
                  <a:pt x="33" y="2"/>
                  <a:pt x="41" y="10"/>
                  <a:pt x="41" y="21"/>
                </a:cubicBezTo>
                <a:cubicBezTo>
                  <a:pt x="41" y="26"/>
                  <a:pt x="39" y="30"/>
                  <a:pt x="36" y="34"/>
                </a:cubicBez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4" name="Freeform 348"/>
          <p:cNvSpPr>
            <a:spLocks noEditPoints="1"/>
          </p:cNvSpPr>
          <p:nvPr userDrawn="1"/>
        </p:nvSpPr>
        <p:spPr bwMode="auto">
          <a:xfrm>
            <a:off x="5226260" y="4549301"/>
            <a:ext cx="227789" cy="190215"/>
          </a:xfrm>
          <a:custGeom>
            <a:avLst/>
            <a:gdLst>
              <a:gd name="T0" fmla="*/ 41 w 41"/>
              <a:gd name="T1" fmla="*/ 5 h 34"/>
              <a:gd name="T2" fmla="*/ 39 w 41"/>
              <a:gd name="T3" fmla="*/ 7 h 34"/>
              <a:gd name="T4" fmla="*/ 1 w 41"/>
              <a:gd name="T5" fmla="*/ 7 h 34"/>
              <a:gd name="T6" fmla="*/ 0 w 41"/>
              <a:gd name="T7" fmla="*/ 5 h 34"/>
              <a:gd name="T8" fmla="*/ 0 w 41"/>
              <a:gd name="T9" fmla="*/ 2 h 34"/>
              <a:gd name="T10" fmla="*/ 1 w 41"/>
              <a:gd name="T11" fmla="*/ 0 h 34"/>
              <a:gd name="T12" fmla="*/ 39 w 41"/>
              <a:gd name="T13" fmla="*/ 0 h 34"/>
              <a:gd name="T14" fmla="*/ 41 w 41"/>
              <a:gd name="T15" fmla="*/ 2 h 34"/>
              <a:gd name="T16" fmla="*/ 41 w 41"/>
              <a:gd name="T17" fmla="*/ 5 h 34"/>
              <a:gd name="T18" fmla="*/ 41 w 41"/>
              <a:gd name="T19" fmla="*/ 19 h 34"/>
              <a:gd name="T20" fmla="*/ 39 w 41"/>
              <a:gd name="T21" fmla="*/ 20 h 34"/>
              <a:gd name="T22" fmla="*/ 1 w 41"/>
              <a:gd name="T23" fmla="*/ 20 h 34"/>
              <a:gd name="T24" fmla="*/ 0 w 41"/>
              <a:gd name="T25" fmla="*/ 19 h 34"/>
              <a:gd name="T26" fmla="*/ 0 w 41"/>
              <a:gd name="T27" fmla="*/ 15 h 34"/>
              <a:gd name="T28" fmla="*/ 1 w 41"/>
              <a:gd name="T29" fmla="*/ 14 h 34"/>
              <a:gd name="T30" fmla="*/ 39 w 41"/>
              <a:gd name="T31" fmla="*/ 14 h 34"/>
              <a:gd name="T32" fmla="*/ 41 w 41"/>
              <a:gd name="T33" fmla="*/ 15 h 34"/>
              <a:gd name="T34" fmla="*/ 41 w 41"/>
              <a:gd name="T35" fmla="*/ 19 h 34"/>
              <a:gd name="T36" fmla="*/ 41 w 41"/>
              <a:gd name="T37" fmla="*/ 32 h 34"/>
              <a:gd name="T38" fmla="*/ 39 w 41"/>
              <a:gd name="T39" fmla="*/ 34 h 34"/>
              <a:gd name="T40" fmla="*/ 1 w 41"/>
              <a:gd name="T41" fmla="*/ 34 h 34"/>
              <a:gd name="T42" fmla="*/ 0 w 41"/>
              <a:gd name="T43" fmla="*/ 32 h 34"/>
              <a:gd name="T44" fmla="*/ 0 w 41"/>
              <a:gd name="T45" fmla="*/ 29 h 34"/>
              <a:gd name="T46" fmla="*/ 1 w 41"/>
              <a:gd name="T47" fmla="*/ 27 h 34"/>
              <a:gd name="T48" fmla="*/ 39 w 41"/>
              <a:gd name="T49" fmla="*/ 27 h 34"/>
              <a:gd name="T50" fmla="*/ 41 w 41"/>
              <a:gd name="T51" fmla="*/ 29 h 34"/>
              <a:gd name="T52" fmla="*/ 41 w 41"/>
              <a:gd name="T53"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1" h="34">
                <a:moveTo>
                  <a:pt x="41" y="5"/>
                </a:moveTo>
                <a:cubicBezTo>
                  <a:pt x="41" y="6"/>
                  <a:pt x="40" y="7"/>
                  <a:pt x="39" y="7"/>
                </a:cubicBezTo>
                <a:cubicBezTo>
                  <a:pt x="1" y="7"/>
                  <a:pt x="1" y="7"/>
                  <a:pt x="1" y="7"/>
                </a:cubicBezTo>
                <a:cubicBezTo>
                  <a:pt x="0" y="7"/>
                  <a:pt x="0" y="6"/>
                  <a:pt x="0" y="5"/>
                </a:cubicBezTo>
                <a:cubicBezTo>
                  <a:pt x="0" y="2"/>
                  <a:pt x="0" y="2"/>
                  <a:pt x="0" y="2"/>
                </a:cubicBezTo>
                <a:cubicBezTo>
                  <a:pt x="0" y="1"/>
                  <a:pt x="0" y="0"/>
                  <a:pt x="1" y="0"/>
                </a:cubicBezTo>
                <a:cubicBezTo>
                  <a:pt x="39" y="0"/>
                  <a:pt x="39" y="0"/>
                  <a:pt x="39" y="0"/>
                </a:cubicBezTo>
                <a:cubicBezTo>
                  <a:pt x="40" y="0"/>
                  <a:pt x="41" y="1"/>
                  <a:pt x="41" y="2"/>
                </a:cubicBezTo>
                <a:lnTo>
                  <a:pt x="41" y="5"/>
                </a:lnTo>
                <a:close/>
                <a:moveTo>
                  <a:pt x="41" y="19"/>
                </a:moveTo>
                <a:cubicBezTo>
                  <a:pt x="41" y="20"/>
                  <a:pt x="40" y="20"/>
                  <a:pt x="39" y="20"/>
                </a:cubicBezTo>
                <a:cubicBezTo>
                  <a:pt x="1" y="20"/>
                  <a:pt x="1" y="20"/>
                  <a:pt x="1" y="20"/>
                </a:cubicBezTo>
                <a:cubicBezTo>
                  <a:pt x="0" y="20"/>
                  <a:pt x="0" y="20"/>
                  <a:pt x="0" y="19"/>
                </a:cubicBezTo>
                <a:cubicBezTo>
                  <a:pt x="0" y="15"/>
                  <a:pt x="0" y="15"/>
                  <a:pt x="0" y="15"/>
                </a:cubicBezTo>
                <a:cubicBezTo>
                  <a:pt x="0" y="14"/>
                  <a:pt x="0" y="14"/>
                  <a:pt x="1" y="14"/>
                </a:cubicBezTo>
                <a:cubicBezTo>
                  <a:pt x="39" y="14"/>
                  <a:pt x="39" y="14"/>
                  <a:pt x="39" y="14"/>
                </a:cubicBezTo>
                <a:cubicBezTo>
                  <a:pt x="40" y="14"/>
                  <a:pt x="41" y="14"/>
                  <a:pt x="41" y="15"/>
                </a:cubicBezTo>
                <a:lnTo>
                  <a:pt x="41" y="19"/>
                </a:lnTo>
                <a:close/>
                <a:moveTo>
                  <a:pt x="41" y="32"/>
                </a:moveTo>
                <a:cubicBezTo>
                  <a:pt x="41" y="33"/>
                  <a:pt x="40" y="34"/>
                  <a:pt x="39" y="34"/>
                </a:cubicBezTo>
                <a:cubicBezTo>
                  <a:pt x="1" y="34"/>
                  <a:pt x="1" y="34"/>
                  <a:pt x="1" y="34"/>
                </a:cubicBezTo>
                <a:cubicBezTo>
                  <a:pt x="0" y="34"/>
                  <a:pt x="0" y="33"/>
                  <a:pt x="0" y="32"/>
                </a:cubicBezTo>
                <a:cubicBezTo>
                  <a:pt x="0" y="29"/>
                  <a:pt x="0" y="29"/>
                  <a:pt x="0" y="29"/>
                </a:cubicBezTo>
                <a:cubicBezTo>
                  <a:pt x="0" y="28"/>
                  <a:pt x="0" y="27"/>
                  <a:pt x="1" y="27"/>
                </a:cubicBezTo>
                <a:cubicBezTo>
                  <a:pt x="39" y="27"/>
                  <a:pt x="39" y="27"/>
                  <a:pt x="39" y="27"/>
                </a:cubicBezTo>
                <a:cubicBezTo>
                  <a:pt x="40" y="27"/>
                  <a:pt x="41" y="28"/>
                  <a:pt x="41" y="29"/>
                </a:cubicBezTo>
                <a:lnTo>
                  <a:pt x="41" y="32"/>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8" name="Freeform 352"/>
          <p:cNvSpPr>
            <a:spLocks noEditPoints="1"/>
          </p:cNvSpPr>
          <p:nvPr userDrawn="1"/>
        </p:nvSpPr>
        <p:spPr bwMode="auto">
          <a:xfrm>
            <a:off x="6103003" y="4218380"/>
            <a:ext cx="281799" cy="173776"/>
          </a:xfrm>
          <a:custGeom>
            <a:avLst/>
            <a:gdLst>
              <a:gd name="T0" fmla="*/ 33 w 51"/>
              <a:gd name="T1" fmla="*/ 31 h 31"/>
              <a:gd name="T2" fmla="*/ 8 w 51"/>
              <a:gd name="T3" fmla="*/ 31 h 31"/>
              <a:gd name="T4" fmla="*/ 7 w 51"/>
              <a:gd name="T5" fmla="*/ 29 h 31"/>
              <a:gd name="T6" fmla="*/ 7 w 51"/>
              <a:gd name="T7" fmla="*/ 25 h 31"/>
              <a:gd name="T8" fmla="*/ 7 w 51"/>
              <a:gd name="T9" fmla="*/ 14 h 31"/>
              <a:gd name="T10" fmla="*/ 2 w 51"/>
              <a:gd name="T11" fmla="*/ 14 h 31"/>
              <a:gd name="T12" fmla="*/ 0 w 51"/>
              <a:gd name="T13" fmla="*/ 12 h 31"/>
              <a:gd name="T14" fmla="*/ 0 w 51"/>
              <a:gd name="T15" fmla="*/ 11 h 31"/>
              <a:gd name="T16" fmla="*/ 9 w 51"/>
              <a:gd name="T17" fmla="*/ 1 h 31"/>
              <a:gd name="T18" fmla="*/ 10 w 51"/>
              <a:gd name="T19" fmla="*/ 0 h 31"/>
              <a:gd name="T20" fmla="*/ 12 w 51"/>
              <a:gd name="T21" fmla="*/ 1 h 31"/>
              <a:gd name="T22" fmla="*/ 20 w 51"/>
              <a:gd name="T23" fmla="*/ 11 h 31"/>
              <a:gd name="T24" fmla="*/ 21 w 51"/>
              <a:gd name="T25" fmla="*/ 12 h 31"/>
              <a:gd name="T26" fmla="*/ 19 w 51"/>
              <a:gd name="T27" fmla="*/ 14 h 31"/>
              <a:gd name="T28" fmla="*/ 14 w 51"/>
              <a:gd name="T29" fmla="*/ 14 h 31"/>
              <a:gd name="T30" fmla="*/ 14 w 51"/>
              <a:gd name="T31" fmla="*/ 24 h 31"/>
              <a:gd name="T32" fmla="*/ 29 w 51"/>
              <a:gd name="T33" fmla="*/ 24 h 31"/>
              <a:gd name="T34" fmla="*/ 30 w 51"/>
              <a:gd name="T35" fmla="*/ 25 h 31"/>
              <a:gd name="T36" fmla="*/ 34 w 51"/>
              <a:gd name="T37" fmla="*/ 30 h 31"/>
              <a:gd name="T38" fmla="*/ 34 w 51"/>
              <a:gd name="T39" fmla="*/ 30 h 31"/>
              <a:gd name="T40" fmla="*/ 33 w 51"/>
              <a:gd name="T41" fmla="*/ 31 h 31"/>
              <a:gd name="T42" fmla="*/ 51 w 51"/>
              <a:gd name="T43" fmla="*/ 20 h 31"/>
              <a:gd name="T44" fmla="*/ 42 w 51"/>
              <a:gd name="T45" fmla="*/ 31 h 31"/>
              <a:gd name="T46" fmla="*/ 41 w 51"/>
              <a:gd name="T47" fmla="*/ 31 h 31"/>
              <a:gd name="T48" fmla="*/ 40 w 51"/>
              <a:gd name="T49" fmla="*/ 31 h 31"/>
              <a:gd name="T50" fmla="*/ 31 w 51"/>
              <a:gd name="T51" fmla="*/ 20 h 31"/>
              <a:gd name="T52" fmla="*/ 31 w 51"/>
              <a:gd name="T53" fmla="*/ 19 h 31"/>
              <a:gd name="T54" fmla="*/ 33 w 51"/>
              <a:gd name="T55" fmla="*/ 17 h 31"/>
              <a:gd name="T56" fmla="*/ 38 w 51"/>
              <a:gd name="T57" fmla="*/ 17 h 31"/>
              <a:gd name="T58" fmla="*/ 38 w 51"/>
              <a:gd name="T59" fmla="*/ 7 h 31"/>
              <a:gd name="T60" fmla="*/ 22 w 51"/>
              <a:gd name="T61" fmla="*/ 7 h 31"/>
              <a:gd name="T62" fmla="*/ 22 w 51"/>
              <a:gd name="T63" fmla="*/ 7 h 31"/>
              <a:gd name="T64" fmla="*/ 17 w 51"/>
              <a:gd name="T65" fmla="*/ 2 h 31"/>
              <a:gd name="T66" fmla="*/ 17 w 51"/>
              <a:gd name="T67" fmla="*/ 1 h 31"/>
              <a:gd name="T68" fmla="*/ 18 w 51"/>
              <a:gd name="T69" fmla="*/ 0 h 31"/>
              <a:gd name="T70" fmla="*/ 44 w 51"/>
              <a:gd name="T71" fmla="*/ 0 h 31"/>
              <a:gd name="T72" fmla="*/ 45 w 51"/>
              <a:gd name="T73" fmla="*/ 2 h 31"/>
              <a:gd name="T74" fmla="*/ 45 w 51"/>
              <a:gd name="T75" fmla="*/ 6 h 31"/>
              <a:gd name="T76" fmla="*/ 45 w 51"/>
              <a:gd name="T77" fmla="*/ 17 h 31"/>
              <a:gd name="T78" fmla="*/ 50 w 51"/>
              <a:gd name="T79" fmla="*/ 17 h 31"/>
              <a:gd name="T80" fmla="*/ 51 w 51"/>
              <a:gd name="T81" fmla="*/ 19 h 31"/>
              <a:gd name="T82" fmla="*/ 51 w 51"/>
              <a:gd name="T8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 h="31">
                <a:moveTo>
                  <a:pt x="33" y="31"/>
                </a:moveTo>
                <a:cubicBezTo>
                  <a:pt x="8" y="31"/>
                  <a:pt x="8" y="31"/>
                  <a:pt x="8" y="31"/>
                </a:cubicBezTo>
                <a:cubicBezTo>
                  <a:pt x="7" y="31"/>
                  <a:pt x="7" y="30"/>
                  <a:pt x="7" y="29"/>
                </a:cubicBezTo>
                <a:cubicBezTo>
                  <a:pt x="7" y="25"/>
                  <a:pt x="7" y="25"/>
                  <a:pt x="7" y="25"/>
                </a:cubicBezTo>
                <a:cubicBezTo>
                  <a:pt x="7" y="14"/>
                  <a:pt x="7" y="14"/>
                  <a:pt x="7" y="14"/>
                </a:cubicBezTo>
                <a:cubicBezTo>
                  <a:pt x="2" y="14"/>
                  <a:pt x="2" y="14"/>
                  <a:pt x="2" y="14"/>
                </a:cubicBezTo>
                <a:cubicBezTo>
                  <a:pt x="1" y="14"/>
                  <a:pt x="0" y="13"/>
                  <a:pt x="0" y="12"/>
                </a:cubicBezTo>
                <a:cubicBezTo>
                  <a:pt x="0" y="12"/>
                  <a:pt x="0" y="12"/>
                  <a:pt x="0" y="11"/>
                </a:cubicBezTo>
                <a:cubicBezTo>
                  <a:pt x="9" y="1"/>
                  <a:pt x="9" y="1"/>
                  <a:pt x="9" y="1"/>
                </a:cubicBezTo>
                <a:cubicBezTo>
                  <a:pt x="9" y="1"/>
                  <a:pt x="10" y="0"/>
                  <a:pt x="10" y="0"/>
                </a:cubicBezTo>
                <a:cubicBezTo>
                  <a:pt x="11" y="0"/>
                  <a:pt x="11" y="1"/>
                  <a:pt x="12" y="1"/>
                </a:cubicBezTo>
                <a:cubicBezTo>
                  <a:pt x="20" y="11"/>
                  <a:pt x="20" y="11"/>
                  <a:pt x="20" y="11"/>
                </a:cubicBezTo>
                <a:cubicBezTo>
                  <a:pt x="20" y="12"/>
                  <a:pt x="21" y="12"/>
                  <a:pt x="21" y="12"/>
                </a:cubicBezTo>
                <a:cubicBezTo>
                  <a:pt x="21" y="13"/>
                  <a:pt x="20" y="14"/>
                  <a:pt x="19" y="14"/>
                </a:cubicBezTo>
                <a:cubicBezTo>
                  <a:pt x="14" y="14"/>
                  <a:pt x="14" y="14"/>
                  <a:pt x="14" y="14"/>
                </a:cubicBezTo>
                <a:cubicBezTo>
                  <a:pt x="14" y="24"/>
                  <a:pt x="14" y="24"/>
                  <a:pt x="14" y="24"/>
                </a:cubicBezTo>
                <a:cubicBezTo>
                  <a:pt x="29" y="24"/>
                  <a:pt x="29" y="24"/>
                  <a:pt x="29" y="24"/>
                </a:cubicBezTo>
                <a:cubicBezTo>
                  <a:pt x="29" y="24"/>
                  <a:pt x="30" y="24"/>
                  <a:pt x="30" y="25"/>
                </a:cubicBezTo>
                <a:cubicBezTo>
                  <a:pt x="34" y="30"/>
                  <a:pt x="34" y="30"/>
                  <a:pt x="34" y="30"/>
                </a:cubicBezTo>
                <a:cubicBezTo>
                  <a:pt x="34" y="30"/>
                  <a:pt x="34" y="30"/>
                  <a:pt x="34" y="30"/>
                </a:cubicBezTo>
                <a:cubicBezTo>
                  <a:pt x="34" y="31"/>
                  <a:pt x="34" y="31"/>
                  <a:pt x="33" y="31"/>
                </a:cubicBezTo>
                <a:close/>
                <a:moveTo>
                  <a:pt x="51" y="20"/>
                </a:moveTo>
                <a:cubicBezTo>
                  <a:pt x="42" y="31"/>
                  <a:pt x="42" y="31"/>
                  <a:pt x="42" y="31"/>
                </a:cubicBezTo>
                <a:cubicBezTo>
                  <a:pt x="42" y="31"/>
                  <a:pt x="42" y="31"/>
                  <a:pt x="41" y="31"/>
                </a:cubicBezTo>
                <a:cubicBezTo>
                  <a:pt x="41" y="31"/>
                  <a:pt x="40" y="31"/>
                  <a:pt x="40" y="31"/>
                </a:cubicBezTo>
                <a:cubicBezTo>
                  <a:pt x="31" y="20"/>
                  <a:pt x="31" y="20"/>
                  <a:pt x="31" y="20"/>
                </a:cubicBezTo>
                <a:cubicBezTo>
                  <a:pt x="31" y="20"/>
                  <a:pt x="31" y="20"/>
                  <a:pt x="31" y="19"/>
                </a:cubicBezTo>
                <a:cubicBezTo>
                  <a:pt x="31" y="18"/>
                  <a:pt x="32" y="17"/>
                  <a:pt x="33" y="17"/>
                </a:cubicBezTo>
                <a:cubicBezTo>
                  <a:pt x="38" y="17"/>
                  <a:pt x="38" y="17"/>
                  <a:pt x="38" y="17"/>
                </a:cubicBezTo>
                <a:cubicBezTo>
                  <a:pt x="38" y="7"/>
                  <a:pt x="38" y="7"/>
                  <a:pt x="38" y="7"/>
                </a:cubicBezTo>
                <a:cubicBezTo>
                  <a:pt x="22" y="7"/>
                  <a:pt x="22" y="7"/>
                  <a:pt x="22" y="7"/>
                </a:cubicBezTo>
                <a:cubicBezTo>
                  <a:pt x="22" y="7"/>
                  <a:pt x="22" y="7"/>
                  <a:pt x="22" y="7"/>
                </a:cubicBezTo>
                <a:cubicBezTo>
                  <a:pt x="17" y="2"/>
                  <a:pt x="17" y="2"/>
                  <a:pt x="17" y="2"/>
                </a:cubicBezTo>
                <a:cubicBezTo>
                  <a:pt x="17" y="2"/>
                  <a:pt x="17" y="1"/>
                  <a:pt x="17" y="1"/>
                </a:cubicBezTo>
                <a:cubicBezTo>
                  <a:pt x="17" y="1"/>
                  <a:pt x="18" y="0"/>
                  <a:pt x="18" y="0"/>
                </a:cubicBezTo>
                <a:cubicBezTo>
                  <a:pt x="44" y="0"/>
                  <a:pt x="44" y="0"/>
                  <a:pt x="44" y="0"/>
                </a:cubicBezTo>
                <a:cubicBezTo>
                  <a:pt x="45" y="0"/>
                  <a:pt x="45" y="1"/>
                  <a:pt x="45" y="2"/>
                </a:cubicBezTo>
                <a:cubicBezTo>
                  <a:pt x="45" y="6"/>
                  <a:pt x="45" y="6"/>
                  <a:pt x="45" y="6"/>
                </a:cubicBezTo>
                <a:cubicBezTo>
                  <a:pt x="45" y="17"/>
                  <a:pt x="45" y="17"/>
                  <a:pt x="45" y="17"/>
                </a:cubicBezTo>
                <a:cubicBezTo>
                  <a:pt x="50" y="17"/>
                  <a:pt x="50" y="17"/>
                  <a:pt x="50" y="17"/>
                </a:cubicBezTo>
                <a:cubicBezTo>
                  <a:pt x="51" y="17"/>
                  <a:pt x="51" y="18"/>
                  <a:pt x="51" y="19"/>
                </a:cubicBezTo>
                <a:cubicBezTo>
                  <a:pt x="51" y="20"/>
                  <a:pt x="51" y="20"/>
                  <a:pt x="51" y="20"/>
                </a:cubicBez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9" name="Freeform 353"/>
          <p:cNvSpPr>
            <a:spLocks/>
          </p:cNvSpPr>
          <p:nvPr userDrawn="1"/>
        </p:nvSpPr>
        <p:spPr bwMode="auto">
          <a:xfrm>
            <a:off x="8466931" y="3465672"/>
            <a:ext cx="154989" cy="211350"/>
          </a:xfrm>
          <a:custGeom>
            <a:avLst/>
            <a:gdLst>
              <a:gd name="T0" fmla="*/ 12 w 28"/>
              <a:gd name="T1" fmla="*/ 38 h 38"/>
              <a:gd name="T2" fmla="*/ 11 w 28"/>
              <a:gd name="T3" fmla="*/ 37 h 38"/>
              <a:gd name="T4" fmla="*/ 11 w 28"/>
              <a:gd name="T5" fmla="*/ 28 h 38"/>
              <a:gd name="T6" fmla="*/ 3 w 28"/>
              <a:gd name="T7" fmla="*/ 28 h 38"/>
              <a:gd name="T8" fmla="*/ 2 w 28"/>
              <a:gd name="T9" fmla="*/ 27 h 38"/>
              <a:gd name="T10" fmla="*/ 2 w 28"/>
              <a:gd name="T11" fmla="*/ 24 h 38"/>
              <a:gd name="T12" fmla="*/ 3 w 28"/>
              <a:gd name="T13" fmla="*/ 24 h 38"/>
              <a:gd name="T14" fmla="*/ 11 w 28"/>
              <a:gd name="T15" fmla="*/ 24 h 38"/>
              <a:gd name="T16" fmla="*/ 11 w 28"/>
              <a:gd name="T17" fmla="*/ 21 h 38"/>
              <a:gd name="T18" fmla="*/ 3 w 28"/>
              <a:gd name="T19" fmla="*/ 21 h 38"/>
              <a:gd name="T20" fmla="*/ 2 w 28"/>
              <a:gd name="T21" fmla="*/ 20 h 38"/>
              <a:gd name="T22" fmla="*/ 2 w 28"/>
              <a:gd name="T23" fmla="*/ 18 h 38"/>
              <a:gd name="T24" fmla="*/ 3 w 28"/>
              <a:gd name="T25" fmla="*/ 17 h 38"/>
              <a:gd name="T26" fmla="*/ 9 w 28"/>
              <a:gd name="T27" fmla="*/ 17 h 38"/>
              <a:gd name="T28" fmla="*/ 0 w 28"/>
              <a:gd name="T29" fmla="*/ 1 h 38"/>
              <a:gd name="T30" fmla="*/ 0 w 28"/>
              <a:gd name="T31" fmla="*/ 1 h 38"/>
              <a:gd name="T32" fmla="*/ 1 w 28"/>
              <a:gd name="T33" fmla="*/ 0 h 38"/>
              <a:gd name="T34" fmla="*/ 6 w 28"/>
              <a:gd name="T35" fmla="*/ 0 h 38"/>
              <a:gd name="T36" fmla="*/ 7 w 28"/>
              <a:gd name="T37" fmla="*/ 1 h 38"/>
              <a:gd name="T38" fmla="*/ 13 w 28"/>
              <a:gd name="T39" fmla="*/ 12 h 38"/>
              <a:gd name="T40" fmla="*/ 14 w 28"/>
              <a:gd name="T41" fmla="*/ 15 h 38"/>
              <a:gd name="T42" fmla="*/ 16 w 28"/>
              <a:gd name="T43" fmla="*/ 12 h 38"/>
              <a:gd name="T44" fmla="*/ 21 w 28"/>
              <a:gd name="T45" fmla="*/ 1 h 38"/>
              <a:gd name="T46" fmla="*/ 22 w 28"/>
              <a:gd name="T47" fmla="*/ 0 h 38"/>
              <a:gd name="T48" fmla="*/ 27 w 28"/>
              <a:gd name="T49" fmla="*/ 0 h 38"/>
              <a:gd name="T50" fmla="*/ 27 w 28"/>
              <a:gd name="T51" fmla="*/ 1 h 38"/>
              <a:gd name="T52" fmla="*/ 27 w 28"/>
              <a:gd name="T53" fmla="*/ 1 h 38"/>
              <a:gd name="T54" fmla="*/ 19 w 28"/>
              <a:gd name="T55" fmla="*/ 17 h 38"/>
              <a:gd name="T56" fmla="*/ 25 w 28"/>
              <a:gd name="T57" fmla="*/ 17 h 38"/>
              <a:gd name="T58" fmla="*/ 26 w 28"/>
              <a:gd name="T59" fmla="*/ 18 h 38"/>
              <a:gd name="T60" fmla="*/ 26 w 28"/>
              <a:gd name="T61" fmla="*/ 20 h 38"/>
              <a:gd name="T62" fmla="*/ 25 w 28"/>
              <a:gd name="T63" fmla="*/ 21 h 38"/>
              <a:gd name="T64" fmla="*/ 17 w 28"/>
              <a:gd name="T65" fmla="*/ 21 h 38"/>
              <a:gd name="T66" fmla="*/ 17 w 28"/>
              <a:gd name="T67" fmla="*/ 24 h 38"/>
              <a:gd name="T68" fmla="*/ 25 w 28"/>
              <a:gd name="T69" fmla="*/ 24 h 38"/>
              <a:gd name="T70" fmla="*/ 26 w 28"/>
              <a:gd name="T71" fmla="*/ 24 h 38"/>
              <a:gd name="T72" fmla="*/ 26 w 28"/>
              <a:gd name="T73" fmla="*/ 27 h 38"/>
              <a:gd name="T74" fmla="*/ 25 w 28"/>
              <a:gd name="T75" fmla="*/ 28 h 38"/>
              <a:gd name="T76" fmla="*/ 17 w 28"/>
              <a:gd name="T77" fmla="*/ 28 h 38"/>
              <a:gd name="T78" fmla="*/ 17 w 28"/>
              <a:gd name="T79" fmla="*/ 37 h 38"/>
              <a:gd name="T80" fmla="*/ 16 w 28"/>
              <a:gd name="T81" fmla="*/ 38 h 38"/>
              <a:gd name="T82" fmla="*/ 12 w 28"/>
              <a:gd name="T8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 h="38">
                <a:moveTo>
                  <a:pt x="12" y="38"/>
                </a:moveTo>
                <a:cubicBezTo>
                  <a:pt x="11" y="38"/>
                  <a:pt x="11" y="37"/>
                  <a:pt x="11" y="37"/>
                </a:cubicBezTo>
                <a:cubicBezTo>
                  <a:pt x="11" y="28"/>
                  <a:pt x="11" y="28"/>
                  <a:pt x="11" y="28"/>
                </a:cubicBezTo>
                <a:cubicBezTo>
                  <a:pt x="3" y="28"/>
                  <a:pt x="3" y="28"/>
                  <a:pt x="3" y="28"/>
                </a:cubicBezTo>
                <a:cubicBezTo>
                  <a:pt x="2" y="28"/>
                  <a:pt x="2" y="28"/>
                  <a:pt x="2" y="27"/>
                </a:cubicBezTo>
                <a:cubicBezTo>
                  <a:pt x="2" y="24"/>
                  <a:pt x="2" y="24"/>
                  <a:pt x="2" y="24"/>
                </a:cubicBezTo>
                <a:cubicBezTo>
                  <a:pt x="2" y="24"/>
                  <a:pt x="2" y="24"/>
                  <a:pt x="3" y="24"/>
                </a:cubicBezTo>
                <a:cubicBezTo>
                  <a:pt x="11" y="24"/>
                  <a:pt x="11" y="24"/>
                  <a:pt x="11" y="24"/>
                </a:cubicBezTo>
                <a:cubicBezTo>
                  <a:pt x="11" y="21"/>
                  <a:pt x="11" y="21"/>
                  <a:pt x="11" y="21"/>
                </a:cubicBezTo>
                <a:cubicBezTo>
                  <a:pt x="3" y="21"/>
                  <a:pt x="3" y="21"/>
                  <a:pt x="3" y="21"/>
                </a:cubicBezTo>
                <a:cubicBezTo>
                  <a:pt x="2" y="21"/>
                  <a:pt x="2" y="21"/>
                  <a:pt x="2" y="20"/>
                </a:cubicBezTo>
                <a:cubicBezTo>
                  <a:pt x="2" y="18"/>
                  <a:pt x="2" y="18"/>
                  <a:pt x="2" y="18"/>
                </a:cubicBezTo>
                <a:cubicBezTo>
                  <a:pt x="2" y="17"/>
                  <a:pt x="2" y="17"/>
                  <a:pt x="3" y="17"/>
                </a:cubicBezTo>
                <a:cubicBezTo>
                  <a:pt x="9" y="17"/>
                  <a:pt x="9" y="17"/>
                  <a:pt x="9" y="17"/>
                </a:cubicBezTo>
                <a:cubicBezTo>
                  <a:pt x="0" y="1"/>
                  <a:pt x="0" y="1"/>
                  <a:pt x="0" y="1"/>
                </a:cubicBezTo>
                <a:cubicBezTo>
                  <a:pt x="0" y="1"/>
                  <a:pt x="0" y="1"/>
                  <a:pt x="0" y="1"/>
                </a:cubicBezTo>
                <a:cubicBezTo>
                  <a:pt x="0" y="0"/>
                  <a:pt x="1" y="0"/>
                  <a:pt x="1" y="0"/>
                </a:cubicBezTo>
                <a:cubicBezTo>
                  <a:pt x="6" y="0"/>
                  <a:pt x="6" y="0"/>
                  <a:pt x="6" y="0"/>
                </a:cubicBezTo>
                <a:cubicBezTo>
                  <a:pt x="6" y="0"/>
                  <a:pt x="7" y="0"/>
                  <a:pt x="7" y="1"/>
                </a:cubicBezTo>
                <a:cubicBezTo>
                  <a:pt x="13" y="12"/>
                  <a:pt x="13" y="12"/>
                  <a:pt x="13" y="12"/>
                </a:cubicBezTo>
                <a:cubicBezTo>
                  <a:pt x="13" y="13"/>
                  <a:pt x="14" y="14"/>
                  <a:pt x="14" y="15"/>
                </a:cubicBezTo>
                <a:cubicBezTo>
                  <a:pt x="15" y="14"/>
                  <a:pt x="15" y="13"/>
                  <a:pt x="16" y="12"/>
                </a:cubicBezTo>
                <a:cubicBezTo>
                  <a:pt x="21" y="1"/>
                  <a:pt x="21" y="1"/>
                  <a:pt x="21" y="1"/>
                </a:cubicBezTo>
                <a:cubicBezTo>
                  <a:pt x="21" y="0"/>
                  <a:pt x="21" y="0"/>
                  <a:pt x="22" y="0"/>
                </a:cubicBezTo>
                <a:cubicBezTo>
                  <a:pt x="27" y="0"/>
                  <a:pt x="27" y="0"/>
                  <a:pt x="27" y="0"/>
                </a:cubicBezTo>
                <a:cubicBezTo>
                  <a:pt x="27" y="0"/>
                  <a:pt x="27" y="0"/>
                  <a:pt x="27" y="1"/>
                </a:cubicBezTo>
                <a:cubicBezTo>
                  <a:pt x="28" y="1"/>
                  <a:pt x="28" y="1"/>
                  <a:pt x="27" y="1"/>
                </a:cubicBezTo>
                <a:cubicBezTo>
                  <a:pt x="19" y="17"/>
                  <a:pt x="19" y="17"/>
                  <a:pt x="19" y="17"/>
                </a:cubicBezTo>
                <a:cubicBezTo>
                  <a:pt x="25" y="17"/>
                  <a:pt x="25" y="17"/>
                  <a:pt x="25" y="17"/>
                </a:cubicBezTo>
                <a:cubicBezTo>
                  <a:pt x="25" y="17"/>
                  <a:pt x="26" y="17"/>
                  <a:pt x="26" y="18"/>
                </a:cubicBezTo>
                <a:cubicBezTo>
                  <a:pt x="26" y="20"/>
                  <a:pt x="26" y="20"/>
                  <a:pt x="26" y="20"/>
                </a:cubicBezTo>
                <a:cubicBezTo>
                  <a:pt x="26" y="21"/>
                  <a:pt x="25" y="21"/>
                  <a:pt x="25" y="21"/>
                </a:cubicBezTo>
                <a:cubicBezTo>
                  <a:pt x="17" y="21"/>
                  <a:pt x="17" y="21"/>
                  <a:pt x="17" y="21"/>
                </a:cubicBezTo>
                <a:cubicBezTo>
                  <a:pt x="17" y="24"/>
                  <a:pt x="17" y="24"/>
                  <a:pt x="17" y="24"/>
                </a:cubicBezTo>
                <a:cubicBezTo>
                  <a:pt x="25" y="24"/>
                  <a:pt x="25" y="24"/>
                  <a:pt x="25" y="24"/>
                </a:cubicBezTo>
                <a:cubicBezTo>
                  <a:pt x="25" y="24"/>
                  <a:pt x="26" y="24"/>
                  <a:pt x="26" y="24"/>
                </a:cubicBezTo>
                <a:cubicBezTo>
                  <a:pt x="26" y="27"/>
                  <a:pt x="26" y="27"/>
                  <a:pt x="26" y="27"/>
                </a:cubicBezTo>
                <a:cubicBezTo>
                  <a:pt x="26" y="28"/>
                  <a:pt x="25" y="28"/>
                  <a:pt x="25" y="28"/>
                </a:cubicBezTo>
                <a:cubicBezTo>
                  <a:pt x="17" y="28"/>
                  <a:pt x="17" y="28"/>
                  <a:pt x="17" y="28"/>
                </a:cubicBezTo>
                <a:cubicBezTo>
                  <a:pt x="17" y="37"/>
                  <a:pt x="17" y="37"/>
                  <a:pt x="17" y="37"/>
                </a:cubicBezTo>
                <a:cubicBezTo>
                  <a:pt x="17" y="37"/>
                  <a:pt x="17" y="38"/>
                  <a:pt x="16" y="38"/>
                </a:cubicBezTo>
                <a:lnTo>
                  <a:pt x="12" y="38"/>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0" name="Freeform 354"/>
          <p:cNvSpPr>
            <a:spLocks noEditPoints="1"/>
          </p:cNvSpPr>
          <p:nvPr userDrawn="1"/>
        </p:nvSpPr>
        <p:spPr bwMode="auto">
          <a:xfrm>
            <a:off x="8360275" y="4489501"/>
            <a:ext cx="272406" cy="190215"/>
          </a:xfrm>
          <a:custGeom>
            <a:avLst/>
            <a:gdLst>
              <a:gd name="T0" fmla="*/ 48 w 49"/>
              <a:gd name="T1" fmla="*/ 34 h 34"/>
              <a:gd name="T2" fmla="*/ 29 w 49"/>
              <a:gd name="T3" fmla="*/ 34 h 34"/>
              <a:gd name="T4" fmla="*/ 30 w 49"/>
              <a:gd name="T5" fmla="*/ 34 h 34"/>
              <a:gd name="T6" fmla="*/ 29 w 49"/>
              <a:gd name="T7" fmla="*/ 27 h 34"/>
              <a:gd name="T8" fmla="*/ 28 w 49"/>
              <a:gd name="T9" fmla="*/ 26 h 34"/>
              <a:gd name="T10" fmla="*/ 21 w 49"/>
              <a:gd name="T11" fmla="*/ 26 h 34"/>
              <a:gd name="T12" fmla="*/ 20 w 49"/>
              <a:gd name="T13" fmla="*/ 27 h 34"/>
              <a:gd name="T14" fmla="*/ 20 w 49"/>
              <a:gd name="T15" fmla="*/ 34 h 34"/>
              <a:gd name="T16" fmla="*/ 20 w 49"/>
              <a:gd name="T17" fmla="*/ 34 h 34"/>
              <a:gd name="T18" fmla="*/ 2 w 49"/>
              <a:gd name="T19" fmla="*/ 34 h 34"/>
              <a:gd name="T20" fmla="*/ 0 w 49"/>
              <a:gd name="T21" fmla="*/ 32 h 34"/>
              <a:gd name="T22" fmla="*/ 1 w 49"/>
              <a:gd name="T23" fmla="*/ 29 h 34"/>
              <a:gd name="T24" fmla="*/ 12 w 49"/>
              <a:gd name="T25" fmla="*/ 1 h 34"/>
              <a:gd name="T26" fmla="*/ 14 w 49"/>
              <a:gd name="T27" fmla="*/ 0 h 34"/>
              <a:gd name="T28" fmla="*/ 23 w 49"/>
              <a:gd name="T29" fmla="*/ 0 h 34"/>
              <a:gd name="T30" fmla="*/ 22 w 49"/>
              <a:gd name="T31" fmla="*/ 1 h 34"/>
              <a:gd name="T32" fmla="*/ 22 w 49"/>
              <a:gd name="T33" fmla="*/ 6 h 34"/>
              <a:gd name="T34" fmla="*/ 23 w 49"/>
              <a:gd name="T35" fmla="*/ 7 h 34"/>
              <a:gd name="T36" fmla="*/ 27 w 49"/>
              <a:gd name="T37" fmla="*/ 7 h 34"/>
              <a:gd name="T38" fmla="*/ 28 w 49"/>
              <a:gd name="T39" fmla="*/ 6 h 34"/>
              <a:gd name="T40" fmla="*/ 27 w 49"/>
              <a:gd name="T41" fmla="*/ 1 h 34"/>
              <a:gd name="T42" fmla="*/ 26 w 49"/>
              <a:gd name="T43" fmla="*/ 0 h 34"/>
              <a:gd name="T44" fmla="*/ 36 w 49"/>
              <a:gd name="T45" fmla="*/ 0 h 34"/>
              <a:gd name="T46" fmla="*/ 37 w 49"/>
              <a:gd name="T47" fmla="*/ 1 h 34"/>
              <a:gd name="T48" fmla="*/ 48 w 49"/>
              <a:gd name="T49" fmla="*/ 29 h 34"/>
              <a:gd name="T50" fmla="*/ 49 w 49"/>
              <a:gd name="T51" fmla="*/ 32 h 34"/>
              <a:gd name="T52" fmla="*/ 48 w 49"/>
              <a:gd name="T53" fmla="*/ 34 h 34"/>
              <a:gd name="T54" fmla="*/ 29 w 49"/>
              <a:gd name="T55" fmla="*/ 20 h 34"/>
              <a:gd name="T56" fmla="*/ 28 w 49"/>
              <a:gd name="T57" fmla="*/ 11 h 34"/>
              <a:gd name="T58" fmla="*/ 27 w 49"/>
              <a:gd name="T59" fmla="*/ 10 h 34"/>
              <a:gd name="T60" fmla="*/ 22 w 49"/>
              <a:gd name="T61" fmla="*/ 10 h 34"/>
              <a:gd name="T62" fmla="*/ 21 w 49"/>
              <a:gd name="T63" fmla="*/ 11 h 34"/>
              <a:gd name="T64" fmla="*/ 21 w 49"/>
              <a:gd name="T65" fmla="*/ 20 h 34"/>
              <a:gd name="T66" fmla="*/ 21 w 49"/>
              <a:gd name="T67" fmla="*/ 20 h 34"/>
              <a:gd name="T68" fmla="*/ 21 w 49"/>
              <a:gd name="T69" fmla="*/ 21 h 34"/>
              <a:gd name="T70" fmla="*/ 28 w 49"/>
              <a:gd name="T71" fmla="*/ 21 h 34"/>
              <a:gd name="T72" fmla="*/ 29 w 49"/>
              <a:gd name="T73" fmla="*/ 2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 h="34">
                <a:moveTo>
                  <a:pt x="48" y="34"/>
                </a:moveTo>
                <a:cubicBezTo>
                  <a:pt x="29" y="34"/>
                  <a:pt x="29" y="34"/>
                  <a:pt x="29" y="34"/>
                </a:cubicBezTo>
                <a:cubicBezTo>
                  <a:pt x="29" y="34"/>
                  <a:pt x="30" y="34"/>
                  <a:pt x="30" y="34"/>
                </a:cubicBezTo>
                <a:cubicBezTo>
                  <a:pt x="29" y="27"/>
                  <a:pt x="29" y="27"/>
                  <a:pt x="29" y="27"/>
                </a:cubicBezTo>
                <a:cubicBezTo>
                  <a:pt x="29" y="26"/>
                  <a:pt x="29" y="26"/>
                  <a:pt x="28" y="26"/>
                </a:cubicBezTo>
                <a:cubicBezTo>
                  <a:pt x="21" y="26"/>
                  <a:pt x="21" y="26"/>
                  <a:pt x="21" y="26"/>
                </a:cubicBezTo>
                <a:cubicBezTo>
                  <a:pt x="21" y="26"/>
                  <a:pt x="20" y="26"/>
                  <a:pt x="20" y="27"/>
                </a:cubicBezTo>
                <a:cubicBezTo>
                  <a:pt x="20" y="34"/>
                  <a:pt x="20" y="34"/>
                  <a:pt x="20" y="34"/>
                </a:cubicBezTo>
                <a:cubicBezTo>
                  <a:pt x="20" y="34"/>
                  <a:pt x="20" y="34"/>
                  <a:pt x="20" y="34"/>
                </a:cubicBezTo>
                <a:cubicBezTo>
                  <a:pt x="2" y="34"/>
                  <a:pt x="2" y="34"/>
                  <a:pt x="2" y="34"/>
                </a:cubicBezTo>
                <a:cubicBezTo>
                  <a:pt x="1" y="34"/>
                  <a:pt x="0" y="33"/>
                  <a:pt x="0" y="32"/>
                </a:cubicBezTo>
                <a:cubicBezTo>
                  <a:pt x="0" y="31"/>
                  <a:pt x="1" y="30"/>
                  <a:pt x="1" y="29"/>
                </a:cubicBezTo>
                <a:cubicBezTo>
                  <a:pt x="12" y="1"/>
                  <a:pt x="12" y="1"/>
                  <a:pt x="12" y="1"/>
                </a:cubicBezTo>
                <a:cubicBezTo>
                  <a:pt x="13" y="1"/>
                  <a:pt x="13" y="0"/>
                  <a:pt x="14" y="0"/>
                </a:cubicBezTo>
                <a:cubicBezTo>
                  <a:pt x="23" y="0"/>
                  <a:pt x="23" y="0"/>
                  <a:pt x="23" y="0"/>
                </a:cubicBezTo>
                <a:cubicBezTo>
                  <a:pt x="23" y="0"/>
                  <a:pt x="22" y="0"/>
                  <a:pt x="22" y="1"/>
                </a:cubicBezTo>
                <a:cubicBezTo>
                  <a:pt x="22" y="6"/>
                  <a:pt x="22" y="6"/>
                  <a:pt x="22" y="6"/>
                </a:cubicBezTo>
                <a:cubicBezTo>
                  <a:pt x="22" y="7"/>
                  <a:pt x="22" y="7"/>
                  <a:pt x="23" y="7"/>
                </a:cubicBezTo>
                <a:cubicBezTo>
                  <a:pt x="27" y="7"/>
                  <a:pt x="27" y="7"/>
                  <a:pt x="27" y="7"/>
                </a:cubicBezTo>
                <a:cubicBezTo>
                  <a:pt x="27" y="7"/>
                  <a:pt x="28" y="7"/>
                  <a:pt x="28" y="6"/>
                </a:cubicBezTo>
                <a:cubicBezTo>
                  <a:pt x="27" y="1"/>
                  <a:pt x="27" y="1"/>
                  <a:pt x="27" y="1"/>
                </a:cubicBezTo>
                <a:cubicBezTo>
                  <a:pt x="27" y="0"/>
                  <a:pt x="27" y="0"/>
                  <a:pt x="26" y="0"/>
                </a:cubicBezTo>
                <a:cubicBezTo>
                  <a:pt x="36" y="0"/>
                  <a:pt x="36" y="0"/>
                  <a:pt x="36" y="0"/>
                </a:cubicBezTo>
                <a:cubicBezTo>
                  <a:pt x="36" y="0"/>
                  <a:pt x="37" y="1"/>
                  <a:pt x="37" y="1"/>
                </a:cubicBezTo>
                <a:cubicBezTo>
                  <a:pt x="48" y="29"/>
                  <a:pt x="48" y="29"/>
                  <a:pt x="48" y="29"/>
                </a:cubicBezTo>
                <a:cubicBezTo>
                  <a:pt x="49" y="30"/>
                  <a:pt x="49" y="31"/>
                  <a:pt x="49" y="32"/>
                </a:cubicBezTo>
                <a:cubicBezTo>
                  <a:pt x="49" y="33"/>
                  <a:pt x="49" y="34"/>
                  <a:pt x="48" y="34"/>
                </a:cubicBezTo>
                <a:close/>
                <a:moveTo>
                  <a:pt x="29" y="20"/>
                </a:moveTo>
                <a:cubicBezTo>
                  <a:pt x="28" y="11"/>
                  <a:pt x="28" y="11"/>
                  <a:pt x="28" y="11"/>
                </a:cubicBezTo>
                <a:cubicBezTo>
                  <a:pt x="28" y="11"/>
                  <a:pt x="28" y="10"/>
                  <a:pt x="27" y="10"/>
                </a:cubicBezTo>
                <a:cubicBezTo>
                  <a:pt x="22" y="10"/>
                  <a:pt x="22" y="10"/>
                  <a:pt x="22" y="10"/>
                </a:cubicBezTo>
                <a:cubicBezTo>
                  <a:pt x="22" y="10"/>
                  <a:pt x="21" y="11"/>
                  <a:pt x="21" y="11"/>
                </a:cubicBezTo>
                <a:cubicBezTo>
                  <a:pt x="21" y="20"/>
                  <a:pt x="21" y="20"/>
                  <a:pt x="21" y="20"/>
                </a:cubicBezTo>
                <a:cubicBezTo>
                  <a:pt x="21" y="20"/>
                  <a:pt x="21" y="20"/>
                  <a:pt x="21" y="20"/>
                </a:cubicBezTo>
                <a:cubicBezTo>
                  <a:pt x="21" y="20"/>
                  <a:pt x="21" y="21"/>
                  <a:pt x="21" y="21"/>
                </a:cubicBezTo>
                <a:cubicBezTo>
                  <a:pt x="28" y="21"/>
                  <a:pt x="28" y="21"/>
                  <a:pt x="28" y="21"/>
                </a:cubicBezTo>
                <a:cubicBezTo>
                  <a:pt x="28" y="21"/>
                  <a:pt x="29" y="20"/>
                  <a:pt x="29" y="20"/>
                </a:cubicBez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1" name="Freeform 355"/>
          <p:cNvSpPr>
            <a:spLocks noEditPoints="1"/>
          </p:cNvSpPr>
          <p:nvPr userDrawn="1"/>
        </p:nvSpPr>
        <p:spPr bwMode="auto">
          <a:xfrm>
            <a:off x="8080722" y="2446165"/>
            <a:ext cx="244226" cy="244226"/>
          </a:xfrm>
          <a:custGeom>
            <a:avLst/>
            <a:gdLst>
              <a:gd name="T0" fmla="*/ 35 w 44"/>
              <a:gd name="T1" fmla="*/ 22 h 44"/>
              <a:gd name="T2" fmla="*/ 30 w 44"/>
              <a:gd name="T3" fmla="*/ 27 h 44"/>
              <a:gd name="T4" fmla="*/ 29 w 44"/>
              <a:gd name="T5" fmla="*/ 37 h 44"/>
              <a:gd name="T6" fmla="*/ 29 w 44"/>
              <a:gd name="T7" fmla="*/ 38 h 44"/>
              <a:gd name="T8" fmla="*/ 19 w 44"/>
              <a:gd name="T9" fmla="*/ 44 h 44"/>
              <a:gd name="T10" fmla="*/ 18 w 44"/>
              <a:gd name="T11" fmla="*/ 44 h 44"/>
              <a:gd name="T12" fmla="*/ 18 w 44"/>
              <a:gd name="T13" fmla="*/ 44 h 44"/>
              <a:gd name="T14" fmla="*/ 16 w 44"/>
              <a:gd name="T15" fmla="*/ 42 h 44"/>
              <a:gd name="T16" fmla="*/ 16 w 44"/>
              <a:gd name="T17" fmla="*/ 41 h 44"/>
              <a:gd name="T18" fmla="*/ 18 w 44"/>
              <a:gd name="T19" fmla="*/ 34 h 44"/>
              <a:gd name="T20" fmla="*/ 11 w 44"/>
              <a:gd name="T21" fmla="*/ 26 h 44"/>
              <a:gd name="T22" fmla="*/ 3 w 44"/>
              <a:gd name="T23" fmla="*/ 29 h 44"/>
              <a:gd name="T24" fmla="*/ 3 w 44"/>
              <a:gd name="T25" fmla="*/ 29 h 44"/>
              <a:gd name="T26" fmla="*/ 2 w 44"/>
              <a:gd name="T27" fmla="*/ 28 h 44"/>
              <a:gd name="T28" fmla="*/ 1 w 44"/>
              <a:gd name="T29" fmla="*/ 27 h 44"/>
              <a:gd name="T30" fmla="*/ 0 w 44"/>
              <a:gd name="T31" fmla="*/ 26 h 44"/>
              <a:gd name="T32" fmla="*/ 6 w 44"/>
              <a:gd name="T33" fmla="*/ 15 h 44"/>
              <a:gd name="T34" fmla="*/ 7 w 44"/>
              <a:gd name="T35" fmla="*/ 15 h 44"/>
              <a:gd name="T36" fmla="*/ 17 w 44"/>
              <a:gd name="T37" fmla="*/ 14 h 44"/>
              <a:gd name="T38" fmla="*/ 22 w 44"/>
              <a:gd name="T39" fmla="*/ 9 h 44"/>
              <a:gd name="T40" fmla="*/ 43 w 44"/>
              <a:gd name="T41" fmla="*/ 0 h 44"/>
              <a:gd name="T42" fmla="*/ 44 w 44"/>
              <a:gd name="T43" fmla="*/ 1 h 44"/>
              <a:gd name="T44" fmla="*/ 35 w 44"/>
              <a:gd name="T45" fmla="*/ 22 h 44"/>
              <a:gd name="T46" fmla="*/ 35 w 44"/>
              <a:gd name="T47" fmla="*/ 6 h 44"/>
              <a:gd name="T48" fmla="*/ 33 w 44"/>
              <a:gd name="T49" fmla="*/ 9 h 44"/>
              <a:gd name="T50" fmla="*/ 35 w 44"/>
              <a:gd name="T51" fmla="*/ 11 h 44"/>
              <a:gd name="T52" fmla="*/ 38 w 44"/>
              <a:gd name="T53" fmla="*/ 9 h 44"/>
              <a:gd name="T54" fmla="*/ 35 w 44"/>
              <a:gd name="T55" fmla="*/ 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4" h="44">
                <a:moveTo>
                  <a:pt x="35" y="22"/>
                </a:moveTo>
                <a:cubicBezTo>
                  <a:pt x="34" y="24"/>
                  <a:pt x="32" y="25"/>
                  <a:pt x="30" y="27"/>
                </a:cubicBezTo>
                <a:cubicBezTo>
                  <a:pt x="29" y="37"/>
                  <a:pt x="29" y="37"/>
                  <a:pt x="29" y="37"/>
                </a:cubicBezTo>
                <a:cubicBezTo>
                  <a:pt x="29" y="37"/>
                  <a:pt x="29" y="38"/>
                  <a:pt x="29" y="38"/>
                </a:cubicBezTo>
                <a:cubicBezTo>
                  <a:pt x="19" y="44"/>
                  <a:pt x="19" y="44"/>
                  <a:pt x="19" y="44"/>
                </a:cubicBezTo>
                <a:cubicBezTo>
                  <a:pt x="19" y="44"/>
                  <a:pt x="18" y="44"/>
                  <a:pt x="18" y="44"/>
                </a:cubicBezTo>
                <a:cubicBezTo>
                  <a:pt x="18" y="44"/>
                  <a:pt x="18" y="44"/>
                  <a:pt x="18" y="44"/>
                </a:cubicBezTo>
                <a:cubicBezTo>
                  <a:pt x="16" y="42"/>
                  <a:pt x="16" y="42"/>
                  <a:pt x="16" y="42"/>
                </a:cubicBezTo>
                <a:cubicBezTo>
                  <a:pt x="16" y="42"/>
                  <a:pt x="16" y="41"/>
                  <a:pt x="16" y="41"/>
                </a:cubicBezTo>
                <a:cubicBezTo>
                  <a:pt x="18" y="34"/>
                  <a:pt x="18" y="34"/>
                  <a:pt x="18" y="34"/>
                </a:cubicBezTo>
                <a:cubicBezTo>
                  <a:pt x="11" y="26"/>
                  <a:pt x="11" y="26"/>
                  <a:pt x="11" y="26"/>
                </a:cubicBezTo>
                <a:cubicBezTo>
                  <a:pt x="3" y="29"/>
                  <a:pt x="3" y="29"/>
                  <a:pt x="3" y="29"/>
                </a:cubicBezTo>
                <a:cubicBezTo>
                  <a:pt x="3" y="29"/>
                  <a:pt x="3" y="29"/>
                  <a:pt x="3" y="29"/>
                </a:cubicBezTo>
                <a:cubicBezTo>
                  <a:pt x="3" y="29"/>
                  <a:pt x="2" y="28"/>
                  <a:pt x="2" y="28"/>
                </a:cubicBezTo>
                <a:cubicBezTo>
                  <a:pt x="1" y="27"/>
                  <a:pt x="1" y="27"/>
                  <a:pt x="1" y="27"/>
                </a:cubicBezTo>
                <a:cubicBezTo>
                  <a:pt x="0" y="26"/>
                  <a:pt x="0" y="26"/>
                  <a:pt x="0" y="26"/>
                </a:cubicBezTo>
                <a:cubicBezTo>
                  <a:pt x="6" y="15"/>
                  <a:pt x="6" y="15"/>
                  <a:pt x="6" y="15"/>
                </a:cubicBezTo>
                <a:cubicBezTo>
                  <a:pt x="7" y="15"/>
                  <a:pt x="7" y="15"/>
                  <a:pt x="7" y="15"/>
                </a:cubicBezTo>
                <a:cubicBezTo>
                  <a:pt x="17" y="14"/>
                  <a:pt x="17" y="14"/>
                  <a:pt x="17" y="14"/>
                </a:cubicBezTo>
                <a:cubicBezTo>
                  <a:pt x="19" y="12"/>
                  <a:pt x="20" y="11"/>
                  <a:pt x="22" y="9"/>
                </a:cubicBezTo>
                <a:cubicBezTo>
                  <a:pt x="29" y="2"/>
                  <a:pt x="34" y="0"/>
                  <a:pt x="43" y="0"/>
                </a:cubicBezTo>
                <a:cubicBezTo>
                  <a:pt x="44" y="0"/>
                  <a:pt x="44" y="1"/>
                  <a:pt x="44" y="1"/>
                </a:cubicBezTo>
                <a:cubicBezTo>
                  <a:pt x="44" y="10"/>
                  <a:pt x="42" y="16"/>
                  <a:pt x="35" y="22"/>
                </a:cubicBezTo>
                <a:close/>
                <a:moveTo>
                  <a:pt x="35" y="6"/>
                </a:moveTo>
                <a:cubicBezTo>
                  <a:pt x="34" y="6"/>
                  <a:pt x="33" y="7"/>
                  <a:pt x="33" y="9"/>
                </a:cubicBezTo>
                <a:cubicBezTo>
                  <a:pt x="33" y="10"/>
                  <a:pt x="34" y="11"/>
                  <a:pt x="35" y="11"/>
                </a:cubicBezTo>
                <a:cubicBezTo>
                  <a:pt x="37" y="11"/>
                  <a:pt x="38" y="10"/>
                  <a:pt x="38" y="9"/>
                </a:cubicBezTo>
                <a:cubicBezTo>
                  <a:pt x="38" y="7"/>
                  <a:pt x="37" y="6"/>
                  <a:pt x="35" y="6"/>
                </a:cubicBez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3" name="Freeform 357"/>
          <p:cNvSpPr>
            <a:spLocks/>
          </p:cNvSpPr>
          <p:nvPr userDrawn="1"/>
        </p:nvSpPr>
        <p:spPr bwMode="auto">
          <a:xfrm>
            <a:off x="7454954" y="4424141"/>
            <a:ext cx="227789" cy="232485"/>
          </a:xfrm>
          <a:custGeom>
            <a:avLst/>
            <a:gdLst>
              <a:gd name="T0" fmla="*/ 41 w 41"/>
              <a:gd name="T1" fmla="*/ 16 h 42"/>
              <a:gd name="T2" fmla="*/ 40 w 41"/>
              <a:gd name="T3" fmla="*/ 18 h 42"/>
              <a:gd name="T4" fmla="*/ 28 w 41"/>
              <a:gd name="T5" fmla="*/ 18 h 42"/>
              <a:gd name="T6" fmla="*/ 26 w 41"/>
              <a:gd name="T7" fmla="*/ 17 h 42"/>
              <a:gd name="T8" fmla="*/ 26 w 41"/>
              <a:gd name="T9" fmla="*/ 15 h 42"/>
              <a:gd name="T10" fmla="*/ 30 w 41"/>
              <a:gd name="T11" fmla="*/ 11 h 42"/>
              <a:gd name="T12" fmla="*/ 21 w 41"/>
              <a:gd name="T13" fmla="*/ 7 h 42"/>
              <a:gd name="T14" fmla="*/ 7 w 41"/>
              <a:gd name="T15" fmla="*/ 21 h 42"/>
              <a:gd name="T16" fmla="*/ 21 w 41"/>
              <a:gd name="T17" fmla="*/ 35 h 42"/>
              <a:gd name="T18" fmla="*/ 32 w 41"/>
              <a:gd name="T19" fmla="*/ 29 h 42"/>
              <a:gd name="T20" fmla="*/ 32 w 41"/>
              <a:gd name="T21" fmla="*/ 29 h 42"/>
              <a:gd name="T22" fmla="*/ 33 w 41"/>
              <a:gd name="T23" fmla="*/ 29 h 42"/>
              <a:gd name="T24" fmla="*/ 37 w 41"/>
              <a:gd name="T25" fmla="*/ 33 h 42"/>
              <a:gd name="T26" fmla="*/ 37 w 41"/>
              <a:gd name="T27" fmla="*/ 34 h 42"/>
              <a:gd name="T28" fmla="*/ 21 w 41"/>
              <a:gd name="T29" fmla="*/ 42 h 42"/>
              <a:gd name="T30" fmla="*/ 0 w 41"/>
              <a:gd name="T31" fmla="*/ 21 h 42"/>
              <a:gd name="T32" fmla="*/ 21 w 41"/>
              <a:gd name="T33" fmla="*/ 0 h 42"/>
              <a:gd name="T34" fmla="*/ 35 w 41"/>
              <a:gd name="T35" fmla="*/ 6 h 42"/>
              <a:gd name="T36" fmla="*/ 38 w 41"/>
              <a:gd name="T37" fmla="*/ 3 h 42"/>
              <a:gd name="T38" fmla="*/ 40 w 41"/>
              <a:gd name="T39" fmla="*/ 2 h 42"/>
              <a:gd name="T40" fmla="*/ 41 w 41"/>
              <a:gd name="T41" fmla="*/ 4 h 42"/>
              <a:gd name="T42" fmla="*/ 41 w 41"/>
              <a:gd name="T43" fmla="*/ 1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42">
                <a:moveTo>
                  <a:pt x="41" y="16"/>
                </a:moveTo>
                <a:cubicBezTo>
                  <a:pt x="41" y="17"/>
                  <a:pt x="41" y="18"/>
                  <a:pt x="40" y="18"/>
                </a:cubicBezTo>
                <a:cubicBezTo>
                  <a:pt x="28" y="18"/>
                  <a:pt x="28" y="18"/>
                  <a:pt x="28" y="18"/>
                </a:cubicBezTo>
                <a:cubicBezTo>
                  <a:pt x="27" y="18"/>
                  <a:pt x="26" y="17"/>
                  <a:pt x="26" y="17"/>
                </a:cubicBezTo>
                <a:cubicBezTo>
                  <a:pt x="26" y="16"/>
                  <a:pt x="26" y="15"/>
                  <a:pt x="26" y="15"/>
                </a:cubicBezTo>
                <a:cubicBezTo>
                  <a:pt x="30" y="11"/>
                  <a:pt x="30" y="11"/>
                  <a:pt x="30" y="11"/>
                </a:cubicBezTo>
                <a:cubicBezTo>
                  <a:pt x="28" y="9"/>
                  <a:pt x="24" y="7"/>
                  <a:pt x="21" y="7"/>
                </a:cubicBezTo>
                <a:cubicBezTo>
                  <a:pt x="13" y="7"/>
                  <a:pt x="7" y="13"/>
                  <a:pt x="7" y="21"/>
                </a:cubicBezTo>
                <a:cubicBezTo>
                  <a:pt x="7" y="29"/>
                  <a:pt x="13" y="35"/>
                  <a:pt x="21" y="35"/>
                </a:cubicBezTo>
                <a:cubicBezTo>
                  <a:pt x="25" y="35"/>
                  <a:pt x="29" y="33"/>
                  <a:pt x="32" y="29"/>
                </a:cubicBezTo>
                <a:cubicBezTo>
                  <a:pt x="32" y="29"/>
                  <a:pt x="32" y="29"/>
                  <a:pt x="32" y="29"/>
                </a:cubicBezTo>
                <a:cubicBezTo>
                  <a:pt x="32" y="29"/>
                  <a:pt x="33" y="29"/>
                  <a:pt x="33" y="29"/>
                </a:cubicBezTo>
                <a:cubicBezTo>
                  <a:pt x="37" y="33"/>
                  <a:pt x="37" y="33"/>
                  <a:pt x="37" y="33"/>
                </a:cubicBezTo>
                <a:cubicBezTo>
                  <a:pt x="37" y="33"/>
                  <a:pt x="37" y="34"/>
                  <a:pt x="37" y="34"/>
                </a:cubicBezTo>
                <a:cubicBezTo>
                  <a:pt x="33" y="39"/>
                  <a:pt x="27" y="42"/>
                  <a:pt x="21" y="42"/>
                </a:cubicBezTo>
                <a:cubicBezTo>
                  <a:pt x="9" y="42"/>
                  <a:pt x="0" y="32"/>
                  <a:pt x="0" y="21"/>
                </a:cubicBezTo>
                <a:cubicBezTo>
                  <a:pt x="0" y="10"/>
                  <a:pt x="9" y="0"/>
                  <a:pt x="21" y="0"/>
                </a:cubicBezTo>
                <a:cubicBezTo>
                  <a:pt x="26" y="0"/>
                  <a:pt x="31" y="3"/>
                  <a:pt x="35" y="6"/>
                </a:cubicBezTo>
                <a:cubicBezTo>
                  <a:pt x="38" y="3"/>
                  <a:pt x="38" y="3"/>
                  <a:pt x="38" y="3"/>
                </a:cubicBezTo>
                <a:cubicBezTo>
                  <a:pt x="39" y="2"/>
                  <a:pt x="40" y="2"/>
                  <a:pt x="40" y="2"/>
                </a:cubicBezTo>
                <a:cubicBezTo>
                  <a:pt x="41" y="3"/>
                  <a:pt x="41" y="3"/>
                  <a:pt x="41" y="4"/>
                </a:cubicBezTo>
                <a:lnTo>
                  <a:pt x="41" y="16"/>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5" name="Freeform 359"/>
          <p:cNvSpPr>
            <a:spLocks noEditPoints="1"/>
          </p:cNvSpPr>
          <p:nvPr userDrawn="1"/>
        </p:nvSpPr>
        <p:spPr bwMode="auto">
          <a:xfrm>
            <a:off x="6925727" y="3758216"/>
            <a:ext cx="211350" cy="206654"/>
          </a:xfrm>
          <a:custGeom>
            <a:avLst/>
            <a:gdLst>
              <a:gd name="T0" fmla="*/ 37 w 38"/>
              <a:gd name="T1" fmla="*/ 37 h 37"/>
              <a:gd name="T2" fmla="*/ 36 w 38"/>
              <a:gd name="T3" fmla="*/ 37 h 37"/>
              <a:gd name="T4" fmla="*/ 32 w 38"/>
              <a:gd name="T5" fmla="*/ 37 h 37"/>
              <a:gd name="T6" fmla="*/ 30 w 38"/>
              <a:gd name="T7" fmla="*/ 36 h 37"/>
              <a:gd name="T8" fmla="*/ 1 w 38"/>
              <a:gd name="T9" fmla="*/ 7 h 37"/>
              <a:gd name="T10" fmla="*/ 0 w 38"/>
              <a:gd name="T11" fmla="*/ 5 h 37"/>
              <a:gd name="T12" fmla="*/ 0 w 38"/>
              <a:gd name="T13" fmla="*/ 1 h 37"/>
              <a:gd name="T14" fmla="*/ 0 w 38"/>
              <a:gd name="T15" fmla="*/ 0 h 37"/>
              <a:gd name="T16" fmla="*/ 2 w 38"/>
              <a:gd name="T17" fmla="*/ 0 h 37"/>
              <a:gd name="T18" fmla="*/ 2 w 38"/>
              <a:gd name="T19" fmla="*/ 0 h 37"/>
              <a:gd name="T20" fmla="*/ 27 w 38"/>
              <a:gd name="T21" fmla="*/ 11 h 37"/>
              <a:gd name="T22" fmla="*/ 38 w 38"/>
              <a:gd name="T23" fmla="*/ 36 h 37"/>
              <a:gd name="T24" fmla="*/ 37 w 38"/>
              <a:gd name="T25" fmla="*/ 37 h 37"/>
              <a:gd name="T26" fmla="*/ 23 w 38"/>
              <a:gd name="T27" fmla="*/ 37 h 37"/>
              <a:gd name="T28" fmla="*/ 22 w 38"/>
              <a:gd name="T29" fmla="*/ 37 h 37"/>
              <a:gd name="T30" fmla="*/ 19 w 38"/>
              <a:gd name="T31" fmla="*/ 37 h 37"/>
              <a:gd name="T32" fmla="*/ 17 w 38"/>
              <a:gd name="T33" fmla="*/ 36 h 37"/>
              <a:gd name="T34" fmla="*/ 1 w 38"/>
              <a:gd name="T35" fmla="*/ 20 h 37"/>
              <a:gd name="T36" fmla="*/ 0 w 38"/>
              <a:gd name="T37" fmla="*/ 19 h 37"/>
              <a:gd name="T38" fmla="*/ 0 w 38"/>
              <a:gd name="T39" fmla="*/ 15 h 37"/>
              <a:gd name="T40" fmla="*/ 0 w 38"/>
              <a:gd name="T41" fmla="*/ 14 h 37"/>
              <a:gd name="T42" fmla="*/ 2 w 38"/>
              <a:gd name="T43" fmla="*/ 13 h 37"/>
              <a:gd name="T44" fmla="*/ 2 w 38"/>
              <a:gd name="T45" fmla="*/ 13 h 37"/>
              <a:gd name="T46" fmla="*/ 17 w 38"/>
              <a:gd name="T47" fmla="*/ 20 h 37"/>
              <a:gd name="T48" fmla="*/ 24 w 38"/>
              <a:gd name="T49" fmla="*/ 36 h 37"/>
              <a:gd name="T50" fmla="*/ 23 w 38"/>
              <a:gd name="T51" fmla="*/ 37 h 37"/>
              <a:gd name="T52" fmla="*/ 5 w 38"/>
              <a:gd name="T53" fmla="*/ 37 h 37"/>
              <a:gd name="T54" fmla="*/ 0 w 38"/>
              <a:gd name="T55" fmla="*/ 32 h 37"/>
              <a:gd name="T56" fmla="*/ 5 w 38"/>
              <a:gd name="T57" fmla="*/ 27 h 37"/>
              <a:gd name="T58" fmla="*/ 10 w 38"/>
              <a:gd name="T59" fmla="*/ 32 h 37"/>
              <a:gd name="T60" fmla="*/ 5 w 38"/>
              <a:gd name="T61"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8" h="37">
                <a:moveTo>
                  <a:pt x="37" y="37"/>
                </a:moveTo>
                <a:cubicBezTo>
                  <a:pt x="37" y="37"/>
                  <a:pt x="36" y="37"/>
                  <a:pt x="36" y="37"/>
                </a:cubicBezTo>
                <a:cubicBezTo>
                  <a:pt x="32" y="37"/>
                  <a:pt x="32" y="37"/>
                  <a:pt x="32" y="37"/>
                </a:cubicBezTo>
                <a:cubicBezTo>
                  <a:pt x="31" y="37"/>
                  <a:pt x="30" y="37"/>
                  <a:pt x="30" y="36"/>
                </a:cubicBezTo>
                <a:cubicBezTo>
                  <a:pt x="29" y="20"/>
                  <a:pt x="17" y="8"/>
                  <a:pt x="1" y="7"/>
                </a:cubicBezTo>
                <a:cubicBezTo>
                  <a:pt x="1" y="7"/>
                  <a:pt x="0" y="6"/>
                  <a:pt x="0" y="5"/>
                </a:cubicBezTo>
                <a:cubicBezTo>
                  <a:pt x="0" y="1"/>
                  <a:pt x="0" y="1"/>
                  <a:pt x="0" y="1"/>
                </a:cubicBezTo>
                <a:cubicBezTo>
                  <a:pt x="0" y="1"/>
                  <a:pt x="0" y="0"/>
                  <a:pt x="0" y="0"/>
                </a:cubicBezTo>
                <a:cubicBezTo>
                  <a:pt x="1" y="0"/>
                  <a:pt x="1" y="0"/>
                  <a:pt x="2" y="0"/>
                </a:cubicBezTo>
                <a:cubicBezTo>
                  <a:pt x="2" y="0"/>
                  <a:pt x="2" y="0"/>
                  <a:pt x="2" y="0"/>
                </a:cubicBezTo>
                <a:cubicBezTo>
                  <a:pt x="11" y="0"/>
                  <a:pt x="20" y="4"/>
                  <a:pt x="27" y="11"/>
                </a:cubicBezTo>
                <a:cubicBezTo>
                  <a:pt x="33" y="17"/>
                  <a:pt x="37" y="26"/>
                  <a:pt x="38" y="36"/>
                </a:cubicBezTo>
                <a:cubicBezTo>
                  <a:pt x="38" y="36"/>
                  <a:pt x="37" y="37"/>
                  <a:pt x="37" y="37"/>
                </a:cubicBezTo>
                <a:close/>
                <a:moveTo>
                  <a:pt x="23" y="37"/>
                </a:moveTo>
                <a:cubicBezTo>
                  <a:pt x="23" y="37"/>
                  <a:pt x="23" y="37"/>
                  <a:pt x="22" y="37"/>
                </a:cubicBezTo>
                <a:cubicBezTo>
                  <a:pt x="19" y="37"/>
                  <a:pt x="19" y="37"/>
                  <a:pt x="19" y="37"/>
                </a:cubicBezTo>
                <a:cubicBezTo>
                  <a:pt x="18" y="37"/>
                  <a:pt x="17" y="37"/>
                  <a:pt x="17" y="36"/>
                </a:cubicBezTo>
                <a:cubicBezTo>
                  <a:pt x="16" y="28"/>
                  <a:pt x="10" y="21"/>
                  <a:pt x="1" y="20"/>
                </a:cubicBezTo>
                <a:cubicBezTo>
                  <a:pt x="1" y="20"/>
                  <a:pt x="0" y="20"/>
                  <a:pt x="0" y="19"/>
                </a:cubicBezTo>
                <a:cubicBezTo>
                  <a:pt x="0" y="15"/>
                  <a:pt x="0" y="15"/>
                  <a:pt x="0" y="15"/>
                </a:cubicBezTo>
                <a:cubicBezTo>
                  <a:pt x="0" y="15"/>
                  <a:pt x="0" y="14"/>
                  <a:pt x="0" y="14"/>
                </a:cubicBezTo>
                <a:cubicBezTo>
                  <a:pt x="1" y="14"/>
                  <a:pt x="1" y="13"/>
                  <a:pt x="2" y="13"/>
                </a:cubicBezTo>
                <a:cubicBezTo>
                  <a:pt x="2" y="13"/>
                  <a:pt x="2" y="13"/>
                  <a:pt x="2" y="13"/>
                </a:cubicBezTo>
                <a:cubicBezTo>
                  <a:pt x="7" y="14"/>
                  <a:pt x="13" y="16"/>
                  <a:pt x="17" y="20"/>
                </a:cubicBezTo>
                <a:cubicBezTo>
                  <a:pt x="21" y="24"/>
                  <a:pt x="23" y="30"/>
                  <a:pt x="24" y="36"/>
                </a:cubicBezTo>
                <a:cubicBezTo>
                  <a:pt x="24" y="36"/>
                  <a:pt x="24" y="36"/>
                  <a:pt x="23" y="37"/>
                </a:cubicBezTo>
                <a:close/>
                <a:moveTo>
                  <a:pt x="5" y="37"/>
                </a:moveTo>
                <a:cubicBezTo>
                  <a:pt x="2" y="37"/>
                  <a:pt x="0" y="35"/>
                  <a:pt x="0" y="32"/>
                </a:cubicBezTo>
                <a:cubicBezTo>
                  <a:pt x="0" y="29"/>
                  <a:pt x="2" y="27"/>
                  <a:pt x="5" y="27"/>
                </a:cubicBezTo>
                <a:cubicBezTo>
                  <a:pt x="8" y="27"/>
                  <a:pt x="10" y="29"/>
                  <a:pt x="10" y="32"/>
                </a:cubicBezTo>
                <a:cubicBezTo>
                  <a:pt x="10" y="35"/>
                  <a:pt x="8" y="37"/>
                  <a:pt x="5" y="37"/>
                </a:cubicBez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29" name="Freeform 363"/>
          <p:cNvSpPr>
            <a:spLocks noEditPoints="1"/>
          </p:cNvSpPr>
          <p:nvPr userDrawn="1"/>
        </p:nvSpPr>
        <p:spPr bwMode="auto">
          <a:xfrm>
            <a:off x="2395277" y="3222327"/>
            <a:ext cx="227789" cy="227789"/>
          </a:xfrm>
          <a:custGeom>
            <a:avLst/>
            <a:gdLst>
              <a:gd name="T0" fmla="*/ 41 w 41"/>
              <a:gd name="T1" fmla="*/ 39 h 41"/>
              <a:gd name="T2" fmla="*/ 39 w 41"/>
              <a:gd name="T3" fmla="*/ 41 h 41"/>
              <a:gd name="T4" fmla="*/ 3 w 41"/>
              <a:gd name="T5" fmla="*/ 41 h 41"/>
              <a:gd name="T6" fmla="*/ 0 w 41"/>
              <a:gd name="T7" fmla="*/ 39 h 41"/>
              <a:gd name="T8" fmla="*/ 0 w 41"/>
              <a:gd name="T9" fmla="*/ 3 h 41"/>
              <a:gd name="T10" fmla="*/ 3 w 41"/>
              <a:gd name="T11" fmla="*/ 0 h 41"/>
              <a:gd name="T12" fmla="*/ 28 w 41"/>
              <a:gd name="T13" fmla="*/ 0 h 41"/>
              <a:gd name="T14" fmla="*/ 32 w 41"/>
              <a:gd name="T15" fmla="*/ 2 h 41"/>
              <a:gd name="T16" fmla="*/ 40 w 41"/>
              <a:gd name="T17" fmla="*/ 9 h 41"/>
              <a:gd name="T18" fmla="*/ 41 w 41"/>
              <a:gd name="T19" fmla="*/ 14 h 41"/>
              <a:gd name="T20" fmla="*/ 41 w 41"/>
              <a:gd name="T21" fmla="*/ 39 h 41"/>
              <a:gd name="T22" fmla="*/ 38 w 41"/>
              <a:gd name="T23" fmla="*/ 38 h 41"/>
              <a:gd name="T24" fmla="*/ 38 w 41"/>
              <a:gd name="T25" fmla="*/ 14 h 41"/>
              <a:gd name="T26" fmla="*/ 37 w 41"/>
              <a:gd name="T27" fmla="*/ 12 h 41"/>
              <a:gd name="T28" fmla="*/ 30 w 41"/>
              <a:gd name="T29" fmla="*/ 4 h 41"/>
              <a:gd name="T30" fmla="*/ 28 w 41"/>
              <a:gd name="T31" fmla="*/ 4 h 41"/>
              <a:gd name="T32" fmla="*/ 28 w 41"/>
              <a:gd name="T33" fmla="*/ 15 h 41"/>
              <a:gd name="T34" fmla="*/ 25 w 41"/>
              <a:gd name="T35" fmla="*/ 17 h 41"/>
              <a:gd name="T36" fmla="*/ 10 w 41"/>
              <a:gd name="T37" fmla="*/ 17 h 41"/>
              <a:gd name="T38" fmla="*/ 7 w 41"/>
              <a:gd name="T39" fmla="*/ 15 h 41"/>
              <a:gd name="T40" fmla="*/ 7 w 41"/>
              <a:gd name="T41" fmla="*/ 4 h 41"/>
              <a:gd name="T42" fmla="*/ 4 w 41"/>
              <a:gd name="T43" fmla="*/ 4 h 41"/>
              <a:gd name="T44" fmla="*/ 4 w 41"/>
              <a:gd name="T45" fmla="*/ 38 h 41"/>
              <a:gd name="T46" fmla="*/ 7 w 41"/>
              <a:gd name="T47" fmla="*/ 38 h 41"/>
              <a:gd name="T48" fmla="*/ 7 w 41"/>
              <a:gd name="T49" fmla="*/ 27 h 41"/>
              <a:gd name="T50" fmla="*/ 10 w 41"/>
              <a:gd name="T51" fmla="*/ 24 h 41"/>
              <a:gd name="T52" fmla="*/ 32 w 41"/>
              <a:gd name="T53" fmla="*/ 24 h 41"/>
              <a:gd name="T54" fmla="*/ 34 w 41"/>
              <a:gd name="T55" fmla="*/ 27 h 41"/>
              <a:gd name="T56" fmla="*/ 34 w 41"/>
              <a:gd name="T57" fmla="*/ 38 h 41"/>
              <a:gd name="T58" fmla="*/ 38 w 41"/>
              <a:gd name="T59" fmla="*/ 38 h 41"/>
              <a:gd name="T60" fmla="*/ 31 w 41"/>
              <a:gd name="T61" fmla="*/ 38 h 41"/>
              <a:gd name="T62" fmla="*/ 31 w 41"/>
              <a:gd name="T63" fmla="*/ 28 h 41"/>
              <a:gd name="T64" fmla="*/ 10 w 41"/>
              <a:gd name="T65" fmla="*/ 28 h 41"/>
              <a:gd name="T66" fmla="*/ 10 w 41"/>
              <a:gd name="T67" fmla="*/ 38 h 41"/>
              <a:gd name="T68" fmla="*/ 31 w 41"/>
              <a:gd name="T69" fmla="*/ 38 h 41"/>
              <a:gd name="T70" fmla="*/ 24 w 41"/>
              <a:gd name="T71" fmla="*/ 4 h 41"/>
              <a:gd name="T72" fmla="*/ 23 w 41"/>
              <a:gd name="T73" fmla="*/ 4 h 41"/>
              <a:gd name="T74" fmla="*/ 18 w 41"/>
              <a:gd name="T75" fmla="*/ 4 h 41"/>
              <a:gd name="T76" fmla="*/ 17 w 41"/>
              <a:gd name="T77" fmla="*/ 4 h 41"/>
              <a:gd name="T78" fmla="*/ 17 w 41"/>
              <a:gd name="T79" fmla="*/ 13 h 41"/>
              <a:gd name="T80" fmla="*/ 18 w 41"/>
              <a:gd name="T81" fmla="*/ 14 h 41"/>
              <a:gd name="T82" fmla="*/ 23 w 41"/>
              <a:gd name="T83" fmla="*/ 14 h 41"/>
              <a:gd name="T84" fmla="*/ 24 w 41"/>
              <a:gd name="T85" fmla="*/ 13 h 41"/>
              <a:gd name="T86" fmla="*/ 24 w 41"/>
              <a:gd name="T87" fmla="*/ 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1" h="41">
                <a:moveTo>
                  <a:pt x="41" y="39"/>
                </a:moveTo>
                <a:cubicBezTo>
                  <a:pt x="41" y="40"/>
                  <a:pt x="40" y="41"/>
                  <a:pt x="39" y="41"/>
                </a:cubicBezTo>
                <a:cubicBezTo>
                  <a:pt x="3" y="41"/>
                  <a:pt x="3" y="41"/>
                  <a:pt x="3" y="41"/>
                </a:cubicBezTo>
                <a:cubicBezTo>
                  <a:pt x="1" y="41"/>
                  <a:pt x="0" y="40"/>
                  <a:pt x="0" y="39"/>
                </a:cubicBezTo>
                <a:cubicBezTo>
                  <a:pt x="0" y="3"/>
                  <a:pt x="0" y="3"/>
                  <a:pt x="0" y="3"/>
                </a:cubicBezTo>
                <a:cubicBezTo>
                  <a:pt x="0" y="1"/>
                  <a:pt x="1" y="0"/>
                  <a:pt x="3" y="0"/>
                </a:cubicBezTo>
                <a:cubicBezTo>
                  <a:pt x="28" y="0"/>
                  <a:pt x="28" y="0"/>
                  <a:pt x="28" y="0"/>
                </a:cubicBezTo>
                <a:cubicBezTo>
                  <a:pt x="29" y="0"/>
                  <a:pt x="31" y="1"/>
                  <a:pt x="32" y="2"/>
                </a:cubicBezTo>
                <a:cubicBezTo>
                  <a:pt x="40" y="9"/>
                  <a:pt x="40" y="9"/>
                  <a:pt x="40" y="9"/>
                </a:cubicBezTo>
                <a:cubicBezTo>
                  <a:pt x="41" y="10"/>
                  <a:pt x="41" y="12"/>
                  <a:pt x="41" y="14"/>
                </a:cubicBezTo>
                <a:lnTo>
                  <a:pt x="41" y="39"/>
                </a:lnTo>
                <a:close/>
                <a:moveTo>
                  <a:pt x="38" y="38"/>
                </a:moveTo>
                <a:cubicBezTo>
                  <a:pt x="38" y="14"/>
                  <a:pt x="38" y="14"/>
                  <a:pt x="38" y="14"/>
                </a:cubicBezTo>
                <a:cubicBezTo>
                  <a:pt x="38" y="13"/>
                  <a:pt x="37" y="12"/>
                  <a:pt x="37" y="12"/>
                </a:cubicBezTo>
                <a:cubicBezTo>
                  <a:pt x="30" y="4"/>
                  <a:pt x="30" y="4"/>
                  <a:pt x="30" y="4"/>
                </a:cubicBezTo>
                <a:cubicBezTo>
                  <a:pt x="29" y="4"/>
                  <a:pt x="28" y="4"/>
                  <a:pt x="28" y="4"/>
                </a:cubicBezTo>
                <a:cubicBezTo>
                  <a:pt x="28" y="15"/>
                  <a:pt x="28" y="15"/>
                  <a:pt x="28" y="15"/>
                </a:cubicBezTo>
                <a:cubicBezTo>
                  <a:pt x="28" y="16"/>
                  <a:pt x="26" y="17"/>
                  <a:pt x="25" y="17"/>
                </a:cubicBezTo>
                <a:cubicBezTo>
                  <a:pt x="10" y="17"/>
                  <a:pt x="10" y="17"/>
                  <a:pt x="10" y="17"/>
                </a:cubicBezTo>
                <a:cubicBezTo>
                  <a:pt x="8" y="17"/>
                  <a:pt x="7" y="16"/>
                  <a:pt x="7" y="15"/>
                </a:cubicBezTo>
                <a:cubicBezTo>
                  <a:pt x="7" y="4"/>
                  <a:pt x="7" y="4"/>
                  <a:pt x="7" y="4"/>
                </a:cubicBezTo>
                <a:cubicBezTo>
                  <a:pt x="4" y="4"/>
                  <a:pt x="4" y="4"/>
                  <a:pt x="4" y="4"/>
                </a:cubicBezTo>
                <a:cubicBezTo>
                  <a:pt x="4" y="38"/>
                  <a:pt x="4" y="38"/>
                  <a:pt x="4" y="38"/>
                </a:cubicBezTo>
                <a:cubicBezTo>
                  <a:pt x="7" y="38"/>
                  <a:pt x="7" y="38"/>
                  <a:pt x="7" y="38"/>
                </a:cubicBezTo>
                <a:cubicBezTo>
                  <a:pt x="7" y="27"/>
                  <a:pt x="7" y="27"/>
                  <a:pt x="7" y="27"/>
                </a:cubicBezTo>
                <a:cubicBezTo>
                  <a:pt x="7" y="25"/>
                  <a:pt x="8" y="24"/>
                  <a:pt x="10" y="24"/>
                </a:cubicBezTo>
                <a:cubicBezTo>
                  <a:pt x="32" y="24"/>
                  <a:pt x="32" y="24"/>
                  <a:pt x="32" y="24"/>
                </a:cubicBezTo>
                <a:cubicBezTo>
                  <a:pt x="33" y="24"/>
                  <a:pt x="34" y="25"/>
                  <a:pt x="34" y="27"/>
                </a:cubicBezTo>
                <a:cubicBezTo>
                  <a:pt x="34" y="38"/>
                  <a:pt x="34" y="38"/>
                  <a:pt x="34" y="38"/>
                </a:cubicBezTo>
                <a:lnTo>
                  <a:pt x="38" y="38"/>
                </a:lnTo>
                <a:close/>
                <a:moveTo>
                  <a:pt x="31" y="38"/>
                </a:moveTo>
                <a:cubicBezTo>
                  <a:pt x="31" y="28"/>
                  <a:pt x="31" y="28"/>
                  <a:pt x="31" y="28"/>
                </a:cubicBezTo>
                <a:cubicBezTo>
                  <a:pt x="10" y="28"/>
                  <a:pt x="10" y="28"/>
                  <a:pt x="10" y="28"/>
                </a:cubicBezTo>
                <a:cubicBezTo>
                  <a:pt x="10" y="38"/>
                  <a:pt x="10" y="38"/>
                  <a:pt x="10" y="38"/>
                </a:cubicBezTo>
                <a:lnTo>
                  <a:pt x="31" y="38"/>
                </a:lnTo>
                <a:close/>
                <a:moveTo>
                  <a:pt x="24" y="4"/>
                </a:moveTo>
                <a:cubicBezTo>
                  <a:pt x="24" y="4"/>
                  <a:pt x="24" y="4"/>
                  <a:pt x="23" y="4"/>
                </a:cubicBezTo>
                <a:cubicBezTo>
                  <a:pt x="18" y="4"/>
                  <a:pt x="18" y="4"/>
                  <a:pt x="18" y="4"/>
                </a:cubicBezTo>
                <a:cubicBezTo>
                  <a:pt x="18" y="4"/>
                  <a:pt x="17" y="4"/>
                  <a:pt x="17" y="4"/>
                </a:cubicBezTo>
                <a:cubicBezTo>
                  <a:pt x="17" y="13"/>
                  <a:pt x="17" y="13"/>
                  <a:pt x="17" y="13"/>
                </a:cubicBezTo>
                <a:cubicBezTo>
                  <a:pt x="17" y="13"/>
                  <a:pt x="18" y="14"/>
                  <a:pt x="18" y="14"/>
                </a:cubicBezTo>
                <a:cubicBezTo>
                  <a:pt x="23" y="14"/>
                  <a:pt x="23" y="14"/>
                  <a:pt x="23" y="14"/>
                </a:cubicBezTo>
                <a:cubicBezTo>
                  <a:pt x="24" y="14"/>
                  <a:pt x="24" y="13"/>
                  <a:pt x="24" y="13"/>
                </a:cubicBezTo>
                <a:lnTo>
                  <a:pt x="24" y="4"/>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2" name="Freeform 366"/>
          <p:cNvSpPr>
            <a:spLocks noEditPoints="1"/>
          </p:cNvSpPr>
          <p:nvPr userDrawn="1"/>
        </p:nvSpPr>
        <p:spPr bwMode="auto">
          <a:xfrm>
            <a:off x="672737" y="1894670"/>
            <a:ext cx="248922" cy="244226"/>
          </a:xfrm>
          <a:custGeom>
            <a:avLst/>
            <a:gdLst>
              <a:gd name="T0" fmla="*/ 42 w 45"/>
              <a:gd name="T1" fmla="*/ 44 h 44"/>
              <a:gd name="T2" fmla="*/ 39 w 45"/>
              <a:gd name="T3" fmla="*/ 43 h 44"/>
              <a:gd name="T4" fmla="*/ 30 w 45"/>
              <a:gd name="T5" fmla="*/ 34 h 44"/>
              <a:gd name="T6" fmla="*/ 19 w 45"/>
              <a:gd name="T7" fmla="*/ 38 h 44"/>
              <a:gd name="T8" fmla="*/ 0 w 45"/>
              <a:gd name="T9" fmla="*/ 19 h 44"/>
              <a:gd name="T10" fmla="*/ 19 w 45"/>
              <a:gd name="T11" fmla="*/ 0 h 44"/>
              <a:gd name="T12" fmla="*/ 38 w 45"/>
              <a:gd name="T13" fmla="*/ 19 h 44"/>
              <a:gd name="T14" fmla="*/ 35 w 45"/>
              <a:gd name="T15" fmla="*/ 29 h 44"/>
              <a:gd name="T16" fmla="*/ 44 w 45"/>
              <a:gd name="T17" fmla="*/ 39 h 44"/>
              <a:gd name="T18" fmla="*/ 45 w 45"/>
              <a:gd name="T19" fmla="*/ 41 h 44"/>
              <a:gd name="T20" fmla="*/ 42 w 45"/>
              <a:gd name="T21" fmla="*/ 44 h 44"/>
              <a:gd name="T22" fmla="*/ 19 w 45"/>
              <a:gd name="T23" fmla="*/ 7 h 44"/>
              <a:gd name="T24" fmla="*/ 7 w 45"/>
              <a:gd name="T25" fmla="*/ 19 h 44"/>
              <a:gd name="T26" fmla="*/ 19 w 45"/>
              <a:gd name="T27" fmla="*/ 31 h 44"/>
              <a:gd name="T28" fmla="*/ 31 w 45"/>
              <a:gd name="T29" fmla="*/ 19 h 44"/>
              <a:gd name="T30" fmla="*/ 19 w 45"/>
              <a:gd name="T31" fmla="*/ 7 h 44"/>
              <a:gd name="T32" fmla="*/ 28 w 45"/>
              <a:gd name="T33" fmla="*/ 20 h 44"/>
              <a:gd name="T34" fmla="*/ 27 w 45"/>
              <a:gd name="T35" fmla="*/ 20 h 44"/>
              <a:gd name="T36" fmla="*/ 12 w 45"/>
              <a:gd name="T37" fmla="*/ 20 h 44"/>
              <a:gd name="T38" fmla="*/ 11 w 45"/>
              <a:gd name="T39" fmla="*/ 20 h 44"/>
              <a:gd name="T40" fmla="*/ 11 w 45"/>
              <a:gd name="T41" fmla="*/ 18 h 44"/>
              <a:gd name="T42" fmla="*/ 12 w 45"/>
              <a:gd name="T43" fmla="*/ 17 h 44"/>
              <a:gd name="T44" fmla="*/ 27 w 45"/>
              <a:gd name="T45" fmla="*/ 17 h 44"/>
              <a:gd name="T46" fmla="*/ 28 w 45"/>
              <a:gd name="T47" fmla="*/ 18 h 44"/>
              <a:gd name="T48" fmla="*/ 28 w 45"/>
              <a:gd name="T49" fmla="*/ 2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44">
                <a:moveTo>
                  <a:pt x="42" y="44"/>
                </a:moveTo>
                <a:cubicBezTo>
                  <a:pt x="41" y="44"/>
                  <a:pt x="40" y="44"/>
                  <a:pt x="39" y="43"/>
                </a:cubicBezTo>
                <a:cubicBezTo>
                  <a:pt x="30" y="34"/>
                  <a:pt x="30" y="34"/>
                  <a:pt x="30" y="34"/>
                </a:cubicBezTo>
                <a:cubicBezTo>
                  <a:pt x="27" y="36"/>
                  <a:pt x="23" y="38"/>
                  <a:pt x="19" y="38"/>
                </a:cubicBezTo>
                <a:cubicBezTo>
                  <a:pt x="9" y="38"/>
                  <a:pt x="0" y="29"/>
                  <a:pt x="0" y="19"/>
                </a:cubicBezTo>
                <a:cubicBezTo>
                  <a:pt x="0" y="8"/>
                  <a:pt x="9" y="0"/>
                  <a:pt x="19" y="0"/>
                </a:cubicBezTo>
                <a:cubicBezTo>
                  <a:pt x="30" y="0"/>
                  <a:pt x="38" y="8"/>
                  <a:pt x="38" y="19"/>
                </a:cubicBezTo>
                <a:cubicBezTo>
                  <a:pt x="38" y="23"/>
                  <a:pt x="37" y="26"/>
                  <a:pt x="35" y="29"/>
                </a:cubicBezTo>
                <a:cubicBezTo>
                  <a:pt x="44" y="39"/>
                  <a:pt x="44" y="39"/>
                  <a:pt x="44" y="39"/>
                </a:cubicBezTo>
                <a:cubicBezTo>
                  <a:pt x="45" y="39"/>
                  <a:pt x="45" y="40"/>
                  <a:pt x="45" y="41"/>
                </a:cubicBezTo>
                <a:cubicBezTo>
                  <a:pt x="45" y="43"/>
                  <a:pt x="44" y="44"/>
                  <a:pt x="42" y="44"/>
                </a:cubicBezTo>
                <a:close/>
                <a:moveTo>
                  <a:pt x="19" y="7"/>
                </a:moveTo>
                <a:cubicBezTo>
                  <a:pt x="13" y="7"/>
                  <a:pt x="7" y="12"/>
                  <a:pt x="7" y="19"/>
                </a:cubicBezTo>
                <a:cubicBezTo>
                  <a:pt x="7" y="25"/>
                  <a:pt x="13" y="31"/>
                  <a:pt x="19" y="31"/>
                </a:cubicBezTo>
                <a:cubicBezTo>
                  <a:pt x="26" y="31"/>
                  <a:pt x="31" y="25"/>
                  <a:pt x="31" y="19"/>
                </a:cubicBezTo>
                <a:cubicBezTo>
                  <a:pt x="31" y="12"/>
                  <a:pt x="26" y="7"/>
                  <a:pt x="19" y="7"/>
                </a:cubicBezTo>
                <a:close/>
                <a:moveTo>
                  <a:pt x="28" y="20"/>
                </a:moveTo>
                <a:cubicBezTo>
                  <a:pt x="28" y="20"/>
                  <a:pt x="27" y="20"/>
                  <a:pt x="27" y="20"/>
                </a:cubicBezTo>
                <a:cubicBezTo>
                  <a:pt x="12" y="20"/>
                  <a:pt x="12" y="20"/>
                  <a:pt x="12" y="20"/>
                </a:cubicBezTo>
                <a:cubicBezTo>
                  <a:pt x="11" y="20"/>
                  <a:pt x="11" y="20"/>
                  <a:pt x="11" y="20"/>
                </a:cubicBezTo>
                <a:cubicBezTo>
                  <a:pt x="11" y="18"/>
                  <a:pt x="11" y="18"/>
                  <a:pt x="11" y="18"/>
                </a:cubicBezTo>
                <a:cubicBezTo>
                  <a:pt x="11" y="17"/>
                  <a:pt x="11" y="17"/>
                  <a:pt x="12" y="17"/>
                </a:cubicBezTo>
                <a:cubicBezTo>
                  <a:pt x="27" y="17"/>
                  <a:pt x="27" y="17"/>
                  <a:pt x="27" y="17"/>
                </a:cubicBezTo>
                <a:cubicBezTo>
                  <a:pt x="27" y="17"/>
                  <a:pt x="28" y="17"/>
                  <a:pt x="28" y="18"/>
                </a:cubicBezTo>
                <a:lnTo>
                  <a:pt x="28" y="20"/>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8" name="Freeform 372"/>
          <p:cNvSpPr>
            <a:spLocks noEditPoints="1"/>
          </p:cNvSpPr>
          <p:nvPr userDrawn="1"/>
        </p:nvSpPr>
        <p:spPr bwMode="auto">
          <a:xfrm>
            <a:off x="7121199" y="2629528"/>
            <a:ext cx="227789" cy="227789"/>
          </a:xfrm>
          <a:custGeom>
            <a:avLst/>
            <a:gdLst>
              <a:gd name="T0" fmla="*/ 41 w 41"/>
              <a:gd name="T1" fmla="*/ 34 h 41"/>
              <a:gd name="T2" fmla="*/ 33 w 41"/>
              <a:gd name="T3" fmla="*/ 41 h 41"/>
              <a:gd name="T4" fmla="*/ 7 w 41"/>
              <a:gd name="T5" fmla="*/ 41 h 41"/>
              <a:gd name="T6" fmla="*/ 0 w 41"/>
              <a:gd name="T7" fmla="*/ 34 h 41"/>
              <a:gd name="T8" fmla="*/ 0 w 41"/>
              <a:gd name="T9" fmla="*/ 8 h 41"/>
              <a:gd name="T10" fmla="*/ 7 w 41"/>
              <a:gd name="T11" fmla="*/ 0 h 41"/>
              <a:gd name="T12" fmla="*/ 33 w 41"/>
              <a:gd name="T13" fmla="*/ 0 h 41"/>
              <a:gd name="T14" fmla="*/ 41 w 41"/>
              <a:gd name="T15" fmla="*/ 8 h 41"/>
              <a:gd name="T16" fmla="*/ 41 w 41"/>
              <a:gd name="T17" fmla="*/ 34 h 41"/>
              <a:gd name="T18" fmla="*/ 28 w 41"/>
              <a:gd name="T19" fmla="*/ 23 h 41"/>
              <a:gd name="T20" fmla="*/ 24 w 41"/>
              <a:gd name="T21" fmla="*/ 24 h 41"/>
              <a:gd name="T22" fmla="*/ 18 w 41"/>
              <a:gd name="T23" fmla="*/ 21 h 41"/>
              <a:gd name="T24" fmla="*/ 18 w 41"/>
              <a:gd name="T25" fmla="*/ 21 h 41"/>
              <a:gd name="T26" fmla="*/ 18 w 41"/>
              <a:gd name="T27" fmla="*/ 20 h 41"/>
              <a:gd name="T28" fmla="*/ 24 w 41"/>
              <a:gd name="T29" fmla="*/ 17 h 41"/>
              <a:gd name="T30" fmla="*/ 28 w 41"/>
              <a:gd name="T31" fmla="*/ 18 h 41"/>
              <a:gd name="T32" fmla="*/ 34 w 41"/>
              <a:gd name="T33" fmla="*/ 13 h 41"/>
              <a:gd name="T34" fmla="*/ 28 w 41"/>
              <a:gd name="T35" fmla="*/ 7 h 41"/>
              <a:gd name="T36" fmla="*/ 23 w 41"/>
              <a:gd name="T37" fmla="*/ 13 h 41"/>
              <a:gd name="T38" fmla="*/ 23 w 41"/>
              <a:gd name="T39" fmla="*/ 13 h 41"/>
              <a:gd name="T40" fmla="*/ 16 w 41"/>
              <a:gd name="T41" fmla="*/ 16 h 41"/>
              <a:gd name="T42" fmla="*/ 12 w 41"/>
              <a:gd name="T43" fmla="*/ 15 h 41"/>
              <a:gd name="T44" fmla="*/ 7 w 41"/>
              <a:gd name="T45" fmla="*/ 21 h 41"/>
              <a:gd name="T46" fmla="*/ 12 w 41"/>
              <a:gd name="T47" fmla="*/ 26 h 41"/>
              <a:gd name="T48" fmla="*/ 16 w 41"/>
              <a:gd name="T49" fmla="*/ 25 h 41"/>
              <a:gd name="T50" fmla="*/ 23 w 41"/>
              <a:gd name="T51" fmla="*/ 28 h 41"/>
              <a:gd name="T52" fmla="*/ 23 w 41"/>
              <a:gd name="T53" fmla="*/ 29 h 41"/>
              <a:gd name="T54" fmla="*/ 28 w 41"/>
              <a:gd name="T55" fmla="*/ 34 h 41"/>
              <a:gd name="T56" fmla="*/ 34 w 41"/>
              <a:gd name="T57" fmla="*/ 29 h 41"/>
              <a:gd name="T58" fmla="*/ 28 w 41"/>
              <a:gd name="T59" fmla="*/ 2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41">
                <a:moveTo>
                  <a:pt x="41" y="34"/>
                </a:moveTo>
                <a:cubicBezTo>
                  <a:pt x="41" y="38"/>
                  <a:pt x="37" y="41"/>
                  <a:pt x="33" y="41"/>
                </a:cubicBezTo>
                <a:cubicBezTo>
                  <a:pt x="7" y="41"/>
                  <a:pt x="7" y="41"/>
                  <a:pt x="7" y="41"/>
                </a:cubicBezTo>
                <a:cubicBezTo>
                  <a:pt x="3" y="41"/>
                  <a:pt x="0" y="38"/>
                  <a:pt x="0" y="34"/>
                </a:cubicBezTo>
                <a:cubicBezTo>
                  <a:pt x="0" y="8"/>
                  <a:pt x="0" y="8"/>
                  <a:pt x="0" y="8"/>
                </a:cubicBezTo>
                <a:cubicBezTo>
                  <a:pt x="0" y="4"/>
                  <a:pt x="3" y="0"/>
                  <a:pt x="7" y="0"/>
                </a:cubicBezTo>
                <a:cubicBezTo>
                  <a:pt x="33" y="0"/>
                  <a:pt x="33" y="0"/>
                  <a:pt x="33" y="0"/>
                </a:cubicBezTo>
                <a:cubicBezTo>
                  <a:pt x="37" y="0"/>
                  <a:pt x="41" y="4"/>
                  <a:pt x="41" y="8"/>
                </a:cubicBezTo>
                <a:lnTo>
                  <a:pt x="41" y="34"/>
                </a:lnTo>
                <a:close/>
                <a:moveTo>
                  <a:pt x="28" y="23"/>
                </a:moveTo>
                <a:cubicBezTo>
                  <a:pt x="27" y="23"/>
                  <a:pt x="25" y="24"/>
                  <a:pt x="24" y="24"/>
                </a:cubicBezTo>
                <a:cubicBezTo>
                  <a:pt x="18" y="21"/>
                  <a:pt x="18" y="21"/>
                  <a:pt x="18" y="21"/>
                </a:cubicBezTo>
                <a:cubicBezTo>
                  <a:pt x="18" y="21"/>
                  <a:pt x="18" y="21"/>
                  <a:pt x="18" y="21"/>
                </a:cubicBezTo>
                <a:cubicBezTo>
                  <a:pt x="18" y="20"/>
                  <a:pt x="18" y="20"/>
                  <a:pt x="18" y="20"/>
                </a:cubicBezTo>
                <a:cubicBezTo>
                  <a:pt x="24" y="17"/>
                  <a:pt x="24" y="17"/>
                  <a:pt x="24" y="17"/>
                </a:cubicBezTo>
                <a:cubicBezTo>
                  <a:pt x="25" y="18"/>
                  <a:pt x="27" y="18"/>
                  <a:pt x="28" y="18"/>
                </a:cubicBezTo>
                <a:cubicBezTo>
                  <a:pt x="31" y="18"/>
                  <a:pt x="34" y="16"/>
                  <a:pt x="34" y="13"/>
                </a:cubicBezTo>
                <a:cubicBezTo>
                  <a:pt x="34" y="10"/>
                  <a:pt x="31" y="7"/>
                  <a:pt x="28" y="7"/>
                </a:cubicBezTo>
                <a:cubicBezTo>
                  <a:pt x="25" y="7"/>
                  <a:pt x="23" y="10"/>
                  <a:pt x="23" y="13"/>
                </a:cubicBezTo>
                <a:cubicBezTo>
                  <a:pt x="23" y="13"/>
                  <a:pt x="23" y="13"/>
                  <a:pt x="23" y="13"/>
                </a:cubicBezTo>
                <a:cubicBezTo>
                  <a:pt x="16" y="16"/>
                  <a:pt x="16" y="16"/>
                  <a:pt x="16" y="16"/>
                </a:cubicBezTo>
                <a:cubicBezTo>
                  <a:pt x="15" y="16"/>
                  <a:pt x="14" y="15"/>
                  <a:pt x="12" y="15"/>
                </a:cubicBezTo>
                <a:cubicBezTo>
                  <a:pt x="9" y="15"/>
                  <a:pt x="7" y="17"/>
                  <a:pt x="7" y="21"/>
                </a:cubicBezTo>
                <a:cubicBezTo>
                  <a:pt x="7" y="24"/>
                  <a:pt x="9" y="26"/>
                  <a:pt x="12" y="26"/>
                </a:cubicBezTo>
                <a:cubicBezTo>
                  <a:pt x="14" y="26"/>
                  <a:pt x="15" y="26"/>
                  <a:pt x="16" y="25"/>
                </a:cubicBezTo>
                <a:cubicBezTo>
                  <a:pt x="23" y="28"/>
                  <a:pt x="23" y="28"/>
                  <a:pt x="23" y="28"/>
                </a:cubicBezTo>
                <a:cubicBezTo>
                  <a:pt x="23" y="28"/>
                  <a:pt x="23" y="28"/>
                  <a:pt x="23" y="29"/>
                </a:cubicBezTo>
                <a:cubicBezTo>
                  <a:pt x="23" y="32"/>
                  <a:pt x="25" y="34"/>
                  <a:pt x="28" y="34"/>
                </a:cubicBezTo>
                <a:cubicBezTo>
                  <a:pt x="31" y="34"/>
                  <a:pt x="34" y="32"/>
                  <a:pt x="34" y="29"/>
                </a:cubicBezTo>
                <a:cubicBezTo>
                  <a:pt x="34" y="26"/>
                  <a:pt x="31" y="23"/>
                  <a:pt x="28" y="23"/>
                </a:cubicBez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0" name="Freeform 374"/>
          <p:cNvSpPr>
            <a:spLocks noEditPoints="1"/>
          </p:cNvSpPr>
          <p:nvPr userDrawn="1"/>
        </p:nvSpPr>
        <p:spPr bwMode="auto">
          <a:xfrm>
            <a:off x="8488546" y="1683907"/>
            <a:ext cx="248922" cy="227788"/>
          </a:xfrm>
          <a:custGeom>
            <a:avLst/>
            <a:gdLst>
              <a:gd name="T0" fmla="*/ 38 w 45"/>
              <a:gd name="T1" fmla="*/ 33 h 41"/>
              <a:gd name="T2" fmla="*/ 30 w 45"/>
              <a:gd name="T3" fmla="*/ 41 h 41"/>
              <a:gd name="T4" fmla="*/ 8 w 45"/>
              <a:gd name="T5" fmla="*/ 41 h 41"/>
              <a:gd name="T6" fmla="*/ 0 w 45"/>
              <a:gd name="T7" fmla="*/ 33 h 41"/>
              <a:gd name="T8" fmla="*/ 0 w 45"/>
              <a:gd name="T9" fmla="*/ 11 h 41"/>
              <a:gd name="T10" fmla="*/ 8 w 45"/>
              <a:gd name="T11" fmla="*/ 3 h 41"/>
              <a:gd name="T12" fmla="*/ 15 w 45"/>
              <a:gd name="T13" fmla="*/ 3 h 41"/>
              <a:gd name="T14" fmla="*/ 15 w 45"/>
              <a:gd name="T15" fmla="*/ 4 h 41"/>
              <a:gd name="T16" fmla="*/ 15 w 45"/>
              <a:gd name="T17" fmla="*/ 5 h 41"/>
              <a:gd name="T18" fmla="*/ 11 w 45"/>
              <a:gd name="T19" fmla="*/ 7 h 41"/>
              <a:gd name="T20" fmla="*/ 11 w 45"/>
              <a:gd name="T21" fmla="*/ 7 h 41"/>
              <a:gd name="T22" fmla="*/ 8 w 45"/>
              <a:gd name="T23" fmla="*/ 7 h 41"/>
              <a:gd name="T24" fmla="*/ 3 w 45"/>
              <a:gd name="T25" fmla="*/ 11 h 41"/>
              <a:gd name="T26" fmla="*/ 3 w 45"/>
              <a:gd name="T27" fmla="*/ 33 h 41"/>
              <a:gd name="T28" fmla="*/ 8 w 45"/>
              <a:gd name="T29" fmla="*/ 38 h 41"/>
              <a:gd name="T30" fmla="*/ 30 w 45"/>
              <a:gd name="T31" fmla="*/ 38 h 41"/>
              <a:gd name="T32" fmla="*/ 34 w 45"/>
              <a:gd name="T33" fmla="*/ 33 h 41"/>
              <a:gd name="T34" fmla="*/ 34 w 45"/>
              <a:gd name="T35" fmla="*/ 28 h 41"/>
              <a:gd name="T36" fmla="*/ 35 w 45"/>
              <a:gd name="T37" fmla="*/ 27 h 41"/>
              <a:gd name="T38" fmla="*/ 36 w 45"/>
              <a:gd name="T39" fmla="*/ 26 h 41"/>
              <a:gd name="T40" fmla="*/ 37 w 45"/>
              <a:gd name="T41" fmla="*/ 26 h 41"/>
              <a:gd name="T42" fmla="*/ 38 w 45"/>
              <a:gd name="T43" fmla="*/ 26 h 41"/>
              <a:gd name="T44" fmla="*/ 38 w 45"/>
              <a:gd name="T45" fmla="*/ 33 h 41"/>
              <a:gd name="T46" fmla="*/ 34 w 45"/>
              <a:gd name="T47" fmla="*/ 23 h 41"/>
              <a:gd name="T48" fmla="*/ 33 w 45"/>
              <a:gd name="T49" fmla="*/ 24 h 41"/>
              <a:gd name="T50" fmla="*/ 32 w 45"/>
              <a:gd name="T51" fmla="*/ 24 h 41"/>
              <a:gd name="T52" fmla="*/ 31 w 45"/>
              <a:gd name="T53" fmla="*/ 22 h 41"/>
              <a:gd name="T54" fmla="*/ 31 w 45"/>
              <a:gd name="T55" fmla="*/ 17 h 41"/>
              <a:gd name="T56" fmla="*/ 27 w 45"/>
              <a:gd name="T57" fmla="*/ 17 h 41"/>
              <a:gd name="T58" fmla="*/ 15 w 45"/>
              <a:gd name="T59" fmla="*/ 21 h 41"/>
              <a:gd name="T60" fmla="*/ 13 w 45"/>
              <a:gd name="T61" fmla="*/ 33 h 41"/>
              <a:gd name="T62" fmla="*/ 12 w 45"/>
              <a:gd name="T63" fmla="*/ 34 h 41"/>
              <a:gd name="T64" fmla="*/ 12 w 45"/>
              <a:gd name="T65" fmla="*/ 34 h 41"/>
              <a:gd name="T66" fmla="*/ 11 w 45"/>
              <a:gd name="T67" fmla="*/ 34 h 41"/>
              <a:gd name="T68" fmla="*/ 7 w 45"/>
              <a:gd name="T69" fmla="*/ 22 h 41"/>
              <a:gd name="T70" fmla="*/ 27 w 45"/>
              <a:gd name="T71" fmla="*/ 7 h 41"/>
              <a:gd name="T72" fmla="*/ 31 w 45"/>
              <a:gd name="T73" fmla="*/ 7 h 41"/>
              <a:gd name="T74" fmla="*/ 31 w 45"/>
              <a:gd name="T75" fmla="*/ 2 h 41"/>
              <a:gd name="T76" fmla="*/ 32 w 45"/>
              <a:gd name="T77" fmla="*/ 0 h 41"/>
              <a:gd name="T78" fmla="*/ 33 w 45"/>
              <a:gd name="T79" fmla="*/ 0 h 41"/>
              <a:gd name="T80" fmla="*/ 34 w 45"/>
              <a:gd name="T81" fmla="*/ 0 h 41"/>
              <a:gd name="T82" fmla="*/ 44 w 45"/>
              <a:gd name="T83" fmla="*/ 11 h 41"/>
              <a:gd name="T84" fmla="*/ 44 w 45"/>
              <a:gd name="T85" fmla="*/ 13 h 41"/>
              <a:gd name="T86" fmla="*/ 34 w 45"/>
              <a:gd name="T87" fmla="*/ 2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5" h="41">
                <a:moveTo>
                  <a:pt x="38" y="33"/>
                </a:moveTo>
                <a:cubicBezTo>
                  <a:pt x="38" y="38"/>
                  <a:pt x="34" y="41"/>
                  <a:pt x="30" y="41"/>
                </a:cubicBezTo>
                <a:cubicBezTo>
                  <a:pt x="8" y="41"/>
                  <a:pt x="8" y="41"/>
                  <a:pt x="8" y="41"/>
                </a:cubicBezTo>
                <a:cubicBezTo>
                  <a:pt x="3" y="41"/>
                  <a:pt x="0" y="38"/>
                  <a:pt x="0" y="33"/>
                </a:cubicBezTo>
                <a:cubicBezTo>
                  <a:pt x="0" y="11"/>
                  <a:pt x="0" y="11"/>
                  <a:pt x="0" y="11"/>
                </a:cubicBezTo>
                <a:cubicBezTo>
                  <a:pt x="0" y="7"/>
                  <a:pt x="3" y="3"/>
                  <a:pt x="8" y="3"/>
                </a:cubicBezTo>
                <a:cubicBezTo>
                  <a:pt x="15" y="3"/>
                  <a:pt x="15" y="3"/>
                  <a:pt x="15" y="3"/>
                </a:cubicBezTo>
                <a:cubicBezTo>
                  <a:pt x="15" y="3"/>
                  <a:pt x="15" y="4"/>
                  <a:pt x="15" y="4"/>
                </a:cubicBezTo>
                <a:cubicBezTo>
                  <a:pt x="15" y="5"/>
                  <a:pt x="15" y="5"/>
                  <a:pt x="15" y="5"/>
                </a:cubicBezTo>
                <a:cubicBezTo>
                  <a:pt x="13" y="5"/>
                  <a:pt x="12" y="6"/>
                  <a:pt x="11" y="7"/>
                </a:cubicBezTo>
                <a:cubicBezTo>
                  <a:pt x="11" y="7"/>
                  <a:pt x="11" y="7"/>
                  <a:pt x="11" y="7"/>
                </a:cubicBezTo>
                <a:cubicBezTo>
                  <a:pt x="8" y="7"/>
                  <a:pt x="8" y="7"/>
                  <a:pt x="8" y="7"/>
                </a:cubicBezTo>
                <a:cubicBezTo>
                  <a:pt x="5" y="7"/>
                  <a:pt x="3" y="9"/>
                  <a:pt x="3" y="11"/>
                </a:cubicBezTo>
                <a:cubicBezTo>
                  <a:pt x="3" y="33"/>
                  <a:pt x="3" y="33"/>
                  <a:pt x="3" y="33"/>
                </a:cubicBezTo>
                <a:cubicBezTo>
                  <a:pt x="3" y="36"/>
                  <a:pt x="5" y="38"/>
                  <a:pt x="8" y="38"/>
                </a:cubicBezTo>
                <a:cubicBezTo>
                  <a:pt x="30" y="38"/>
                  <a:pt x="30" y="38"/>
                  <a:pt x="30" y="38"/>
                </a:cubicBezTo>
                <a:cubicBezTo>
                  <a:pt x="32" y="38"/>
                  <a:pt x="34" y="36"/>
                  <a:pt x="34" y="33"/>
                </a:cubicBezTo>
                <a:cubicBezTo>
                  <a:pt x="34" y="28"/>
                  <a:pt x="34" y="28"/>
                  <a:pt x="34" y="28"/>
                </a:cubicBezTo>
                <a:cubicBezTo>
                  <a:pt x="34" y="27"/>
                  <a:pt x="34" y="27"/>
                  <a:pt x="35" y="27"/>
                </a:cubicBezTo>
                <a:cubicBezTo>
                  <a:pt x="35" y="27"/>
                  <a:pt x="36" y="26"/>
                  <a:pt x="36" y="26"/>
                </a:cubicBezTo>
                <a:cubicBezTo>
                  <a:pt x="36" y="26"/>
                  <a:pt x="37" y="25"/>
                  <a:pt x="37" y="26"/>
                </a:cubicBezTo>
                <a:cubicBezTo>
                  <a:pt x="37" y="26"/>
                  <a:pt x="38" y="26"/>
                  <a:pt x="38" y="26"/>
                </a:cubicBezTo>
                <a:lnTo>
                  <a:pt x="38" y="33"/>
                </a:lnTo>
                <a:close/>
                <a:moveTo>
                  <a:pt x="34" y="23"/>
                </a:moveTo>
                <a:cubicBezTo>
                  <a:pt x="33" y="24"/>
                  <a:pt x="33" y="24"/>
                  <a:pt x="33" y="24"/>
                </a:cubicBezTo>
                <a:cubicBezTo>
                  <a:pt x="32" y="24"/>
                  <a:pt x="32" y="24"/>
                  <a:pt x="32" y="24"/>
                </a:cubicBezTo>
                <a:cubicBezTo>
                  <a:pt x="31" y="23"/>
                  <a:pt x="31" y="23"/>
                  <a:pt x="31" y="22"/>
                </a:cubicBezTo>
                <a:cubicBezTo>
                  <a:pt x="31" y="17"/>
                  <a:pt x="31" y="17"/>
                  <a:pt x="31" y="17"/>
                </a:cubicBezTo>
                <a:cubicBezTo>
                  <a:pt x="27" y="17"/>
                  <a:pt x="27" y="17"/>
                  <a:pt x="27" y="17"/>
                </a:cubicBezTo>
                <a:cubicBezTo>
                  <a:pt x="21" y="17"/>
                  <a:pt x="17" y="18"/>
                  <a:pt x="15" y="21"/>
                </a:cubicBezTo>
                <a:cubicBezTo>
                  <a:pt x="13" y="23"/>
                  <a:pt x="12" y="27"/>
                  <a:pt x="13" y="33"/>
                </a:cubicBezTo>
                <a:cubicBezTo>
                  <a:pt x="13" y="34"/>
                  <a:pt x="13" y="34"/>
                  <a:pt x="12" y="34"/>
                </a:cubicBezTo>
                <a:cubicBezTo>
                  <a:pt x="12" y="34"/>
                  <a:pt x="12" y="34"/>
                  <a:pt x="12" y="34"/>
                </a:cubicBezTo>
                <a:cubicBezTo>
                  <a:pt x="12" y="34"/>
                  <a:pt x="11" y="34"/>
                  <a:pt x="11" y="34"/>
                </a:cubicBezTo>
                <a:cubicBezTo>
                  <a:pt x="11" y="34"/>
                  <a:pt x="7" y="27"/>
                  <a:pt x="7" y="22"/>
                </a:cubicBezTo>
                <a:cubicBezTo>
                  <a:pt x="7" y="15"/>
                  <a:pt x="9" y="7"/>
                  <a:pt x="27" y="7"/>
                </a:cubicBezTo>
                <a:cubicBezTo>
                  <a:pt x="31" y="7"/>
                  <a:pt x="31" y="7"/>
                  <a:pt x="31" y="7"/>
                </a:cubicBezTo>
                <a:cubicBezTo>
                  <a:pt x="31" y="2"/>
                  <a:pt x="31" y="2"/>
                  <a:pt x="31" y="2"/>
                </a:cubicBezTo>
                <a:cubicBezTo>
                  <a:pt x="31" y="1"/>
                  <a:pt x="31" y="0"/>
                  <a:pt x="32" y="0"/>
                </a:cubicBezTo>
                <a:cubicBezTo>
                  <a:pt x="32" y="0"/>
                  <a:pt x="32" y="0"/>
                  <a:pt x="33" y="0"/>
                </a:cubicBezTo>
                <a:cubicBezTo>
                  <a:pt x="33" y="0"/>
                  <a:pt x="33" y="0"/>
                  <a:pt x="34" y="0"/>
                </a:cubicBezTo>
                <a:cubicBezTo>
                  <a:pt x="44" y="11"/>
                  <a:pt x="44" y="11"/>
                  <a:pt x="44" y="11"/>
                </a:cubicBezTo>
                <a:cubicBezTo>
                  <a:pt x="45" y="11"/>
                  <a:pt x="45" y="12"/>
                  <a:pt x="44" y="13"/>
                </a:cubicBezTo>
                <a:lnTo>
                  <a:pt x="34" y="23"/>
                </a:ln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Freeform 398"/>
          <p:cNvSpPr>
            <a:spLocks noEditPoints="1"/>
          </p:cNvSpPr>
          <p:nvPr userDrawn="1"/>
        </p:nvSpPr>
        <p:spPr bwMode="auto">
          <a:xfrm>
            <a:off x="706822" y="2635749"/>
            <a:ext cx="227789" cy="232485"/>
          </a:xfrm>
          <a:custGeom>
            <a:avLst/>
            <a:gdLst>
              <a:gd name="T0" fmla="*/ 4 w 41"/>
              <a:gd name="T1" fmla="*/ 26 h 42"/>
              <a:gd name="T2" fmla="*/ 0 w 41"/>
              <a:gd name="T3" fmla="*/ 22 h 42"/>
              <a:gd name="T4" fmla="*/ 4 w 41"/>
              <a:gd name="T5" fmla="*/ 18 h 42"/>
              <a:gd name="T6" fmla="*/ 8 w 41"/>
              <a:gd name="T7" fmla="*/ 22 h 42"/>
              <a:gd name="T8" fmla="*/ 4 w 41"/>
              <a:gd name="T9" fmla="*/ 26 h 42"/>
              <a:gd name="T10" fmla="*/ 9 w 41"/>
              <a:gd name="T11" fmla="*/ 15 h 42"/>
              <a:gd name="T12" fmla="*/ 5 w 41"/>
              <a:gd name="T13" fmla="*/ 10 h 42"/>
              <a:gd name="T14" fmla="*/ 9 w 41"/>
              <a:gd name="T15" fmla="*/ 5 h 42"/>
              <a:gd name="T16" fmla="*/ 14 w 41"/>
              <a:gd name="T17" fmla="*/ 10 h 42"/>
              <a:gd name="T18" fmla="*/ 9 w 41"/>
              <a:gd name="T19" fmla="*/ 15 h 42"/>
              <a:gd name="T20" fmla="*/ 9 w 41"/>
              <a:gd name="T21" fmla="*/ 38 h 42"/>
              <a:gd name="T22" fmla="*/ 5 w 41"/>
              <a:gd name="T23" fmla="*/ 34 h 42"/>
              <a:gd name="T24" fmla="*/ 9 w 41"/>
              <a:gd name="T25" fmla="*/ 30 h 42"/>
              <a:gd name="T26" fmla="*/ 13 w 41"/>
              <a:gd name="T27" fmla="*/ 34 h 42"/>
              <a:gd name="T28" fmla="*/ 9 w 41"/>
              <a:gd name="T29" fmla="*/ 38 h 42"/>
              <a:gd name="T30" fmla="*/ 21 w 41"/>
              <a:gd name="T31" fmla="*/ 10 h 42"/>
              <a:gd name="T32" fmla="*/ 16 w 41"/>
              <a:gd name="T33" fmla="*/ 5 h 42"/>
              <a:gd name="T34" fmla="*/ 21 w 41"/>
              <a:gd name="T35" fmla="*/ 0 h 42"/>
              <a:gd name="T36" fmla="*/ 26 w 41"/>
              <a:gd name="T37" fmla="*/ 5 h 42"/>
              <a:gd name="T38" fmla="*/ 21 w 41"/>
              <a:gd name="T39" fmla="*/ 10 h 42"/>
              <a:gd name="T40" fmla="*/ 21 w 41"/>
              <a:gd name="T41" fmla="*/ 42 h 42"/>
              <a:gd name="T42" fmla="*/ 18 w 41"/>
              <a:gd name="T43" fmla="*/ 39 h 42"/>
              <a:gd name="T44" fmla="*/ 21 w 41"/>
              <a:gd name="T45" fmla="*/ 36 h 42"/>
              <a:gd name="T46" fmla="*/ 25 w 41"/>
              <a:gd name="T47" fmla="*/ 39 h 42"/>
              <a:gd name="T48" fmla="*/ 21 w 41"/>
              <a:gd name="T49" fmla="*/ 42 h 42"/>
              <a:gd name="T50" fmla="*/ 33 w 41"/>
              <a:gd name="T51" fmla="*/ 37 h 42"/>
              <a:gd name="T52" fmla="*/ 30 w 41"/>
              <a:gd name="T53" fmla="*/ 34 h 42"/>
              <a:gd name="T54" fmla="*/ 33 w 41"/>
              <a:gd name="T55" fmla="*/ 31 h 42"/>
              <a:gd name="T56" fmla="*/ 36 w 41"/>
              <a:gd name="T57" fmla="*/ 34 h 42"/>
              <a:gd name="T58" fmla="*/ 33 w 41"/>
              <a:gd name="T59" fmla="*/ 37 h 42"/>
              <a:gd name="T60" fmla="*/ 33 w 41"/>
              <a:gd name="T61" fmla="*/ 12 h 42"/>
              <a:gd name="T62" fmla="*/ 31 w 41"/>
              <a:gd name="T63" fmla="*/ 10 h 42"/>
              <a:gd name="T64" fmla="*/ 33 w 41"/>
              <a:gd name="T65" fmla="*/ 8 h 42"/>
              <a:gd name="T66" fmla="*/ 35 w 41"/>
              <a:gd name="T67" fmla="*/ 10 h 42"/>
              <a:gd name="T68" fmla="*/ 33 w 41"/>
              <a:gd name="T69" fmla="*/ 12 h 42"/>
              <a:gd name="T70" fmla="*/ 38 w 41"/>
              <a:gd name="T71" fmla="*/ 24 h 42"/>
              <a:gd name="T72" fmla="*/ 36 w 41"/>
              <a:gd name="T73" fmla="*/ 22 h 42"/>
              <a:gd name="T74" fmla="*/ 38 w 41"/>
              <a:gd name="T75" fmla="*/ 19 h 42"/>
              <a:gd name="T76" fmla="*/ 41 w 41"/>
              <a:gd name="T77" fmla="*/ 22 h 42"/>
              <a:gd name="T78" fmla="*/ 38 w 41"/>
              <a:gd name="T79" fmla="*/ 2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 h="42">
                <a:moveTo>
                  <a:pt x="4" y="26"/>
                </a:moveTo>
                <a:cubicBezTo>
                  <a:pt x="2" y="26"/>
                  <a:pt x="0" y="24"/>
                  <a:pt x="0" y="22"/>
                </a:cubicBezTo>
                <a:cubicBezTo>
                  <a:pt x="0" y="19"/>
                  <a:pt x="2" y="18"/>
                  <a:pt x="4" y="18"/>
                </a:cubicBezTo>
                <a:cubicBezTo>
                  <a:pt x="7" y="18"/>
                  <a:pt x="8" y="19"/>
                  <a:pt x="8" y="22"/>
                </a:cubicBezTo>
                <a:cubicBezTo>
                  <a:pt x="8" y="24"/>
                  <a:pt x="7" y="26"/>
                  <a:pt x="4" y="26"/>
                </a:cubicBezTo>
                <a:close/>
                <a:moveTo>
                  <a:pt x="9" y="15"/>
                </a:moveTo>
                <a:cubicBezTo>
                  <a:pt x="7" y="15"/>
                  <a:pt x="5" y="12"/>
                  <a:pt x="5" y="10"/>
                </a:cubicBezTo>
                <a:cubicBezTo>
                  <a:pt x="5" y="7"/>
                  <a:pt x="7" y="5"/>
                  <a:pt x="9" y="5"/>
                </a:cubicBezTo>
                <a:cubicBezTo>
                  <a:pt x="12" y="5"/>
                  <a:pt x="14" y="7"/>
                  <a:pt x="14" y="10"/>
                </a:cubicBezTo>
                <a:cubicBezTo>
                  <a:pt x="14" y="12"/>
                  <a:pt x="12" y="15"/>
                  <a:pt x="9" y="15"/>
                </a:cubicBezTo>
                <a:close/>
                <a:moveTo>
                  <a:pt x="9" y="38"/>
                </a:moveTo>
                <a:cubicBezTo>
                  <a:pt x="7" y="38"/>
                  <a:pt x="5" y="36"/>
                  <a:pt x="5" y="34"/>
                </a:cubicBezTo>
                <a:cubicBezTo>
                  <a:pt x="5" y="32"/>
                  <a:pt x="7" y="30"/>
                  <a:pt x="9" y="30"/>
                </a:cubicBezTo>
                <a:cubicBezTo>
                  <a:pt x="11" y="30"/>
                  <a:pt x="13" y="32"/>
                  <a:pt x="13" y="34"/>
                </a:cubicBezTo>
                <a:cubicBezTo>
                  <a:pt x="13" y="36"/>
                  <a:pt x="11" y="38"/>
                  <a:pt x="9" y="38"/>
                </a:cubicBezTo>
                <a:close/>
                <a:moveTo>
                  <a:pt x="21" y="10"/>
                </a:moveTo>
                <a:cubicBezTo>
                  <a:pt x="18" y="10"/>
                  <a:pt x="16" y="8"/>
                  <a:pt x="16" y="5"/>
                </a:cubicBezTo>
                <a:cubicBezTo>
                  <a:pt x="16" y="2"/>
                  <a:pt x="18" y="0"/>
                  <a:pt x="21" y="0"/>
                </a:cubicBezTo>
                <a:cubicBezTo>
                  <a:pt x="24" y="0"/>
                  <a:pt x="26" y="2"/>
                  <a:pt x="26" y="5"/>
                </a:cubicBezTo>
                <a:cubicBezTo>
                  <a:pt x="26" y="8"/>
                  <a:pt x="24" y="10"/>
                  <a:pt x="21" y="10"/>
                </a:cubicBezTo>
                <a:close/>
                <a:moveTo>
                  <a:pt x="21" y="42"/>
                </a:moveTo>
                <a:cubicBezTo>
                  <a:pt x="19" y="42"/>
                  <a:pt x="18" y="41"/>
                  <a:pt x="18" y="39"/>
                </a:cubicBezTo>
                <a:cubicBezTo>
                  <a:pt x="18" y="37"/>
                  <a:pt x="19" y="36"/>
                  <a:pt x="21" y="36"/>
                </a:cubicBezTo>
                <a:cubicBezTo>
                  <a:pt x="23" y="36"/>
                  <a:pt x="25" y="37"/>
                  <a:pt x="25" y="39"/>
                </a:cubicBezTo>
                <a:cubicBezTo>
                  <a:pt x="25" y="41"/>
                  <a:pt x="23" y="42"/>
                  <a:pt x="21" y="42"/>
                </a:cubicBezTo>
                <a:close/>
                <a:moveTo>
                  <a:pt x="33" y="37"/>
                </a:moveTo>
                <a:cubicBezTo>
                  <a:pt x="32" y="37"/>
                  <a:pt x="30" y="36"/>
                  <a:pt x="30" y="34"/>
                </a:cubicBezTo>
                <a:cubicBezTo>
                  <a:pt x="30" y="32"/>
                  <a:pt x="32" y="31"/>
                  <a:pt x="33" y="31"/>
                </a:cubicBezTo>
                <a:cubicBezTo>
                  <a:pt x="35" y="31"/>
                  <a:pt x="36" y="32"/>
                  <a:pt x="36" y="34"/>
                </a:cubicBezTo>
                <a:cubicBezTo>
                  <a:pt x="36" y="36"/>
                  <a:pt x="35" y="37"/>
                  <a:pt x="33" y="37"/>
                </a:cubicBezTo>
                <a:close/>
                <a:moveTo>
                  <a:pt x="33" y="12"/>
                </a:moveTo>
                <a:cubicBezTo>
                  <a:pt x="32" y="12"/>
                  <a:pt x="31" y="11"/>
                  <a:pt x="31" y="10"/>
                </a:cubicBezTo>
                <a:cubicBezTo>
                  <a:pt x="31" y="9"/>
                  <a:pt x="32" y="8"/>
                  <a:pt x="33" y="8"/>
                </a:cubicBezTo>
                <a:cubicBezTo>
                  <a:pt x="34" y="8"/>
                  <a:pt x="35" y="9"/>
                  <a:pt x="35" y="10"/>
                </a:cubicBezTo>
                <a:cubicBezTo>
                  <a:pt x="35" y="11"/>
                  <a:pt x="34" y="12"/>
                  <a:pt x="33" y="12"/>
                </a:cubicBezTo>
                <a:close/>
                <a:moveTo>
                  <a:pt x="38" y="24"/>
                </a:moveTo>
                <a:cubicBezTo>
                  <a:pt x="37" y="24"/>
                  <a:pt x="36" y="23"/>
                  <a:pt x="36" y="22"/>
                </a:cubicBezTo>
                <a:cubicBezTo>
                  <a:pt x="36" y="20"/>
                  <a:pt x="37" y="19"/>
                  <a:pt x="38" y="19"/>
                </a:cubicBezTo>
                <a:cubicBezTo>
                  <a:pt x="40" y="19"/>
                  <a:pt x="41" y="20"/>
                  <a:pt x="41" y="22"/>
                </a:cubicBezTo>
                <a:cubicBezTo>
                  <a:pt x="41" y="23"/>
                  <a:pt x="40" y="24"/>
                  <a:pt x="38" y="24"/>
                </a:cubicBezTo>
                <a:close/>
              </a:path>
            </a:pathLst>
          </a:custGeom>
          <a:solidFill>
            <a:schemeClr val="bg2">
              <a:lumMod val="9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Tree>
    <p:extLst>
      <p:ext uri="{BB962C8B-B14F-4D97-AF65-F5344CB8AC3E}">
        <p14:creationId xmlns:p14="http://schemas.microsoft.com/office/powerpoint/2010/main" val="3760977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9F42ADB-7D30-4CDA-A166-333DE990463F}" type="datetimeFigureOut">
              <a:rPr lang="en-US" smtClean="0"/>
              <a:t>11/21/2020</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10D5614-B734-4280-8F57-1D4947433C97}" type="slidenum">
              <a:rPr lang="en-US" smtClean="0"/>
              <a:t>‹#›</a:t>
            </a:fld>
            <a:endParaRPr lang="en-US" dirty="0"/>
          </a:p>
        </p:txBody>
      </p:sp>
    </p:spTree>
    <p:extLst>
      <p:ext uri="{BB962C8B-B14F-4D97-AF65-F5344CB8AC3E}">
        <p14:creationId xmlns:p14="http://schemas.microsoft.com/office/powerpoint/2010/main" val="3502316742"/>
      </p:ext>
    </p:extLst>
  </p:cSld>
  <p:clrMap bg1="lt1" tx1="dk1" bg2="lt2" tx2="dk2" accent1="accent1" accent2="accent2" accent3="accent3" accent4="accent4" accent5="accent5" accent6="accent6" hlink="hlink" folHlink="folHlink"/>
  <p:sldLayoutIdLst>
    <p:sldLayoutId id="2147483650" r:id="rId1"/>
    <p:sldLayoutId id="2147483672" r:id="rId2"/>
    <p:sldLayoutId id="2147483663" r:id="rId3"/>
    <p:sldLayoutId id="2147483671" r:id="rId4"/>
    <p:sldLayoutId id="2147483664" r:id="rId5"/>
    <p:sldLayoutId id="2147483673" r:id="rId6"/>
    <p:sldLayoutId id="2147483670" r:id="rId7"/>
    <p:sldLayoutId id="2147483661" r:id="rId8"/>
    <p:sldLayoutId id="2147483669" r:id="rId9"/>
    <p:sldLayoutId id="2147483662" r:id="rId10"/>
  </p:sldLayoutIdLst>
  <p:txStyles>
    <p:title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tmp"/><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65CB52D8-31F9-47A3-9DDF-FF8D03E9BC61}"/>
              </a:ext>
            </a:extLst>
          </p:cNvPr>
          <p:cNvSpPr txBox="1"/>
          <p:nvPr/>
        </p:nvSpPr>
        <p:spPr>
          <a:xfrm rot="20184443">
            <a:off x="4523783" y="311826"/>
            <a:ext cx="965649" cy="707886"/>
          </a:xfrm>
          <a:prstGeom prst="rect">
            <a:avLst/>
          </a:prstGeom>
          <a:noFill/>
        </p:spPr>
        <p:txBody>
          <a:bodyPr wrap="none" rtlCol="0">
            <a:spAutoFit/>
          </a:bodyPr>
          <a:lstStyle/>
          <a:p>
            <a:r>
              <a:rPr lang="az-Cyrl-AZ" altLang="zh-CN" sz="4000" b="1" dirty="0"/>
              <a:t>Нет</a:t>
            </a:r>
            <a:endParaRPr lang="zh-CN" altLang="en-US" sz="4000" b="1" dirty="0"/>
          </a:p>
        </p:txBody>
      </p:sp>
      <p:sp>
        <p:nvSpPr>
          <p:cNvPr id="2" name="文本框 1">
            <a:extLst>
              <a:ext uri="{FF2B5EF4-FFF2-40B4-BE49-F238E27FC236}">
                <a16:creationId xmlns:a16="http://schemas.microsoft.com/office/drawing/2014/main" id="{D19153DC-FA7B-4CC4-B516-8236558A0E03}"/>
              </a:ext>
            </a:extLst>
          </p:cNvPr>
          <p:cNvSpPr txBox="1"/>
          <p:nvPr/>
        </p:nvSpPr>
        <p:spPr>
          <a:xfrm rot="20139479">
            <a:off x="6403967" y="532097"/>
            <a:ext cx="2930226" cy="707886"/>
          </a:xfrm>
          <a:prstGeom prst="rect">
            <a:avLst/>
          </a:prstGeom>
          <a:noFill/>
        </p:spPr>
        <p:txBody>
          <a:bodyPr wrap="none" rtlCol="0">
            <a:spAutoFit/>
          </a:bodyPr>
          <a:lstStyle/>
          <a:p>
            <a:r>
              <a:rPr lang="az-Cyrl-AZ" altLang="zh-CN" sz="4000" b="1" spc="-150" dirty="0">
                <a:cs typeface="Aharoni" panose="02010803020104030203" pitchFamily="2" charset="-79"/>
              </a:rPr>
              <a:t>Здравствуйте</a:t>
            </a:r>
            <a:endParaRPr lang="zh-CN" altLang="en-US" sz="4000" b="1" spc="-150" dirty="0">
              <a:latin typeface="Bauhaus 93" panose="04030905020B02020C02" pitchFamily="82" charset="0"/>
              <a:cs typeface="Aharoni" panose="02010803020104030203" pitchFamily="2" charset="-79"/>
            </a:endParaRPr>
          </a:p>
        </p:txBody>
      </p:sp>
      <p:sp>
        <p:nvSpPr>
          <p:cNvPr id="5" name="文本框 4">
            <a:extLst>
              <a:ext uri="{FF2B5EF4-FFF2-40B4-BE49-F238E27FC236}">
                <a16:creationId xmlns:a16="http://schemas.microsoft.com/office/drawing/2014/main" id="{A92EFA14-68F1-4D89-9782-CB038775A815}"/>
              </a:ext>
            </a:extLst>
          </p:cNvPr>
          <p:cNvSpPr txBox="1"/>
          <p:nvPr/>
        </p:nvSpPr>
        <p:spPr>
          <a:xfrm rot="20083684">
            <a:off x="1185780" y="210892"/>
            <a:ext cx="4808881" cy="707886"/>
          </a:xfrm>
          <a:prstGeom prst="rect">
            <a:avLst/>
          </a:prstGeom>
          <a:noFill/>
        </p:spPr>
        <p:txBody>
          <a:bodyPr wrap="none" rtlCol="0">
            <a:spAutoFit/>
          </a:bodyPr>
          <a:lstStyle/>
          <a:p>
            <a:r>
              <a:rPr lang="az-Cyrl-AZ" altLang="zh-CN" sz="4000" b="1" dirty="0"/>
              <a:t>машинное обучение</a:t>
            </a:r>
            <a:endParaRPr lang="zh-CN" altLang="en-US" sz="4000" b="1" dirty="0"/>
          </a:p>
        </p:txBody>
      </p:sp>
      <p:sp>
        <p:nvSpPr>
          <p:cNvPr id="39" name="Freeform 94"/>
          <p:cNvSpPr>
            <a:spLocks/>
          </p:cNvSpPr>
          <p:nvPr/>
        </p:nvSpPr>
        <p:spPr bwMode="auto">
          <a:xfrm>
            <a:off x="-6762" y="564835"/>
            <a:ext cx="9144000" cy="2003795"/>
          </a:xfrm>
          <a:custGeom>
            <a:avLst/>
            <a:gdLst>
              <a:gd name="T0" fmla="*/ 216 w 423"/>
              <a:gd name="T1" fmla="*/ 4 h 218"/>
              <a:gd name="T2" fmla="*/ 215 w 423"/>
              <a:gd name="T3" fmla="*/ 19 h 218"/>
              <a:gd name="T4" fmla="*/ 214 w 423"/>
              <a:gd name="T5" fmla="*/ 27 h 218"/>
              <a:gd name="T6" fmla="*/ 212 w 423"/>
              <a:gd name="T7" fmla="*/ 36 h 218"/>
              <a:gd name="T8" fmla="*/ 211 w 423"/>
              <a:gd name="T9" fmla="*/ 43 h 218"/>
              <a:gd name="T10" fmla="*/ 206 w 423"/>
              <a:gd name="T11" fmla="*/ 58 h 218"/>
              <a:gd name="T12" fmla="*/ 206 w 423"/>
              <a:gd name="T13" fmla="*/ 98 h 218"/>
              <a:gd name="T14" fmla="*/ 201 w 423"/>
              <a:gd name="T15" fmla="*/ 58 h 218"/>
              <a:gd name="T16" fmla="*/ 193 w 423"/>
              <a:gd name="T17" fmla="*/ 81 h 218"/>
              <a:gd name="T18" fmla="*/ 185 w 423"/>
              <a:gd name="T19" fmla="*/ 43 h 218"/>
              <a:gd name="T20" fmla="*/ 175 w 423"/>
              <a:gd name="T21" fmla="*/ 30 h 218"/>
              <a:gd name="T22" fmla="*/ 159 w 423"/>
              <a:gd name="T23" fmla="*/ 87 h 218"/>
              <a:gd name="T24" fmla="*/ 139 w 423"/>
              <a:gd name="T25" fmla="*/ 65 h 218"/>
              <a:gd name="T26" fmla="*/ 130 w 423"/>
              <a:gd name="T27" fmla="*/ 62 h 218"/>
              <a:gd name="T28" fmla="*/ 125 w 423"/>
              <a:gd name="T29" fmla="*/ 55 h 218"/>
              <a:gd name="T30" fmla="*/ 124 w 423"/>
              <a:gd name="T31" fmla="*/ 23 h 218"/>
              <a:gd name="T32" fmla="*/ 119 w 423"/>
              <a:gd name="T33" fmla="*/ 23 h 218"/>
              <a:gd name="T34" fmla="*/ 118 w 423"/>
              <a:gd name="T35" fmla="*/ 56 h 218"/>
              <a:gd name="T36" fmla="*/ 114 w 423"/>
              <a:gd name="T37" fmla="*/ 62 h 218"/>
              <a:gd name="T38" fmla="*/ 111 w 423"/>
              <a:gd name="T39" fmla="*/ 78 h 218"/>
              <a:gd name="T40" fmla="*/ 106 w 423"/>
              <a:gd name="T41" fmla="*/ 113 h 218"/>
              <a:gd name="T42" fmla="*/ 97 w 423"/>
              <a:gd name="T43" fmla="*/ 73 h 218"/>
              <a:gd name="T44" fmla="*/ 92 w 423"/>
              <a:gd name="T45" fmla="*/ 58 h 218"/>
              <a:gd name="T46" fmla="*/ 76 w 423"/>
              <a:gd name="T47" fmla="*/ 132 h 218"/>
              <a:gd name="T48" fmla="*/ 60 w 423"/>
              <a:gd name="T49" fmla="*/ 76 h 218"/>
              <a:gd name="T50" fmla="*/ 41 w 423"/>
              <a:gd name="T51" fmla="*/ 43 h 218"/>
              <a:gd name="T52" fmla="*/ 30 w 423"/>
              <a:gd name="T53" fmla="*/ 87 h 218"/>
              <a:gd name="T54" fmla="*/ 25 w 423"/>
              <a:gd name="T55" fmla="*/ 60 h 218"/>
              <a:gd name="T56" fmla="*/ 21 w 423"/>
              <a:gd name="T57" fmla="*/ 97 h 218"/>
              <a:gd name="T58" fmla="*/ 18 w 423"/>
              <a:gd name="T59" fmla="*/ 104 h 218"/>
              <a:gd name="T60" fmla="*/ 16 w 423"/>
              <a:gd name="T61" fmla="*/ 111 h 218"/>
              <a:gd name="T62" fmla="*/ 13 w 423"/>
              <a:gd name="T63" fmla="*/ 63 h 218"/>
              <a:gd name="T64" fmla="*/ 0 w 423"/>
              <a:gd name="T65" fmla="*/ 68 h 218"/>
              <a:gd name="T66" fmla="*/ 423 w 423"/>
              <a:gd name="T67" fmla="*/ 61 h 218"/>
              <a:gd name="T68" fmla="*/ 418 w 423"/>
              <a:gd name="T69" fmla="*/ 126 h 218"/>
              <a:gd name="T70" fmla="*/ 417 w 423"/>
              <a:gd name="T71" fmla="*/ 104 h 218"/>
              <a:gd name="T72" fmla="*/ 414 w 423"/>
              <a:gd name="T73" fmla="*/ 101 h 218"/>
              <a:gd name="T74" fmla="*/ 412 w 423"/>
              <a:gd name="T75" fmla="*/ 58 h 218"/>
              <a:gd name="T76" fmla="*/ 405 w 423"/>
              <a:gd name="T77" fmla="*/ 95 h 218"/>
              <a:gd name="T78" fmla="*/ 393 w 423"/>
              <a:gd name="T79" fmla="*/ 72 h 218"/>
              <a:gd name="T80" fmla="*/ 373 w 423"/>
              <a:gd name="T81" fmla="*/ 76 h 218"/>
              <a:gd name="T82" fmla="*/ 357 w 423"/>
              <a:gd name="T83" fmla="*/ 132 h 218"/>
              <a:gd name="T84" fmla="*/ 336 w 423"/>
              <a:gd name="T85" fmla="*/ 103 h 218"/>
              <a:gd name="T86" fmla="*/ 328 w 423"/>
              <a:gd name="T87" fmla="*/ 114 h 218"/>
              <a:gd name="T88" fmla="*/ 323 w 423"/>
              <a:gd name="T89" fmla="*/ 65 h 218"/>
              <a:gd name="T90" fmla="*/ 302 w 423"/>
              <a:gd name="T91" fmla="*/ 65 h 218"/>
              <a:gd name="T92" fmla="*/ 290 w 423"/>
              <a:gd name="T93" fmla="*/ 69 h 218"/>
              <a:gd name="T94" fmla="*/ 265 w 423"/>
              <a:gd name="T95" fmla="*/ 34 h 218"/>
              <a:gd name="T96" fmla="*/ 249 w 423"/>
              <a:gd name="T97" fmla="*/ 106 h 218"/>
              <a:gd name="T98" fmla="*/ 242 w 423"/>
              <a:gd name="T99" fmla="*/ 55 h 218"/>
              <a:gd name="T100" fmla="*/ 235 w 423"/>
              <a:gd name="T101" fmla="*/ 83 h 218"/>
              <a:gd name="T102" fmla="*/ 230 w 423"/>
              <a:gd name="T103" fmla="*/ 64 h 218"/>
              <a:gd name="T104" fmla="*/ 226 w 423"/>
              <a:gd name="T105" fmla="*/ 68 h 218"/>
              <a:gd name="T106" fmla="*/ 225 w 423"/>
              <a:gd name="T107" fmla="*/ 44 h 218"/>
              <a:gd name="T108" fmla="*/ 222 w 423"/>
              <a:gd name="T109" fmla="*/ 40 h 218"/>
              <a:gd name="T110" fmla="*/ 220 w 423"/>
              <a:gd name="T111" fmla="*/ 28 h 218"/>
              <a:gd name="T112" fmla="*/ 219 w 423"/>
              <a:gd name="T113" fmla="*/ 24 h 218"/>
              <a:gd name="T114" fmla="*/ 218 w 423"/>
              <a:gd name="T115" fmla="*/ 14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23" h="218">
                <a:moveTo>
                  <a:pt x="217" y="0"/>
                </a:moveTo>
                <a:cubicBezTo>
                  <a:pt x="217" y="0"/>
                  <a:pt x="217" y="0"/>
                  <a:pt x="217" y="0"/>
                </a:cubicBezTo>
                <a:cubicBezTo>
                  <a:pt x="217" y="4"/>
                  <a:pt x="217" y="4"/>
                  <a:pt x="217" y="4"/>
                </a:cubicBezTo>
                <a:cubicBezTo>
                  <a:pt x="217" y="4"/>
                  <a:pt x="217" y="4"/>
                  <a:pt x="217" y="4"/>
                </a:cubicBezTo>
                <a:cubicBezTo>
                  <a:pt x="217" y="0"/>
                  <a:pt x="217" y="0"/>
                  <a:pt x="217" y="0"/>
                </a:cubicBezTo>
                <a:cubicBezTo>
                  <a:pt x="216" y="0"/>
                  <a:pt x="216" y="0"/>
                  <a:pt x="216" y="0"/>
                </a:cubicBezTo>
                <a:cubicBezTo>
                  <a:pt x="216" y="4"/>
                  <a:pt x="216" y="4"/>
                  <a:pt x="216" y="4"/>
                </a:cubicBezTo>
                <a:cubicBezTo>
                  <a:pt x="216" y="4"/>
                  <a:pt x="216" y="4"/>
                  <a:pt x="216" y="4"/>
                </a:cubicBezTo>
                <a:cubicBezTo>
                  <a:pt x="216" y="14"/>
                  <a:pt x="216" y="14"/>
                  <a:pt x="216" y="14"/>
                </a:cubicBezTo>
                <a:cubicBezTo>
                  <a:pt x="216" y="14"/>
                  <a:pt x="216" y="14"/>
                  <a:pt x="216" y="14"/>
                </a:cubicBezTo>
                <a:cubicBezTo>
                  <a:pt x="216" y="19"/>
                  <a:pt x="216" y="19"/>
                  <a:pt x="216" y="19"/>
                </a:cubicBezTo>
                <a:cubicBezTo>
                  <a:pt x="216" y="19"/>
                  <a:pt x="216" y="19"/>
                  <a:pt x="216" y="19"/>
                </a:cubicBezTo>
                <a:cubicBezTo>
                  <a:pt x="216" y="19"/>
                  <a:pt x="216" y="19"/>
                  <a:pt x="216" y="19"/>
                </a:cubicBezTo>
                <a:cubicBezTo>
                  <a:pt x="215" y="19"/>
                  <a:pt x="215" y="19"/>
                  <a:pt x="215" y="19"/>
                </a:cubicBezTo>
                <a:cubicBezTo>
                  <a:pt x="215" y="23"/>
                  <a:pt x="215" y="23"/>
                  <a:pt x="215" y="23"/>
                </a:cubicBezTo>
                <a:cubicBezTo>
                  <a:pt x="215" y="23"/>
                  <a:pt x="215" y="23"/>
                  <a:pt x="215" y="23"/>
                </a:cubicBezTo>
                <a:cubicBezTo>
                  <a:pt x="215" y="24"/>
                  <a:pt x="215" y="24"/>
                  <a:pt x="215" y="24"/>
                </a:cubicBezTo>
                <a:cubicBezTo>
                  <a:pt x="215" y="24"/>
                  <a:pt x="215" y="24"/>
                  <a:pt x="215" y="24"/>
                </a:cubicBezTo>
                <a:cubicBezTo>
                  <a:pt x="215" y="24"/>
                  <a:pt x="215" y="24"/>
                  <a:pt x="215" y="24"/>
                </a:cubicBezTo>
                <a:cubicBezTo>
                  <a:pt x="214" y="24"/>
                  <a:pt x="214" y="24"/>
                  <a:pt x="214" y="24"/>
                </a:cubicBezTo>
                <a:cubicBezTo>
                  <a:pt x="214" y="27"/>
                  <a:pt x="214" y="27"/>
                  <a:pt x="214" y="27"/>
                </a:cubicBezTo>
                <a:cubicBezTo>
                  <a:pt x="214" y="27"/>
                  <a:pt x="214" y="27"/>
                  <a:pt x="214" y="27"/>
                </a:cubicBezTo>
                <a:cubicBezTo>
                  <a:pt x="214" y="28"/>
                  <a:pt x="214" y="28"/>
                  <a:pt x="214" y="28"/>
                </a:cubicBezTo>
                <a:cubicBezTo>
                  <a:pt x="213" y="28"/>
                  <a:pt x="213" y="28"/>
                  <a:pt x="213" y="28"/>
                </a:cubicBezTo>
                <a:cubicBezTo>
                  <a:pt x="213" y="32"/>
                  <a:pt x="213" y="32"/>
                  <a:pt x="213" y="32"/>
                </a:cubicBezTo>
                <a:cubicBezTo>
                  <a:pt x="213" y="32"/>
                  <a:pt x="212" y="32"/>
                  <a:pt x="212" y="32"/>
                </a:cubicBezTo>
                <a:cubicBezTo>
                  <a:pt x="212" y="36"/>
                  <a:pt x="212" y="36"/>
                  <a:pt x="212" y="36"/>
                </a:cubicBezTo>
                <a:cubicBezTo>
                  <a:pt x="212" y="36"/>
                  <a:pt x="212" y="36"/>
                  <a:pt x="212" y="36"/>
                </a:cubicBezTo>
                <a:cubicBezTo>
                  <a:pt x="212" y="36"/>
                  <a:pt x="212" y="36"/>
                  <a:pt x="212" y="36"/>
                </a:cubicBezTo>
                <a:cubicBezTo>
                  <a:pt x="212" y="36"/>
                  <a:pt x="212" y="36"/>
                  <a:pt x="212" y="36"/>
                </a:cubicBezTo>
                <a:cubicBezTo>
                  <a:pt x="212" y="40"/>
                  <a:pt x="212" y="40"/>
                  <a:pt x="212" y="40"/>
                </a:cubicBezTo>
                <a:cubicBezTo>
                  <a:pt x="211" y="40"/>
                  <a:pt x="211" y="40"/>
                  <a:pt x="211" y="40"/>
                </a:cubicBezTo>
                <a:cubicBezTo>
                  <a:pt x="211" y="40"/>
                  <a:pt x="211" y="40"/>
                  <a:pt x="211" y="40"/>
                </a:cubicBezTo>
                <a:cubicBezTo>
                  <a:pt x="211" y="40"/>
                  <a:pt x="211" y="40"/>
                  <a:pt x="211" y="40"/>
                </a:cubicBezTo>
                <a:cubicBezTo>
                  <a:pt x="211" y="43"/>
                  <a:pt x="211" y="43"/>
                  <a:pt x="211" y="43"/>
                </a:cubicBezTo>
                <a:cubicBezTo>
                  <a:pt x="210" y="43"/>
                  <a:pt x="210" y="43"/>
                  <a:pt x="210" y="43"/>
                </a:cubicBezTo>
                <a:cubicBezTo>
                  <a:pt x="210" y="44"/>
                  <a:pt x="210" y="44"/>
                  <a:pt x="210" y="44"/>
                </a:cubicBezTo>
                <a:cubicBezTo>
                  <a:pt x="209" y="44"/>
                  <a:pt x="209" y="44"/>
                  <a:pt x="209" y="44"/>
                </a:cubicBezTo>
                <a:cubicBezTo>
                  <a:pt x="209" y="58"/>
                  <a:pt x="209" y="58"/>
                  <a:pt x="209" y="58"/>
                </a:cubicBezTo>
                <a:cubicBezTo>
                  <a:pt x="208" y="58"/>
                  <a:pt x="208" y="58"/>
                  <a:pt x="208" y="58"/>
                </a:cubicBezTo>
                <a:cubicBezTo>
                  <a:pt x="208" y="58"/>
                  <a:pt x="208" y="58"/>
                  <a:pt x="208" y="58"/>
                </a:cubicBezTo>
                <a:cubicBezTo>
                  <a:pt x="206" y="58"/>
                  <a:pt x="206" y="58"/>
                  <a:pt x="206" y="58"/>
                </a:cubicBezTo>
                <a:cubicBezTo>
                  <a:pt x="206" y="60"/>
                  <a:pt x="206" y="60"/>
                  <a:pt x="206" y="60"/>
                </a:cubicBezTo>
                <a:cubicBezTo>
                  <a:pt x="207" y="60"/>
                  <a:pt x="207" y="60"/>
                  <a:pt x="207" y="60"/>
                </a:cubicBezTo>
                <a:cubicBezTo>
                  <a:pt x="207" y="68"/>
                  <a:pt x="207" y="68"/>
                  <a:pt x="207" y="68"/>
                </a:cubicBezTo>
                <a:cubicBezTo>
                  <a:pt x="207" y="68"/>
                  <a:pt x="207" y="68"/>
                  <a:pt x="207" y="68"/>
                </a:cubicBezTo>
                <a:cubicBezTo>
                  <a:pt x="207" y="108"/>
                  <a:pt x="207" y="108"/>
                  <a:pt x="207" y="108"/>
                </a:cubicBezTo>
                <a:cubicBezTo>
                  <a:pt x="206" y="108"/>
                  <a:pt x="206" y="108"/>
                  <a:pt x="206" y="108"/>
                </a:cubicBezTo>
                <a:cubicBezTo>
                  <a:pt x="206" y="98"/>
                  <a:pt x="206" y="98"/>
                  <a:pt x="206" y="98"/>
                </a:cubicBezTo>
                <a:cubicBezTo>
                  <a:pt x="205" y="97"/>
                  <a:pt x="205" y="97"/>
                  <a:pt x="205" y="97"/>
                </a:cubicBezTo>
                <a:cubicBezTo>
                  <a:pt x="205" y="65"/>
                  <a:pt x="205" y="65"/>
                  <a:pt x="205" y="65"/>
                </a:cubicBezTo>
                <a:cubicBezTo>
                  <a:pt x="204" y="64"/>
                  <a:pt x="204" y="64"/>
                  <a:pt x="204" y="64"/>
                </a:cubicBezTo>
                <a:cubicBezTo>
                  <a:pt x="204" y="61"/>
                  <a:pt x="204" y="61"/>
                  <a:pt x="204" y="61"/>
                </a:cubicBezTo>
                <a:cubicBezTo>
                  <a:pt x="204" y="60"/>
                  <a:pt x="204" y="60"/>
                  <a:pt x="204" y="60"/>
                </a:cubicBezTo>
                <a:cubicBezTo>
                  <a:pt x="204" y="58"/>
                  <a:pt x="204" y="58"/>
                  <a:pt x="204" y="58"/>
                </a:cubicBezTo>
                <a:cubicBezTo>
                  <a:pt x="201" y="58"/>
                  <a:pt x="201" y="58"/>
                  <a:pt x="201" y="58"/>
                </a:cubicBezTo>
                <a:cubicBezTo>
                  <a:pt x="201" y="60"/>
                  <a:pt x="201" y="60"/>
                  <a:pt x="201" y="60"/>
                </a:cubicBezTo>
                <a:cubicBezTo>
                  <a:pt x="198" y="60"/>
                  <a:pt x="198" y="60"/>
                  <a:pt x="198" y="60"/>
                </a:cubicBezTo>
                <a:cubicBezTo>
                  <a:pt x="198" y="83"/>
                  <a:pt x="198" y="83"/>
                  <a:pt x="198" y="83"/>
                </a:cubicBezTo>
                <a:cubicBezTo>
                  <a:pt x="197" y="83"/>
                  <a:pt x="197" y="83"/>
                  <a:pt x="197" y="83"/>
                </a:cubicBezTo>
                <a:cubicBezTo>
                  <a:pt x="195" y="83"/>
                  <a:pt x="195" y="83"/>
                  <a:pt x="195" y="83"/>
                </a:cubicBezTo>
                <a:cubicBezTo>
                  <a:pt x="195" y="81"/>
                  <a:pt x="195" y="81"/>
                  <a:pt x="195" y="81"/>
                </a:cubicBezTo>
                <a:cubicBezTo>
                  <a:pt x="193" y="81"/>
                  <a:pt x="193" y="81"/>
                  <a:pt x="193" y="81"/>
                </a:cubicBezTo>
                <a:cubicBezTo>
                  <a:pt x="192" y="81"/>
                  <a:pt x="192" y="81"/>
                  <a:pt x="192" y="81"/>
                </a:cubicBezTo>
                <a:cubicBezTo>
                  <a:pt x="192" y="55"/>
                  <a:pt x="192" y="55"/>
                  <a:pt x="192" y="55"/>
                </a:cubicBezTo>
                <a:cubicBezTo>
                  <a:pt x="192" y="55"/>
                  <a:pt x="192" y="55"/>
                  <a:pt x="192" y="55"/>
                </a:cubicBezTo>
                <a:cubicBezTo>
                  <a:pt x="192" y="48"/>
                  <a:pt x="192" y="48"/>
                  <a:pt x="192" y="48"/>
                </a:cubicBezTo>
                <a:cubicBezTo>
                  <a:pt x="189" y="48"/>
                  <a:pt x="189" y="48"/>
                  <a:pt x="189" y="48"/>
                </a:cubicBezTo>
                <a:cubicBezTo>
                  <a:pt x="189" y="43"/>
                  <a:pt x="189" y="43"/>
                  <a:pt x="189" y="43"/>
                </a:cubicBezTo>
                <a:cubicBezTo>
                  <a:pt x="185" y="43"/>
                  <a:pt x="185" y="43"/>
                  <a:pt x="185" y="43"/>
                </a:cubicBezTo>
                <a:cubicBezTo>
                  <a:pt x="185" y="87"/>
                  <a:pt x="185" y="87"/>
                  <a:pt x="185" y="87"/>
                </a:cubicBezTo>
                <a:cubicBezTo>
                  <a:pt x="185" y="87"/>
                  <a:pt x="185" y="87"/>
                  <a:pt x="185" y="87"/>
                </a:cubicBezTo>
                <a:cubicBezTo>
                  <a:pt x="185" y="106"/>
                  <a:pt x="185" y="106"/>
                  <a:pt x="185" y="106"/>
                </a:cubicBezTo>
                <a:cubicBezTo>
                  <a:pt x="181" y="106"/>
                  <a:pt x="181" y="106"/>
                  <a:pt x="181" y="106"/>
                </a:cubicBezTo>
                <a:cubicBezTo>
                  <a:pt x="181" y="31"/>
                  <a:pt x="181" y="31"/>
                  <a:pt x="181" y="31"/>
                </a:cubicBezTo>
                <a:cubicBezTo>
                  <a:pt x="178" y="31"/>
                  <a:pt x="178" y="31"/>
                  <a:pt x="178" y="31"/>
                </a:cubicBezTo>
                <a:cubicBezTo>
                  <a:pt x="177" y="30"/>
                  <a:pt x="176" y="30"/>
                  <a:pt x="175" y="30"/>
                </a:cubicBezTo>
                <a:cubicBezTo>
                  <a:pt x="174" y="30"/>
                  <a:pt x="173" y="31"/>
                  <a:pt x="173" y="31"/>
                </a:cubicBezTo>
                <a:cubicBezTo>
                  <a:pt x="169" y="31"/>
                  <a:pt x="169" y="31"/>
                  <a:pt x="169" y="31"/>
                </a:cubicBezTo>
                <a:cubicBezTo>
                  <a:pt x="169" y="34"/>
                  <a:pt x="169" y="34"/>
                  <a:pt x="169" y="34"/>
                </a:cubicBezTo>
                <a:cubicBezTo>
                  <a:pt x="168" y="35"/>
                  <a:pt x="168" y="35"/>
                  <a:pt x="168" y="35"/>
                </a:cubicBezTo>
                <a:cubicBezTo>
                  <a:pt x="165" y="55"/>
                  <a:pt x="165" y="55"/>
                  <a:pt x="165" y="55"/>
                </a:cubicBezTo>
                <a:cubicBezTo>
                  <a:pt x="165" y="79"/>
                  <a:pt x="165" y="79"/>
                  <a:pt x="165" y="79"/>
                </a:cubicBezTo>
                <a:cubicBezTo>
                  <a:pt x="159" y="87"/>
                  <a:pt x="159" y="87"/>
                  <a:pt x="159" y="87"/>
                </a:cubicBezTo>
                <a:cubicBezTo>
                  <a:pt x="159" y="67"/>
                  <a:pt x="159" y="67"/>
                  <a:pt x="159" y="67"/>
                </a:cubicBezTo>
                <a:cubicBezTo>
                  <a:pt x="150" y="67"/>
                  <a:pt x="150" y="67"/>
                  <a:pt x="150" y="67"/>
                </a:cubicBezTo>
                <a:cubicBezTo>
                  <a:pt x="144" y="69"/>
                  <a:pt x="144" y="69"/>
                  <a:pt x="144" y="69"/>
                </a:cubicBezTo>
                <a:cubicBezTo>
                  <a:pt x="144" y="105"/>
                  <a:pt x="144" y="105"/>
                  <a:pt x="144" y="105"/>
                </a:cubicBezTo>
                <a:cubicBezTo>
                  <a:pt x="140" y="105"/>
                  <a:pt x="140" y="105"/>
                  <a:pt x="140" y="105"/>
                </a:cubicBezTo>
                <a:cubicBezTo>
                  <a:pt x="140" y="68"/>
                  <a:pt x="140" y="68"/>
                  <a:pt x="140" y="68"/>
                </a:cubicBezTo>
                <a:cubicBezTo>
                  <a:pt x="139" y="65"/>
                  <a:pt x="139" y="65"/>
                  <a:pt x="139" y="65"/>
                </a:cubicBezTo>
                <a:cubicBezTo>
                  <a:pt x="139" y="63"/>
                  <a:pt x="139" y="63"/>
                  <a:pt x="139" y="63"/>
                </a:cubicBezTo>
                <a:cubicBezTo>
                  <a:pt x="136" y="56"/>
                  <a:pt x="136" y="56"/>
                  <a:pt x="136" y="56"/>
                </a:cubicBezTo>
                <a:cubicBezTo>
                  <a:pt x="133" y="61"/>
                  <a:pt x="133" y="61"/>
                  <a:pt x="133" y="61"/>
                </a:cubicBezTo>
                <a:cubicBezTo>
                  <a:pt x="131" y="61"/>
                  <a:pt x="131" y="61"/>
                  <a:pt x="131" y="61"/>
                </a:cubicBezTo>
                <a:cubicBezTo>
                  <a:pt x="131" y="65"/>
                  <a:pt x="131" y="65"/>
                  <a:pt x="131" y="65"/>
                </a:cubicBezTo>
                <a:cubicBezTo>
                  <a:pt x="130" y="65"/>
                  <a:pt x="130" y="65"/>
                  <a:pt x="130" y="65"/>
                </a:cubicBezTo>
                <a:cubicBezTo>
                  <a:pt x="130" y="62"/>
                  <a:pt x="130" y="62"/>
                  <a:pt x="130" y="62"/>
                </a:cubicBezTo>
                <a:cubicBezTo>
                  <a:pt x="130" y="62"/>
                  <a:pt x="130" y="62"/>
                  <a:pt x="130" y="62"/>
                </a:cubicBezTo>
                <a:cubicBezTo>
                  <a:pt x="130" y="62"/>
                  <a:pt x="130" y="62"/>
                  <a:pt x="130" y="62"/>
                </a:cubicBezTo>
                <a:cubicBezTo>
                  <a:pt x="127" y="62"/>
                  <a:pt x="127" y="62"/>
                  <a:pt x="127" y="62"/>
                </a:cubicBezTo>
                <a:cubicBezTo>
                  <a:pt x="127" y="61"/>
                  <a:pt x="127" y="61"/>
                  <a:pt x="127" y="61"/>
                </a:cubicBezTo>
                <a:cubicBezTo>
                  <a:pt x="126" y="57"/>
                  <a:pt x="126" y="57"/>
                  <a:pt x="126" y="57"/>
                </a:cubicBezTo>
                <a:cubicBezTo>
                  <a:pt x="126" y="55"/>
                  <a:pt x="126" y="55"/>
                  <a:pt x="126" y="55"/>
                </a:cubicBezTo>
                <a:cubicBezTo>
                  <a:pt x="125" y="55"/>
                  <a:pt x="125" y="55"/>
                  <a:pt x="125" y="55"/>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37"/>
                  <a:pt x="125" y="37"/>
                  <a:pt x="125" y="37"/>
                </a:cubicBezTo>
                <a:cubicBezTo>
                  <a:pt x="124" y="36"/>
                  <a:pt x="124" y="36"/>
                  <a:pt x="124" y="36"/>
                </a:cubicBezTo>
                <a:cubicBezTo>
                  <a:pt x="124" y="23"/>
                  <a:pt x="124" y="23"/>
                  <a:pt x="124" y="23"/>
                </a:cubicBezTo>
                <a:cubicBezTo>
                  <a:pt x="123" y="23"/>
                  <a:pt x="123" y="23"/>
                  <a:pt x="123" y="23"/>
                </a:cubicBezTo>
                <a:cubicBezTo>
                  <a:pt x="123" y="22"/>
                  <a:pt x="123" y="22"/>
                  <a:pt x="123" y="22"/>
                </a:cubicBezTo>
                <a:cubicBezTo>
                  <a:pt x="123" y="6"/>
                  <a:pt x="123" y="6"/>
                  <a:pt x="123" y="6"/>
                </a:cubicBezTo>
                <a:cubicBezTo>
                  <a:pt x="121" y="6"/>
                  <a:pt x="121" y="6"/>
                  <a:pt x="121" y="6"/>
                </a:cubicBezTo>
                <a:cubicBezTo>
                  <a:pt x="121" y="22"/>
                  <a:pt x="121" y="22"/>
                  <a:pt x="121" y="22"/>
                </a:cubicBezTo>
                <a:cubicBezTo>
                  <a:pt x="120" y="23"/>
                  <a:pt x="120" y="23"/>
                  <a:pt x="120" y="23"/>
                </a:cubicBezTo>
                <a:cubicBezTo>
                  <a:pt x="119" y="23"/>
                  <a:pt x="119" y="23"/>
                  <a:pt x="119" y="23"/>
                </a:cubicBezTo>
                <a:cubicBezTo>
                  <a:pt x="119" y="36"/>
                  <a:pt x="119" y="36"/>
                  <a:pt x="119" y="36"/>
                </a:cubicBezTo>
                <a:cubicBezTo>
                  <a:pt x="119" y="37"/>
                  <a:pt x="119" y="37"/>
                  <a:pt x="119" y="37"/>
                </a:cubicBezTo>
                <a:cubicBezTo>
                  <a:pt x="119" y="54"/>
                  <a:pt x="119" y="54"/>
                  <a:pt x="119" y="54"/>
                </a:cubicBezTo>
                <a:cubicBezTo>
                  <a:pt x="118" y="54"/>
                  <a:pt x="118" y="54"/>
                  <a:pt x="118" y="54"/>
                </a:cubicBezTo>
                <a:cubicBezTo>
                  <a:pt x="118" y="54"/>
                  <a:pt x="118" y="54"/>
                  <a:pt x="118" y="54"/>
                </a:cubicBezTo>
                <a:cubicBezTo>
                  <a:pt x="118" y="54"/>
                  <a:pt x="118" y="54"/>
                  <a:pt x="118" y="54"/>
                </a:cubicBezTo>
                <a:cubicBezTo>
                  <a:pt x="118" y="56"/>
                  <a:pt x="118" y="56"/>
                  <a:pt x="118" y="56"/>
                </a:cubicBezTo>
                <a:cubicBezTo>
                  <a:pt x="118" y="56"/>
                  <a:pt x="118" y="56"/>
                  <a:pt x="118" y="56"/>
                </a:cubicBezTo>
                <a:cubicBezTo>
                  <a:pt x="118" y="57"/>
                  <a:pt x="118" y="57"/>
                  <a:pt x="118" y="57"/>
                </a:cubicBezTo>
                <a:cubicBezTo>
                  <a:pt x="116" y="60"/>
                  <a:pt x="116" y="60"/>
                  <a:pt x="116" y="60"/>
                </a:cubicBezTo>
                <a:cubicBezTo>
                  <a:pt x="116" y="61"/>
                  <a:pt x="116" y="61"/>
                  <a:pt x="116" y="61"/>
                </a:cubicBezTo>
                <a:cubicBezTo>
                  <a:pt x="115" y="61"/>
                  <a:pt x="115" y="61"/>
                  <a:pt x="115" y="61"/>
                </a:cubicBezTo>
                <a:cubicBezTo>
                  <a:pt x="115" y="62"/>
                  <a:pt x="115" y="62"/>
                  <a:pt x="115" y="62"/>
                </a:cubicBezTo>
                <a:cubicBezTo>
                  <a:pt x="114" y="62"/>
                  <a:pt x="114" y="62"/>
                  <a:pt x="114" y="62"/>
                </a:cubicBezTo>
                <a:cubicBezTo>
                  <a:pt x="114" y="62"/>
                  <a:pt x="114" y="62"/>
                  <a:pt x="114" y="62"/>
                </a:cubicBezTo>
                <a:cubicBezTo>
                  <a:pt x="113" y="62"/>
                  <a:pt x="113" y="62"/>
                  <a:pt x="113" y="62"/>
                </a:cubicBezTo>
                <a:cubicBezTo>
                  <a:pt x="113" y="65"/>
                  <a:pt x="113" y="65"/>
                  <a:pt x="113" y="65"/>
                </a:cubicBezTo>
                <a:cubicBezTo>
                  <a:pt x="112" y="65"/>
                  <a:pt x="112" y="65"/>
                  <a:pt x="112" y="65"/>
                </a:cubicBezTo>
                <a:cubicBezTo>
                  <a:pt x="112" y="65"/>
                  <a:pt x="112" y="65"/>
                  <a:pt x="112" y="65"/>
                </a:cubicBezTo>
                <a:cubicBezTo>
                  <a:pt x="111" y="65"/>
                  <a:pt x="111" y="65"/>
                  <a:pt x="111" y="65"/>
                </a:cubicBezTo>
                <a:cubicBezTo>
                  <a:pt x="111" y="78"/>
                  <a:pt x="111" y="78"/>
                  <a:pt x="111" y="78"/>
                </a:cubicBezTo>
                <a:cubicBezTo>
                  <a:pt x="109" y="78"/>
                  <a:pt x="109" y="78"/>
                  <a:pt x="109" y="78"/>
                </a:cubicBezTo>
                <a:cubicBezTo>
                  <a:pt x="109" y="93"/>
                  <a:pt x="109" y="93"/>
                  <a:pt x="109" y="93"/>
                </a:cubicBezTo>
                <a:cubicBezTo>
                  <a:pt x="108" y="93"/>
                  <a:pt x="108" y="94"/>
                  <a:pt x="108" y="94"/>
                </a:cubicBezTo>
                <a:cubicBezTo>
                  <a:pt x="108" y="132"/>
                  <a:pt x="108" y="132"/>
                  <a:pt x="108" y="132"/>
                </a:cubicBezTo>
                <a:cubicBezTo>
                  <a:pt x="105" y="132"/>
                  <a:pt x="105" y="132"/>
                  <a:pt x="105" y="132"/>
                </a:cubicBezTo>
                <a:cubicBezTo>
                  <a:pt x="105" y="124"/>
                  <a:pt x="105" y="114"/>
                  <a:pt x="105" y="114"/>
                </a:cubicBezTo>
                <a:cubicBezTo>
                  <a:pt x="106" y="114"/>
                  <a:pt x="106" y="113"/>
                  <a:pt x="106" y="113"/>
                </a:cubicBezTo>
                <a:cubicBezTo>
                  <a:pt x="104" y="97"/>
                  <a:pt x="104" y="97"/>
                  <a:pt x="104" y="97"/>
                </a:cubicBezTo>
                <a:cubicBezTo>
                  <a:pt x="104" y="97"/>
                  <a:pt x="104" y="95"/>
                  <a:pt x="102" y="95"/>
                </a:cubicBezTo>
                <a:cubicBezTo>
                  <a:pt x="102" y="95"/>
                  <a:pt x="102" y="95"/>
                  <a:pt x="102" y="95"/>
                </a:cubicBezTo>
                <a:cubicBezTo>
                  <a:pt x="100" y="95"/>
                  <a:pt x="99" y="97"/>
                  <a:pt x="99" y="97"/>
                </a:cubicBezTo>
                <a:cubicBezTo>
                  <a:pt x="99" y="97"/>
                  <a:pt x="99" y="100"/>
                  <a:pt x="98" y="103"/>
                </a:cubicBezTo>
                <a:cubicBezTo>
                  <a:pt x="97" y="100"/>
                  <a:pt x="97" y="100"/>
                  <a:pt x="97" y="100"/>
                </a:cubicBezTo>
                <a:cubicBezTo>
                  <a:pt x="97" y="73"/>
                  <a:pt x="97" y="73"/>
                  <a:pt x="97" y="73"/>
                </a:cubicBezTo>
                <a:cubicBezTo>
                  <a:pt x="95" y="77"/>
                  <a:pt x="95" y="77"/>
                  <a:pt x="95" y="77"/>
                </a:cubicBezTo>
                <a:cubicBezTo>
                  <a:pt x="93" y="78"/>
                  <a:pt x="93" y="78"/>
                  <a:pt x="93" y="78"/>
                </a:cubicBezTo>
                <a:cubicBezTo>
                  <a:pt x="93" y="58"/>
                  <a:pt x="93" y="58"/>
                  <a:pt x="93" y="58"/>
                </a:cubicBezTo>
                <a:cubicBezTo>
                  <a:pt x="93" y="58"/>
                  <a:pt x="93" y="58"/>
                  <a:pt x="93" y="58"/>
                </a:cubicBezTo>
                <a:cubicBezTo>
                  <a:pt x="93" y="53"/>
                  <a:pt x="93" y="53"/>
                  <a:pt x="93" y="53"/>
                </a:cubicBezTo>
                <a:cubicBezTo>
                  <a:pt x="92" y="53"/>
                  <a:pt x="92" y="53"/>
                  <a:pt x="92" y="53"/>
                </a:cubicBezTo>
                <a:cubicBezTo>
                  <a:pt x="92" y="58"/>
                  <a:pt x="92" y="58"/>
                  <a:pt x="92" y="58"/>
                </a:cubicBezTo>
                <a:cubicBezTo>
                  <a:pt x="91" y="78"/>
                  <a:pt x="91" y="78"/>
                  <a:pt x="91" y="78"/>
                </a:cubicBezTo>
                <a:cubicBezTo>
                  <a:pt x="86" y="81"/>
                  <a:pt x="86" y="81"/>
                  <a:pt x="86" y="81"/>
                </a:cubicBezTo>
                <a:cubicBezTo>
                  <a:pt x="82" y="80"/>
                  <a:pt x="82" y="80"/>
                  <a:pt x="82" y="80"/>
                </a:cubicBezTo>
                <a:cubicBezTo>
                  <a:pt x="82" y="106"/>
                  <a:pt x="82" y="106"/>
                  <a:pt x="82" y="106"/>
                </a:cubicBezTo>
                <a:cubicBezTo>
                  <a:pt x="81" y="114"/>
                  <a:pt x="81" y="114"/>
                  <a:pt x="81" y="114"/>
                </a:cubicBezTo>
                <a:cubicBezTo>
                  <a:pt x="81" y="132"/>
                  <a:pt x="81" y="132"/>
                  <a:pt x="81" y="132"/>
                </a:cubicBezTo>
                <a:cubicBezTo>
                  <a:pt x="76" y="132"/>
                  <a:pt x="76" y="132"/>
                  <a:pt x="76" y="132"/>
                </a:cubicBezTo>
                <a:cubicBezTo>
                  <a:pt x="76" y="113"/>
                  <a:pt x="76" y="113"/>
                  <a:pt x="76" y="113"/>
                </a:cubicBezTo>
                <a:cubicBezTo>
                  <a:pt x="73" y="113"/>
                  <a:pt x="73" y="113"/>
                  <a:pt x="73" y="113"/>
                </a:cubicBezTo>
                <a:cubicBezTo>
                  <a:pt x="73" y="94"/>
                  <a:pt x="73" y="94"/>
                  <a:pt x="73" y="94"/>
                </a:cubicBezTo>
                <a:cubicBezTo>
                  <a:pt x="67" y="94"/>
                  <a:pt x="67" y="94"/>
                  <a:pt x="67" y="94"/>
                </a:cubicBezTo>
                <a:cubicBezTo>
                  <a:pt x="67" y="85"/>
                  <a:pt x="67" y="85"/>
                  <a:pt x="67" y="85"/>
                </a:cubicBezTo>
                <a:cubicBezTo>
                  <a:pt x="65" y="81"/>
                  <a:pt x="65" y="81"/>
                  <a:pt x="65" y="81"/>
                </a:cubicBezTo>
                <a:cubicBezTo>
                  <a:pt x="64" y="76"/>
                  <a:pt x="60" y="76"/>
                  <a:pt x="60" y="76"/>
                </a:cubicBezTo>
                <a:cubicBezTo>
                  <a:pt x="57" y="77"/>
                  <a:pt x="56" y="81"/>
                  <a:pt x="56" y="81"/>
                </a:cubicBezTo>
                <a:cubicBezTo>
                  <a:pt x="54" y="84"/>
                  <a:pt x="54" y="84"/>
                  <a:pt x="54" y="84"/>
                </a:cubicBezTo>
                <a:cubicBezTo>
                  <a:pt x="54" y="94"/>
                  <a:pt x="54" y="94"/>
                  <a:pt x="54" y="94"/>
                </a:cubicBezTo>
                <a:cubicBezTo>
                  <a:pt x="47" y="94"/>
                  <a:pt x="47" y="94"/>
                  <a:pt x="47" y="94"/>
                </a:cubicBezTo>
                <a:cubicBezTo>
                  <a:pt x="47" y="132"/>
                  <a:pt x="47" y="132"/>
                  <a:pt x="47" y="132"/>
                </a:cubicBezTo>
                <a:cubicBezTo>
                  <a:pt x="41" y="132"/>
                  <a:pt x="41" y="132"/>
                  <a:pt x="41" y="132"/>
                </a:cubicBezTo>
                <a:cubicBezTo>
                  <a:pt x="41" y="43"/>
                  <a:pt x="41" y="43"/>
                  <a:pt x="41" y="43"/>
                </a:cubicBezTo>
                <a:cubicBezTo>
                  <a:pt x="36" y="43"/>
                  <a:pt x="36" y="43"/>
                  <a:pt x="36" y="43"/>
                </a:cubicBezTo>
                <a:cubicBezTo>
                  <a:pt x="36" y="48"/>
                  <a:pt x="36" y="48"/>
                  <a:pt x="36" y="48"/>
                </a:cubicBezTo>
                <a:cubicBezTo>
                  <a:pt x="34" y="48"/>
                  <a:pt x="34" y="48"/>
                  <a:pt x="34" y="48"/>
                </a:cubicBezTo>
                <a:cubicBezTo>
                  <a:pt x="34" y="80"/>
                  <a:pt x="34" y="80"/>
                  <a:pt x="34" y="80"/>
                </a:cubicBezTo>
                <a:cubicBezTo>
                  <a:pt x="31" y="81"/>
                  <a:pt x="31" y="81"/>
                  <a:pt x="31" y="81"/>
                </a:cubicBezTo>
                <a:cubicBezTo>
                  <a:pt x="30" y="87"/>
                  <a:pt x="30" y="87"/>
                  <a:pt x="30" y="87"/>
                </a:cubicBezTo>
                <a:cubicBezTo>
                  <a:pt x="30" y="87"/>
                  <a:pt x="30" y="87"/>
                  <a:pt x="30" y="87"/>
                </a:cubicBezTo>
                <a:cubicBezTo>
                  <a:pt x="29" y="95"/>
                  <a:pt x="29" y="95"/>
                  <a:pt x="29" y="95"/>
                </a:cubicBezTo>
                <a:cubicBezTo>
                  <a:pt x="28" y="95"/>
                  <a:pt x="28" y="95"/>
                  <a:pt x="28" y="95"/>
                </a:cubicBezTo>
                <a:cubicBezTo>
                  <a:pt x="28" y="97"/>
                  <a:pt x="28" y="97"/>
                  <a:pt x="28" y="97"/>
                </a:cubicBezTo>
                <a:cubicBezTo>
                  <a:pt x="28" y="97"/>
                  <a:pt x="28" y="97"/>
                  <a:pt x="28" y="97"/>
                </a:cubicBezTo>
                <a:cubicBezTo>
                  <a:pt x="27" y="100"/>
                  <a:pt x="27" y="100"/>
                  <a:pt x="27" y="100"/>
                </a:cubicBezTo>
                <a:cubicBezTo>
                  <a:pt x="27" y="60"/>
                  <a:pt x="27" y="60"/>
                  <a:pt x="27" y="60"/>
                </a:cubicBezTo>
                <a:cubicBezTo>
                  <a:pt x="25" y="60"/>
                  <a:pt x="25" y="60"/>
                  <a:pt x="25" y="60"/>
                </a:cubicBezTo>
                <a:cubicBezTo>
                  <a:pt x="25" y="58"/>
                  <a:pt x="25" y="58"/>
                  <a:pt x="25" y="58"/>
                </a:cubicBezTo>
                <a:cubicBezTo>
                  <a:pt x="22" y="58"/>
                  <a:pt x="22" y="58"/>
                  <a:pt x="22" y="58"/>
                </a:cubicBezTo>
                <a:cubicBezTo>
                  <a:pt x="22" y="60"/>
                  <a:pt x="22" y="60"/>
                  <a:pt x="22" y="60"/>
                </a:cubicBezTo>
                <a:cubicBezTo>
                  <a:pt x="22" y="61"/>
                  <a:pt x="22" y="61"/>
                  <a:pt x="22" y="61"/>
                </a:cubicBezTo>
                <a:cubicBezTo>
                  <a:pt x="22" y="64"/>
                  <a:pt x="22" y="64"/>
                  <a:pt x="22" y="64"/>
                </a:cubicBezTo>
                <a:cubicBezTo>
                  <a:pt x="21" y="65"/>
                  <a:pt x="21" y="65"/>
                  <a:pt x="21" y="65"/>
                </a:cubicBezTo>
                <a:cubicBezTo>
                  <a:pt x="21" y="97"/>
                  <a:pt x="21" y="97"/>
                  <a:pt x="21" y="97"/>
                </a:cubicBezTo>
                <a:cubicBezTo>
                  <a:pt x="19" y="98"/>
                  <a:pt x="19" y="98"/>
                  <a:pt x="19" y="98"/>
                </a:cubicBezTo>
                <a:cubicBezTo>
                  <a:pt x="19" y="101"/>
                  <a:pt x="19" y="101"/>
                  <a:pt x="19" y="101"/>
                </a:cubicBezTo>
                <a:cubicBezTo>
                  <a:pt x="19" y="101"/>
                  <a:pt x="19" y="101"/>
                  <a:pt x="19" y="101"/>
                </a:cubicBezTo>
                <a:cubicBezTo>
                  <a:pt x="19" y="101"/>
                  <a:pt x="19" y="101"/>
                  <a:pt x="19" y="101"/>
                </a:cubicBezTo>
                <a:cubicBezTo>
                  <a:pt x="18" y="102"/>
                  <a:pt x="18" y="102"/>
                  <a:pt x="18" y="102"/>
                </a:cubicBezTo>
                <a:cubicBezTo>
                  <a:pt x="18" y="103"/>
                  <a:pt x="18" y="103"/>
                  <a:pt x="18" y="103"/>
                </a:cubicBezTo>
                <a:cubicBezTo>
                  <a:pt x="18" y="104"/>
                  <a:pt x="18" y="104"/>
                  <a:pt x="18" y="104"/>
                </a:cubicBezTo>
                <a:cubicBezTo>
                  <a:pt x="17" y="104"/>
                  <a:pt x="17" y="104"/>
                  <a:pt x="17" y="104"/>
                </a:cubicBezTo>
                <a:cubicBezTo>
                  <a:pt x="17" y="104"/>
                  <a:pt x="17" y="104"/>
                  <a:pt x="17" y="104"/>
                </a:cubicBezTo>
                <a:cubicBezTo>
                  <a:pt x="17" y="104"/>
                  <a:pt x="17" y="104"/>
                  <a:pt x="17" y="104"/>
                </a:cubicBezTo>
                <a:cubicBezTo>
                  <a:pt x="16" y="107"/>
                  <a:pt x="16" y="107"/>
                  <a:pt x="16" y="107"/>
                </a:cubicBezTo>
                <a:cubicBezTo>
                  <a:pt x="16" y="109"/>
                  <a:pt x="16" y="109"/>
                  <a:pt x="16" y="109"/>
                </a:cubicBezTo>
                <a:cubicBezTo>
                  <a:pt x="16" y="109"/>
                  <a:pt x="16" y="109"/>
                  <a:pt x="16" y="109"/>
                </a:cubicBezTo>
                <a:cubicBezTo>
                  <a:pt x="16" y="111"/>
                  <a:pt x="16" y="111"/>
                  <a:pt x="16" y="111"/>
                </a:cubicBezTo>
                <a:cubicBezTo>
                  <a:pt x="15" y="111"/>
                  <a:pt x="15" y="111"/>
                  <a:pt x="15" y="111"/>
                </a:cubicBezTo>
                <a:cubicBezTo>
                  <a:pt x="15" y="126"/>
                  <a:pt x="15" y="126"/>
                  <a:pt x="15" y="126"/>
                </a:cubicBezTo>
                <a:cubicBezTo>
                  <a:pt x="15" y="126"/>
                  <a:pt x="15" y="126"/>
                  <a:pt x="15" y="126"/>
                </a:cubicBezTo>
                <a:cubicBezTo>
                  <a:pt x="15" y="66"/>
                  <a:pt x="15" y="66"/>
                  <a:pt x="15" y="66"/>
                </a:cubicBezTo>
                <a:cubicBezTo>
                  <a:pt x="11" y="66"/>
                  <a:pt x="11" y="66"/>
                  <a:pt x="11" y="66"/>
                </a:cubicBezTo>
                <a:cubicBezTo>
                  <a:pt x="11" y="63"/>
                  <a:pt x="11" y="63"/>
                  <a:pt x="11" y="63"/>
                </a:cubicBezTo>
                <a:cubicBezTo>
                  <a:pt x="13" y="63"/>
                  <a:pt x="13" y="63"/>
                  <a:pt x="13" y="63"/>
                </a:cubicBezTo>
                <a:cubicBezTo>
                  <a:pt x="13" y="61"/>
                  <a:pt x="13" y="61"/>
                  <a:pt x="13" y="61"/>
                </a:cubicBezTo>
                <a:cubicBezTo>
                  <a:pt x="9" y="61"/>
                  <a:pt x="9" y="61"/>
                  <a:pt x="9" y="61"/>
                </a:cubicBezTo>
                <a:cubicBezTo>
                  <a:pt x="1" y="63"/>
                  <a:pt x="1" y="63"/>
                  <a:pt x="1" y="63"/>
                </a:cubicBezTo>
                <a:cubicBezTo>
                  <a:pt x="1" y="65"/>
                  <a:pt x="1" y="65"/>
                  <a:pt x="1" y="65"/>
                </a:cubicBezTo>
                <a:cubicBezTo>
                  <a:pt x="2" y="65"/>
                  <a:pt x="2" y="65"/>
                  <a:pt x="2" y="65"/>
                </a:cubicBezTo>
                <a:cubicBezTo>
                  <a:pt x="2" y="67"/>
                  <a:pt x="2" y="67"/>
                  <a:pt x="2" y="67"/>
                </a:cubicBezTo>
                <a:cubicBezTo>
                  <a:pt x="0" y="68"/>
                  <a:pt x="0" y="68"/>
                  <a:pt x="0" y="68"/>
                </a:cubicBezTo>
                <a:cubicBezTo>
                  <a:pt x="0" y="147"/>
                  <a:pt x="0" y="147"/>
                  <a:pt x="0" y="147"/>
                </a:cubicBezTo>
                <a:cubicBezTo>
                  <a:pt x="0" y="147"/>
                  <a:pt x="0" y="147"/>
                  <a:pt x="0" y="147"/>
                </a:cubicBezTo>
                <a:cubicBezTo>
                  <a:pt x="0" y="218"/>
                  <a:pt x="0" y="218"/>
                  <a:pt x="0" y="218"/>
                </a:cubicBezTo>
                <a:cubicBezTo>
                  <a:pt x="422" y="218"/>
                  <a:pt x="422" y="218"/>
                  <a:pt x="422" y="218"/>
                </a:cubicBezTo>
                <a:cubicBezTo>
                  <a:pt x="422" y="151"/>
                  <a:pt x="422" y="151"/>
                  <a:pt x="422" y="151"/>
                </a:cubicBezTo>
                <a:cubicBezTo>
                  <a:pt x="423" y="151"/>
                  <a:pt x="423" y="151"/>
                  <a:pt x="423" y="151"/>
                </a:cubicBezTo>
                <a:cubicBezTo>
                  <a:pt x="423" y="61"/>
                  <a:pt x="423" y="61"/>
                  <a:pt x="423" y="61"/>
                </a:cubicBezTo>
                <a:cubicBezTo>
                  <a:pt x="420" y="61"/>
                  <a:pt x="420" y="61"/>
                  <a:pt x="420" y="61"/>
                </a:cubicBezTo>
                <a:cubicBezTo>
                  <a:pt x="420" y="63"/>
                  <a:pt x="420" y="63"/>
                  <a:pt x="420" y="63"/>
                </a:cubicBezTo>
                <a:cubicBezTo>
                  <a:pt x="422" y="63"/>
                  <a:pt x="422" y="63"/>
                  <a:pt x="422" y="63"/>
                </a:cubicBezTo>
                <a:cubicBezTo>
                  <a:pt x="422" y="66"/>
                  <a:pt x="422" y="66"/>
                  <a:pt x="422" y="66"/>
                </a:cubicBezTo>
                <a:cubicBezTo>
                  <a:pt x="418" y="66"/>
                  <a:pt x="418" y="66"/>
                  <a:pt x="418" y="66"/>
                </a:cubicBezTo>
                <a:cubicBezTo>
                  <a:pt x="418" y="126"/>
                  <a:pt x="418" y="126"/>
                  <a:pt x="418" y="126"/>
                </a:cubicBezTo>
                <a:cubicBezTo>
                  <a:pt x="418" y="126"/>
                  <a:pt x="418" y="126"/>
                  <a:pt x="418" y="126"/>
                </a:cubicBezTo>
                <a:cubicBezTo>
                  <a:pt x="418" y="111"/>
                  <a:pt x="418" y="111"/>
                  <a:pt x="418" y="111"/>
                </a:cubicBezTo>
                <a:cubicBezTo>
                  <a:pt x="418" y="111"/>
                  <a:pt x="418" y="111"/>
                  <a:pt x="418" y="111"/>
                </a:cubicBezTo>
                <a:cubicBezTo>
                  <a:pt x="418" y="109"/>
                  <a:pt x="418" y="109"/>
                  <a:pt x="418" y="109"/>
                </a:cubicBezTo>
                <a:cubicBezTo>
                  <a:pt x="418" y="109"/>
                  <a:pt x="418" y="109"/>
                  <a:pt x="418" y="109"/>
                </a:cubicBezTo>
                <a:cubicBezTo>
                  <a:pt x="418" y="107"/>
                  <a:pt x="418" y="107"/>
                  <a:pt x="418" y="107"/>
                </a:cubicBezTo>
                <a:cubicBezTo>
                  <a:pt x="417" y="104"/>
                  <a:pt x="417" y="104"/>
                  <a:pt x="417" y="104"/>
                </a:cubicBezTo>
                <a:cubicBezTo>
                  <a:pt x="417" y="104"/>
                  <a:pt x="417" y="104"/>
                  <a:pt x="417" y="104"/>
                </a:cubicBezTo>
                <a:cubicBezTo>
                  <a:pt x="417" y="104"/>
                  <a:pt x="417" y="104"/>
                  <a:pt x="417" y="104"/>
                </a:cubicBezTo>
                <a:cubicBezTo>
                  <a:pt x="416" y="104"/>
                  <a:pt x="416" y="104"/>
                  <a:pt x="416" y="104"/>
                </a:cubicBezTo>
                <a:cubicBezTo>
                  <a:pt x="416" y="103"/>
                  <a:pt x="416" y="103"/>
                  <a:pt x="416" y="103"/>
                </a:cubicBezTo>
                <a:cubicBezTo>
                  <a:pt x="415" y="102"/>
                  <a:pt x="415" y="102"/>
                  <a:pt x="415" y="102"/>
                </a:cubicBezTo>
                <a:cubicBezTo>
                  <a:pt x="415" y="101"/>
                  <a:pt x="415" y="101"/>
                  <a:pt x="415" y="101"/>
                </a:cubicBezTo>
                <a:cubicBezTo>
                  <a:pt x="414" y="101"/>
                  <a:pt x="414" y="101"/>
                  <a:pt x="414" y="101"/>
                </a:cubicBezTo>
                <a:cubicBezTo>
                  <a:pt x="414" y="101"/>
                  <a:pt x="414" y="101"/>
                  <a:pt x="414" y="101"/>
                </a:cubicBezTo>
                <a:cubicBezTo>
                  <a:pt x="414" y="98"/>
                  <a:pt x="414" y="98"/>
                  <a:pt x="414" y="98"/>
                </a:cubicBezTo>
                <a:cubicBezTo>
                  <a:pt x="413" y="97"/>
                  <a:pt x="413" y="97"/>
                  <a:pt x="413" y="97"/>
                </a:cubicBezTo>
                <a:cubicBezTo>
                  <a:pt x="413" y="65"/>
                  <a:pt x="413" y="65"/>
                  <a:pt x="413" y="65"/>
                </a:cubicBezTo>
                <a:cubicBezTo>
                  <a:pt x="412" y="64"/>
                  <a:pt x="412" y="64"/>
                  <a:pt x="412" y="64"/>
                </a:cubicBezTo>
                <a:cubicBezTo>
                  <a:pt x="412" y="61"/>
                  <a:pt x="412" y="61"/>
                  <a:pt x="412" y="61"/>
                </a:cubicBezTo>
                <a:cubicBezTo>
                  <a:pt x="412" y="60"/>
                  <a:pt x="412" y="60"/>
                  <a:pt x="412" y="60"/>
                </a:cubicBezTo>
                <a:cubicBezTo>
                  <a:pt x="412" y="58"/>
                  <a:pt x="412" y="58"/>
                  <a:pt x="412" y="58"/>
                </a:cubicBezTo>
                <a:cubicBezTo>
                  <a:pt x="409" y="58"/>
                  <a:pt x="409" y="58"/>
                  <a:pt x="409" y="58"/>
                </a:cubicBezTo>
                <a:cubicBezTo>
                  <a:pt x="409" y="60"/>
                  <a:pt x="409" y="60"/>
                  <a:pt x="409" y="60"/>
                </a:cubicBezTo>
                <a:cubicBezTo>
                  <a:pt x="406" y="60"/>
                  <a:pt x="406" y="60"/>
                  <a:pt x="406" y="60"/>
                </a:cubicBezTo>
                <a:cubicBezTo>
                  <a:pt x="406" y="100"/>
                  <a:pt x="406" y="100"/>
                  <a:pt x="406" y="100"/>
                </a:cubicBezTo>
                <a:cubicBezTo>
                  <a:pt x="406" y="97"/>
                  <a:pt x="406" y="97"/>
                  <a:pt x="406" y="97"/>
                </a:cubicBezTo>
                <a:cubicBezTo>
                  <a:pt x="405" y="97"/>
                  <a:pt x="405" y="97"/>
                  <a:pt x="405" y="97"/>
                </a:cubicBezTo>
                <a:cubicBezTo>
                  <a:pt x="405" y="95"/>
                  <a:pt x="405" y="95"/>
                  <a:pt x="405" y="95"/>
                </a:cubicBezTo>
                <a:cubicBezTo>
                  <a:pt x="404" y="95"/>
                  <a:pt x="404" y="95"/>
                  <a:pt x="404" y="95"/>
                </a:cubicBezTo>
                <a:cubicBezTo>
                  <a:pt x="404" y="87"/>
                  <a:pt x="404" y="87"/>
                  <a:pt x="404" y="87"/>
                </a:cubicBezTo>
                <a:cubicBezTo>
                  <a:pt x="403" y="87"/>
                  <a:pt x="403" y="87"/>
                  <a:pt x="403" y="87"/>
                </a:cubicBezTo>
                <a:cubicBezTo>
                  <a:pt x="403" y="81"/>
                  <a:pt x="403" y="81"/>
                  <a:pt x="403" y="81"/>
                </a:cubicBezTo>
                <a:cubicBezTo>
                  <a:pt x="400" y="80"/>
                  <a:pt x="400" y="80"/>
                  <a:pt x="400" y="80"/>
                </a:cubicBezTo>
                <a:cubicBezTo>
                  <a:pt x="400" y="72"/>
                  <a:pt x="400" y="72"/>
                  <a:pt x="400" y="72"/>
                </a:cubicBezTo>
                <a:cubicBezTo>
                  <a:pt x="393" y="72"/>
                  <a:pt x="393" y="72"/>
                  <a:pt x="393" y="72"/>
                </a:cubicBezTo>
                <a:cubicBezTo>
                  <a:pt x="393" y="103"/>
                  <a:pt x="393" y="103"/>
                  <a:pt x="393" y="103"/>
                </a:cubicBezTo>
                <a:cubicBezTo>
                  <a:pt x="386" y="109"/>
                  <a:pt x="386" y="109"/>
                  <a:pt x="386" y="109"/>
                </a:cubicBezTo>
                <a:cubicBezTo>
                  <a:pt x="386" y="94"/>
                  <a:pt x="386" y="94"/>
                  <a:pt x="386" y="94"/>
                </a:cubicBezTo>
                <a:cubicBezTo>
                  <a:pt x="380" y="94"/>
                  <a:pt x="380" y="94"/>
                  <a:pt x="380" y="94"/>
                </a:cubicBezTo>
                <a:cubicBezTo>
                  <a:pt x="380" y="84"/>
                  <a:pt x="380" y="84"/>
                  <a:pt x="380" y="84"/>
                </a:cubicBezTo>
                <a:cubicBezTo>
                  <a:pt x="377" y="81"/>
                  <a:pt x="377" y="81"/>
                  <a:pt x="377" y="81"/>
                </a:cubicBezTo>
                <a:cubicBezTo>
                  <a:pt x="377" y="81"/>
                  <a:pt x="376" y="77"/>
                  <a:pt x="373" y="76"/>
                </a:cubicBezTo>
                <a:cubicBezTo>
                  <a:pt x="373" y="76"/>
                  <a:pt x="369" y="76"/>
                  <a:pt x="369" y="81"/>
                </a:cubicBezTo>
                <a:cubicBezTo>
                  <a:pt x="366" y="85"/>
                  <a:pt x="366" y="85"/>
                  <a:pt x="366" y="85"/>
                </a:cubicBezTo>
                <a:cubicBezTo>
                  <a:pt x="366" y="94"/>
                  <a:pt x="366" y="94"/>
                  <a:pt x="366" y="94"/>
                </a:cubicBezTo>
                <a:cubicBezTo>
                  <a:pt x="361" y="94"/>
                  <a:pt x="361" y="94"/>
                  <a:pt x="361" y="94"/>
                </a:cubicBezTo>
                <a:cubicBezTo>
                  <a:pt x="361" y="113"/>
                  <a:pt x="361" y="113"/>
                  <a:pt x="361" y="113"/>
                </a:cubicBezTo>
                <a:cubicBezTo>
                  <a:pt x="357" y="113"/>
                  <a:pt x="357" y="113"/>
                  <a:pt x="357" y="113"/>
                </a:cubicBezTo>
                <a:cubicBezTo>
                  <a:pt x="357" y="132"/>
                  <a:pt x="357" y="132"/>
                  <a:pt x="357" y="132"/>
                </a:cubicBezTo>
                <a:cubicBezTo>
                  <a:pt x="353" y="132"/>
                  <a:pt x="353" y="132"/>
                  <a:pt x="353" y="132"/>
                </a:cubicBezTo>
                <a:cubicBezTo>
                  <a:pt x="353" y="114"/>
                  <a:pt x="353" y="114"/>
                  <a:pt x="353" y="114"/>
                </a:cubicBezTo>
                <a:cubicBezTo>
                  <a:pt x="352" y="106"/>
                  <a:pt x="352" y="106"/>
                  <a:pt x="352" y="106"/>
                </a:cubicBezTo>
                <a:cubicBezTo>
                  <a:pt x="352" y="81"/>
                  <a:pt x="352" y="81"/>
                  <a:pt x="352" y="81"/>
                </a:cubicBezTo>
                <a:cubicBezTo>
                  <a:pt x="336" y="81"/>
                  <a:pt x="336" y="81"/>
                  <a:pt x="336" y="81"/>
                </a:cubicBezTo>
                <a:cubicBezTo>
                  <a:pt x="336" y="100"/>
                  <a:pt x="336" y="100"/>
                  <a:pt x="336" y="100"/>
                </a:cubicBezTo>
                <a:cubicBezTo>
                  <a:pt x="336" y="103"/>
                  <a:pt x="336" y="103"/>
                  <a:pt x="336" y="103"/>
                </a:cubicBezTo>
                <a:cubicBezTo>
                  <a:pt x="335" y="100"/>
                  <a:pt x="334" y="97"/>
                  <a:pt x="334" y="97"/>
                </a:cubicBezTo>
                <a:cubicBezTo>
                  <a:pt x="334" y="97"/>
                  <a:pt x="334" y="95"/>
                  <a:pt x="332" y="95"/>
                </a:cubicBezTo>
                <a:cubicBezTo>
                  <a:pt x="332" y="95"/>
                  <a:pt x="332" y="95"/>
                  <a:pt x="332" y="95"/>
                </a:cubicBezTo>
                <a:cubicBezTo>
                  <a:pt x="329" y="95"/>
                  <a:pt x="329" y="97"/>
                  <a:pt x="329" y="97"/>
                </a:cubicBezTo>
                <a:cubicBezTo>
                  <a:pt x="328" y="113"/>
                  <a:pt x="328" y="113"/>
                  <a:pt x="328" y="113"/>
                </a:cubicBezTo>
                <a:cubicBezTo>
                  <a:pt x="328" y="113"/>
                  <a:pt x="328" y="114"/>
                  <a:pt x="328" y="114"/>
                </a:cubicBezTo>
                <a:cubicBezTo>
                  <a:pt x="328" y="114"/>
                  <a:pt x="328" y="114"/>
                  <a:pt x="328" y="114"/>
                </a:cubicBezTo>
                <a:cubicBezTo>
                  <a:pt x="328" y="114"/>
                  <a:pt x="328" y="116"/>
                  <a:pt x="328" y="117"/>
                </a:cubicBezTo>
                <a:cubicBezTo>
                  <a:pt x="326" y="117"/>
                  <a:pt x="326" y="117"/>
                  <a:pt x="326" y="117"/>
                </a:cubicBezTo>
                <a:cubicBezTo>
                  <a:pt x="326" y="94"/>
                  <a:pt x="326" y="94"/>
                  <a:pt x="326" y="94"/>
                </a:cubicBezTo>
                <a:cubicBezTo>
                  <a:pt x="326" y="94"/>
                  <a:pt x="326" y="93"/>
                  <a:pt x="325" y="93"/>
                </a:cubicBezTo>
                <a:cubicBezTo>
                  <a:pt x="325" y="78"/>
                  <a:pt x="325" y="78"/>
                  <a:pt x="325" y="78"/>
                </a:cubicBezTo>
                <a:cubicBezTo>
                  <a:pt x="325" y="78"/>
                  <a:pt x="325" y="78"/>
                  <a:pt x="323" y="78"/>
                </a:cubicBezTo>
                <a:cubicBezTo>
                  <a:pt x="323" y="65"/>
                  <a:pt x="323" y="65"/>
                  <a:pt x="323" y="65"/>
                </a:cubicBezTo>
                <a:cubicBezTo>
                  <a:pt x="322" y="65"/>
                  <a:pt x="322" y="65"/>
                  <a:pt x="322" y="65"/>
                </a:cubicBezTo>
                <a:cubicBezTo>
                  <a:pt x="322" y="65"/>
                  <a:pt x="322" y="65"/>
                  <a:pt x="322" y="65"/>
                </a:cubicBezTo>
                <a:cubicBezTo>
                  <a:pt x="320" y="65"/>
                  <a:pt x="320" y="65"/>
                  <a:pt x="320" y="65"/>
                </a:cubicBezTo>
                <a:cubicBezTo>
                  <a:pt x="320" y="64"/>
                  <a:pt x="320" y="64"/>
                  <a:pt x="320" y="64"/>
                </a:cubicBezTo>
                <a:cubicBezTo>
                  <a:pt x="303" y="64"/>
                  <a:pt x="303" y="64"/>
                  <a:pt x="303" y="64"/>
                </a:cubicBezTo>
                <a:cubicBezTo>
                  <a:pt x="303" y="65"/>
                  <a:pt x="303" y="65"/>
                  <a:pt x="303" y="65"/>
                </a:cubicBezTo>
                <a:cubicBezTo>
                  <a:pt x="302" y="65"/>
                  <a:pt x="302" y="65"/>
                  <a:pt x="302" y="65"/>
                </a:cubicBezTo>
                <a:cubicBezTo>
                  <a:pt x="302" y="64"/>
                  <a:pt x="302" y="64"/>
                  <a:pt x="302" y="64"/>
                </a:cubicBezTo>
                <a:cubicBezTo>
                  <a:pt x="294" y="64"/>
                  <a:pt x="294" y="64"/>
                  <a:pt x="294" y="64"/>
                </a:cubicBezTo>
                <a:cubicBezTo>
                  <a:pt x="294" y="65"/>
                  <a:pt x="294" y="65"/>
                  <a:pt x="294" y="65"/>
                </a:cubicBezTo>
                <a:cubicBezTo>
                  <a:pt x="294" y="68"/>
                  <a:pt x="294" y="68"/>
                  <a:pt x="294" y="68"/>
                </a:cubicBezTo>
                <a:cubicBezTo>
                  <a:pt x="294" y="105"/>
                  <a:pt x="294" y="105"/>
                  <a:pt x="294" y="105"/>
                </a:cubicBezTo>
                <a:cubicBezTo>
                  <a:pt x="290" y="105"/>
                  <a:pt x="290" y="105"/>
                  <a:pt x="290" y="105"/>
                </a:cubicBezTo>
                <a:cubicBezTo>
                  <a:pt x="290" y="69"/>
                  <a:pt x="290" y="69"/>
                  <a:pt x="290" y="69"/>
                </a:cubicBezTo>
                <a:cubicBezTo>
                  <a:pt x="283" y="67"/>
                  <a:pt x="283" y="67"/>
                  <a:pt x="283" y="67"/>
                </a:cubicBezTo>
                <a:cubicBezTo>
                  <a:pt x="274" y="67"/>
                  <a:pt x="274" y="67"/>
                  <a:pt x="274" y="67"/>
                </a:cubicBezTo>
                <a:cubicBezTo>
                  <a:pt x="274" y="87"/>
                  <a:pt x="274" y="87"/>
                  <a:pt x="274" y="87"/>
                </a:cubicBezTo>
                <a:cubicBezTo>
                  <a:pt x="268" y="79"/>
                  <a:pt x="268" y="79"/>
                  <a:pt x="268" y="79"/>
                </a:cubicBezTo>
                <a:cubicBezTo>
                  <a:pt x="268" y="55"/>
                  <a:pt x="268" y="55"/>
                  <a:pt x="268" y="55"/>
                </a:cubicBezTo>
                <a:cubicBezTo>
                  <a:pt x="265" y="35"/>
                  <a:pt x="265" y="35"/>
                  <a:pt x="265" y="35"/>
                </a:cubicBezTo>
                <a:cubicBezTo>
                  <a:pt x="265" y="34"/>
                  <a:pt x="265" y="34"/>
                  <a:pt x="265" y="34"/>
                </a:cubicBezTo>
                <a:cubicBezTo>
                  <a:pt x="265" y="31"/>
                  <a:pt x="265" y="31"/>
                  <a:pt x="265" y="31"/>
                </a:cubicBezTo>
                <a:cubicBezTo>
                  <a:pt x="260" y="31"/>
                  <a:pt x="260" y="31"/>
                  <a:pt x="260" y="31"/>
                </a:cubicBezTo>
                <a:cubicBezTo>
                  <a:pt x="260" y="31"/>
                  <a:pt x="259" y="30"/>
                  <a:pt x="258" y="30"/>
                </a:cubicBezTo>
                <a:cubicBezTo>
                  <a:pt x="257" y="30"/>
                  <a:pt x="257" y="30"/>
                  <a:pt x="256" y="31"/>
                </a:cubicBezTo>
                <a:cubicBezTo>
                  <a:pt x="252" y="31"/>
                  <a:pt x="252" y="31"/>
                  <a:pt x="252" y="31"/>
                </a:cubicBezTo>
                <a:cubicBezTo>
                  <a:pt x="252" y="106"/>
                  <a:pt x="252" y="106"/>
                  <a:pt x="252" y="106"/>
                </a:cubicBezTo>
                <a:cubicBezTo>
                  <a:pt x="249" y="106"/>
                  <a:pt x="249" y="106"/>
                  <a:pt x="249" y="106"/>
                </a:cubicBezTo>
                <a:cubicBezTo>
                  <a:pt x="249" y="87"/>
                  <a:pt x="249" y="87"/>
                  <a:pt x="249" y="87"/>
                </a:cubicBezTo>
                <a:cubicBezTo>
                  <a:pt x="249" y="87"/>
                  <a:pt x="249" y="87"/>
                  <a:pt x="249" y="87"/>
                </a:cubicBezTo>
                <a:cubicBezTo>
                  <a:pt x="249" y="43"/>
                  <a:pt x="249" y="43"/>
                  <a:pt x="249" y="43"/>
                </a:cubicBezTo>
                <a:cubicBezTo>
                  <a:pt x="244" y="43"/>
                  <a:pt x="244" y="43"/>
                  <a:pt x="244" y="43"/>
                </a:cubicBezTo>
                <a:cubicBezTo>
                  <a:pt x="244" y="48"/>
                  <a:pt x="244" y="48"/>
                  <a:pt x="244" y="48"/>
                </a:cubicBezTo>
                <a:cubicBezTo>
                  <a:pt x="242" y="48"/>
                  <a:pt x="242" y="48"/>
                  <a:pt x="242" y="48"/>
                </a:cubicBezTo>
                <a:cubicBezTo>
                  <a:pt x="242" y="55"/>
                  <a:pt x="242" y="55"/>
                  <a:pt x="242" y="55"/>
                </a:cubicBezTo>
                <a:cubicBezTo>
                  <a:pt x="242" y="55"/>
                  <a:pt x="242" y="55"/>
                  <a:pt x="242" y="55"/>
                </a:cubicBezTo>
                <a:cubicBezTo>
                  <a:pt x="242" y="81"/>
                  <a:pt x="242" y="81"/>
                  <a:pt x="242" y="81"/>
                </a:cubicBezTo>
                <a:cubicBezTo>
                  <a:pt x="240" y="81"/>
                  <a:pt x="240" y="81"/>
                  <a:pt x="240" y="81"/>
                </a:cubicBezTo>
                <a:cubicBezTo>
                  <a:pt x="239" y="81"/>
                  <a:pt x="239" y="81"/>
                  <a:pt x="239" y="81"/>
                </a:cubicBezTo>
                <a:cubicBezTo>
                  <a:pt x="239" y="83"/>
                  <a:pt x="239" y="83"/>
                  <a:pt x="239" y="83"/>
                </a:cubicBezTo>
                <a:cubicBezTo>
                  <a:pt x="236" y="83"/>
                  <a:pt x="236" y="83"/>
                  <a:pt x="236" y="83"/>
                </a:cubicBezTo>
                <a:cubicBezTo>
                  <a:pt x="235" y="83"/>
                  <a:pt x="235" y="83"/>
                  <a:pt x="235" y="83"/>
                </a:cubicBezTo>
                <a:cubicBezTo>
                  <a:pt x="235" y="60"/>
                  <a:pt x="235" y="60"/>
                  <a:pt x="235" y="60"/>
                </a:cubicBezTo>
                <a:cubicBezTo>
                  <a:pt x="233" y="60"/>
                  <a:pt x="233" y="60"/>
                  <a:pt x="233" y="60"/>
                </a:cubicBezTo>
                <a:cubicBezTo>
                  <a:pt x="233" y="58"/>
                  <a:pt x="233" y="58"/>
                  <a:pt x="233" y="58"/>
                </a:cubicBezTo>
                <a:cubicBezTo>
                  <a:pt x="230" y="58"/>
                  <a:pt x="230" y="58"/>
                  <a:pt x="230" y="58"/>
                </a:cubicBezTo>
                <a:cubicBezTo>
                  <a:pt x="230" y="60"/>
                  <a:pt x="230" y="60"/>
                  <a:pt x="230" y="60"/>
                </a:cubicBezTo>
                <a:cubicBezTo>
                  <a:pt x="230" y="61"/>
                  <a:pt x="230" y="61"/>
                  <a:pt x="230" y="61"/>
                </a:cubicBezTo>
                <a:cubicBezTo>
                  <a:pt x="230" y="64"/>
                  <a:pt x="230" y="64"/>
                  <a:pt x="230" y="64"/>
                </a:cubicBezTo>
                <a:cubicBezTo>
                  <a:pt x="228" y="65"/>
                  <a:pt x="228" y="65"/>
                  <a:pt x="228" y="65"/>
                </a:cubicBezTo>
                <a:cubicBezTo>
                  <a:pt x="228" y="97"/>
                  <a:pt x="228" y="97"/>
                  <a:pt x="228" y="97"/>
                </a:cubicBezTo>
                <a:cubicBezTo>
                  <a:pt x="227" y="98"/>
                  <a:pt x="227" y="98"/>
                  <a:pt x="227" y="98"/>
                </a:cubicBezTo>
                <a:cubicBezTo>
                  <a:pt x="227" y="108"/>
                  <a:pt x="227" y="108"/>
                  <a:pt x="227" y="108"/>
                </a:cubicBezTo>
                <a:cubicBezTo>
                  <a:pt x="227" y="108"/>
                  <a:pt x="227" y="108"/>
                  <a:pt x="227" y="108"/>
                </a:cubicBezTo>
                <a:cubicBezTo>
                  <a:pt x="227" y="68"/>
                  <a:pt x="227" y="68"/>
                  <a:pt x="227" y="68"/>
                </a:cubicBezTo>
                <a:cubicBezTo>
                  <a:pt x="226" y="68"/>
                  <a:pt x="226" y="68"/>
                  <a:pt x="226" y="68"/>
                </a:cubicBezTo>
                <a:cubicBezTo>
                  <a:pt x="226" y="60"/>
                  <a:pt x="226" y="60"/>
                  <a:pt x="226" y="60"/>
                </a:cubicBezTo>
                <a:cubicBezTo>
                  <a:pt x="227" y="60"/>
                  <a:pt x="227" y="60"/>
                  <a:pt x="227" y="60"/>
                </a:cubicBezTo>
                <a:cubicBezTo>
                  <a:pt x="227" y="58"/>
                  <a:pt x="227" y="58"/>
                  <a:pt x="227" y="58"/>
                </a:cubicBezTo>
                <a:cubicBezTo>
                  <a:pt x="226" y="58"/>
                  <a:pt x="226" y="58"/>
                  <a:pt x="226" y="58"/>
                </a:cubicBezTo>
                <a:cubicBezTo>
                  <a:pt x="226" y="58"/>
                  <a:pt x="226" y="58"/>
                  <a:pt x="226" y="58"/>
                </a:cubicBezTo>
                <a:cubicBezTo>
                  <a:pt x="225" y="58"/>
                  <a:pt x="225" y="58"/>
                  <a:pt x="225" y="58"/>
                </a:cubicBezTo>
                <a:cubicBezTo>
                  <a:pt x="225" y="44"/>
                  <a:pt x="225" y="44"/>
                  <a:pt x="225" y="44"/>
                </a:cubicBezTo>
                <a:cubicBezTo>
                  <a:pt x="223" y="44"/>
                  <a:pt x="223" y="44"/>
                  <a:pt x="223" y="44"/>
                </a:cubicBezTo>
                <a:cubicBezTo>
                  <a:pt x="223" y="43"/>
                  <a:pt x="223" y="43"/>
                  <a:pt x="223" y="43"/>
                </a:cubicBezTo>
                <a:cubicBezTo>
                  <a:pt x="223" y="43"/>
                  <a:pt x="223" y="43"/>
                  <a:pt x="223" y="43"/>
                </a:cubicBezTo>
                <a:cubicBezTo>
                  <a:pt x="223" y="40"/>
                  <a:pt x="223" y="40"/>
                  <a:pt x="223" y="40"/>
                </a:cubicBezTo>
                <a:cubicBezTo>
                  <a:pt x="222" y="40"/>
                  <a:pt x="222" y="40"/>
                  <a:pt x="222" y="40"/>
                </a:cubicBezTo>
                <a:cubicBezTo>
                  <a:pt x="222" y="40"/>
                  <a:pt x="222" y="40"/>
                  <a:pt x="222" y="40"/>
                </a:cubicBezTo>
                <a:cubicBezTo>
                  <a:pt x="222" y="40"/>
                  <a:pt x="222" y="40"/>
                  <a:pt x="222" y="40"/>
                </a:cubicBezTo>
                <a:cubicBezTo>
                  <a:pt x="222" y="36"/>
                  <a:pt x="222" y="36"/>
                  <a:pt x="222" y="36"/>
                </a:cubicBezTo>
                <a:cubicBezTo>
                  <a:pt x="222" y="36"/>
                  <a:pt x="222" y="36"/>
                  <a:pt x="222" y="36"/>
                </a:cubicBezTo>
                <a:cubicBezTo>
                  <a:pt x="222" y="36"/>
                  <a:pt x="222" y="36"/>
                  <a:pt x="222" y="36"/>
                </a:cubicBezTo>
                <a:cubicBezTo>
                  <a:pt x="221" y="36"/>
                  <a:pt x="221" y="36"/>
                  <a:pt x="221" y="36"/>
                </a:cubicBezTo>
                <a:cubicBezTo>
                  <a:pt x="221" y="32"/>
                  <a:pt x="221" y="32"/>
                  <a:pt x="221" y="32"/>
                </a:cubicBezTo>
                <a:cubicBezTo>
                  <a:pt x="221" y="32"/>
                  <a:pt x="221" y="32"/>
                  <a:pt x="220" y="32"/>
                </a:cubicBezTo>
                <a:cubicBezTo>
                  <a:pt x="220" y="28"/>
                  <a:pt x="220" y="28"/>
                  <a:pt x="220" y="28"/>
                </a:cubicBezTo>
                <a:cubicBezTo>
                  <a:pt x="219" y="28"/>
                  <a:pt x="219" y="28"/>
                  <a:pt x="219" y="28"/>
                </a:cubicBezTo>
                <a:cubicBezTo>
                  <a:pt x="219" y="27"/>
                  <a:pt x="219" y="27"/>
                  <a:pt x="219" y="27"/>
                </a:cubicBezTo>
                <a:cubicBezTo>
                  <a:pt x="219" y="27"/>
                  <a:pt x="219" y="27"/>
                  <a:pt x="219" y="27"/>
                </a:cubicBezTo>
                <a:cubicBezTo>
                  <a:pt x="219" y="24"/>
                  <a:pt x="219" y="24"/>
                  <a:pt x="219" y="24"/>
                </a:cubicBezTo>
                <a:cubicBezTo>
                  <a:pt x="219" y="24"/>
                  <a:pt x="219" y="24"/>
                  <a:pt x="219" y="24"/>
                </a:cubicBezTo>
                <a:cubicBezTo>
                  <a:pt x="219" y="24"/>
                  <a:pt x="219" y="24"/>
                  <a:pt x="219" y="24"/>
                </a:cubicBezTo>
                <a:cubicBezTo>
                  <a:pt x="219" y="24"/>
                  <a:pt x="219" y="24"/>
                  <a:pt x="219" y="24"/>
                </a:cubicBezTo>
                <a:cubicBezTo>
                  <a:pt x="219" y="23"/>
                  <a:pt x="219" y="23"/>
                  <a:pt x="219" y="23"/>
                </a:cubicBezTo>
                <a:cubicBezTo>
                  <a:pt x="218" y="23"/>
                  <a:pt x="218" y="23"/>
                  <a:pt x="218" y="23"/>
                </a:cubicBezTo>
                <a:cubicBezTo>
                  <a:pt x="218" y="19"/>
                  <a:pt x="218" y="19"/>
                  <a:pt x="218" y="19"/>
                </a:cubicBezTo>
                <a:cubicBezTo>
                  <a:pt x="218" y="19"/>
                  <a:pt x="218" y="19"/>
                  <a:pt x="218" y="19"/>
                </a:cubicBezTo>
                <a:cubicBezTo>
                  <a:pt x="218" y="19"/>
                  <a:pt x="218" y="19"/>
                  <a:pt x="218" y="19"/>
                </a:cubicBezTo>
                <a:cubicBezTo>
                  <a:pt x="218" y="19"/>
                  <a:pt x="218" y="19"/>
                  <a:pt x="218" y="19"/>
                </a:cubicBezTo>
                <a:cubicBezTo>
                  <a:pt x="218" y="14"/>
                  <a:pt x="218" y="14"/>
                  <a:pt x="218" y="14"/>
                </a:cubicBezTo>
                <a:cubicBezTo>
                  <a:pt x="217" y="14"/>
                  <a:pt x="217" y="14"/>
                  <a:pt x="217" y="14"/>
                </a:cubicBezTo>
                <a:cubicBezTo>
                  <a:pt x="217" y="4"/>
                  <a:pt x="217" y="4"/>
                  <a:pt x="217" y="4"/>
                </a:cubicBezTo>
                <a:cubicBezTo>
                  <a:pt x="217" y="4"/>
                  <a:pt x="217" y="4"/>
                  <a:pt x="217" y="4"/>
                </a:cubicBezTo>
                <a:cubicBezTo>
                  <a:pt x="217" y="0"/>
                  <a:pt x="217" y="0"/>
                  <a:pt x="217" y="0"/>
                </a:cubicBezTo>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12" name="矩形 11"/>
          <p:cNvSpPr/>
          <p:nvPr/>
        </p:nvSpPr>
        <p:spPr>
          <a:xfrm>
            <a:off x="-13523" y="2576186"/>
            <a:ext cx="9150761" cy="25812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2" name="直角三角形 51"/>
          <p:cNvSpPr/>
          <p:nvPr/>
        </p:nvSpPr>
        <p:spPr>
          <a:xfrm rot="16200000" flipH="1" flipV="1">
            <a:off x="7843245" y="4258917"/>
            <a:ext cx="187727" cy="360039"/>
          </a:xfrm>
          <a:prstGeom prst="rtTriangl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矩形 48"/>
          <p:cNvSpPr/>
          <p:nvPr/>
        </p:nvSpPr>
        <p:spPr>
          <a:xfrm>
            <a:off x="316231" y="1112982"/>
            <a:ext cx="7376396" cy="1569660"/>
          </a:xfrm>
          <a:prstGeom prst="rect">
            <a:avLst/>
          </a:prstGeom>
          <a:noFill/>
          <a:effectLst>
            <a:outerShdw dist="50800" dir="5400000" algn="ctr" rotWithShape="0">
              <a:srgbClr val="000000">
                <a:alpha val="43137"/>
              </a:srgbClr>
            </a:outerShdw>
          </a:effectLst>
        </p:spPr>
        <p:txBody>
          <a:bodyPr wrap="square">
            <a:spAutoFit/>
          </a:bodyPr>
          <a:lstStyle/>
          <a:p>
            <a:r>
              <a:rPr lang="en-US" altLang="zh-CN" sz="4800" b="1" dirty="0">
                <a:solidFill>
                  <a:schemeClr val="bg1"/>
                </a:solidFill>
                <a:latin typeface="Aharoni" panose="020B0604020202020204" pitchFamily="2" charset="-79"/>
                <a:cs typeface="Aharoni" panose="020B0604020202020204" pitchFamily="2" charset="-79"/>
                <a:sym typeface="+mn-lt"/>
              </a:rPr>
              <a:t>A Simple Text-Translator Based on LSTM </a:t>
            </a:r>
            <a:endParaRPr lang="en-US" altLang="zh-CN" sz="4400" b="1" dirty="0">
              <a:solidFill>
                <a:schemeClr val="bg1"/>
              </a:solidFill>
              <a:latin typeface="Aharoni" panose="020B0604020202020204" pitchFamily="2" charset="-79"/>
              <a:cs typeface="Aharoni" panose="020B0604020202020204" pitchFamily="2" charset="-79"/>
              <a:sym typeface="+mn-lt"/>
            </a:endParaRPr>
          </a:p>
        </p:txBody>
      </p:sp>
      <p:sp>
        <p:nvSpPr>
          <p:cNvPr id="50" name="矩形 49"/>
          <p:cNvSpPr/>
          <p:nvPr/>
        </p:nvSpPr>
        <p:spPr>
          <a:xfrm>
            <a:off x="5292080" y="3715761"/>
            <a:ext cx="2468782" cy="823895"/>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Subtitle 2"/>
          <p:cNvSpPr txBox="1">
            <a:spLocks/>
          </p:cNvSpPr>
          <p:nvPr/>
        </p:nvSpPr>
        <p:spPr>
          <a:xfrm>
            <a:off x="5358268" y="3758170"/>
            <a:ext cx="3278861" cy="48801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1200" b="1" dirty="0">
                <a:solidFill>
                  <a:schemeClr val="accent4">
                    <a:lumMod val="20000"/>
                    <a:lumOff val="80000"/>
                  </a:schemeClr>
                </a:solidFill>
                <a:latin typeface="Dotum" panose="020B0600000101010101" pitchFamily="34" charset="-127"/>
                <a:ea typeface="Dotum" panose="020B0600000101010101" pitchFamily="34" charset="-127"/>
                <a:cs typeface="+mn-ea"/>
                <a:sym typeface="+mn-lt"/>
              </a:rPr>
              <a:t>Group 2: </a:t>
            </a:r>
            <a:r>
              <a:rPr lang="en-US" altLang="zh-CN" sz="1200" b="1" dirty="0" err="1">
                <a:solidFill>
                  <a:schemeClr val="accent4">
                    <a:lumMod val="20000"/>
                    <a:lumOff val="80000"/>
                  </a:schemeClr>
                </a:solidFill>
                <a:latin typeface="Dotum" panose="020B0600000101010101" pitchFamily="34" charset="-127"/>
                <a:ea typeface="Dotum" panose="020B0600000101010101" pitchFamily="34" charset="-127"/>
                <a:cs typeface="+mn-ea"/>
                <a:sym typeface="+mn-lt"/>
              </a:rPr>
              <a:t>Runhai</a:t>
            </a:r>
            <a:r>
              <a:rPr lang="en-US" altLang="zh-CN" sz="1200" b="1" dirty="0">
                <a:solidFill>
                  <a:schemeClr val="accent4">
                    <a:lumMod val="20000"/>
                    <a:lumOff val="80000"/>
                  </a:schemeClr>
                </a:solidFill>
                <a:latin typeface="Dotum" panose="020B0600000101010101" pitchFamily="34" charset="-127"/>
                <a:ea typeface="Dotum" panose="020B0600000101010101" pitchFamily="34" charset="-127"/>
                <a:cs typeface="+mn-ea"/>
                <a:sym typeface="+mn-lt"/>
              </a:rPr>
              <a:t> XU (James)</a:t>
            </a:r>
          </a:p>
          <a:p>
            <a:pPr marL="0" indent="0">
              <a:buNone/>
            </a:pPr>
            <a:r>
              <a:rPr lang="en-US" altLang="zh-CN" sz="1200" b="1" dirty="0">
                <a:solidFill>
                  <a:schemeClr val="accent4">
                    <a:lumMod val="20000"/>
                    <a:lumOff val="80000"/>
                  </a:schemeClr>
                </a:solidFill>
                <a:latin typeface="Dotum" panose="020B0600000101010101" pitchFamily="34" charset="-127"/>
                <a:ea typeface="Dotum" panose="020B0600000101010101" pitchFamily="34" charset="-127"/>
                <a:cs typeface="+mn-ea"/>
                <a:sym typeface="+mn-lt"/>
              </a:rPr>
              <a:t>             </a:t>
            </a:r>
            <a:r>
              <a:rPr lang="en-US" altLang="zh-CN" sz="1200" b="1" dirty="0" err="1">
                <a:solidFill>
                  <a:schemeClr val="accent4">
                    <a:lumMod val="20000"/>
                    <a:lumOff val="80000"/>
                  </a:schemeClr>
                </a:solidFill>
                <a:latin typeface="Dotum" panose="020B0600000101010101" pitchFamily="34" charset="-127"/>
                <a:ea typeface="Dotum" panose="020B0600000101010101" pitchFamily="34" charset="-127"/>
                <a:cs typeface="+mn-ea"/>
                <a:sym typeface="+mn-lt"/>
              </a:rPr>
              <a:t>Zhaohang</a:t>
            </a:r>
            <a:r>
              <a:rPr lang="en-US" altLang="zh-CN" sz="1200" b="1" dirty="0">
                <a:solidFill>
                  <a:schemeClr val="accent4">
                    <a:lumMod val="20000"/>
                    <a:lumOff val="80000"/>
                  </a:schemeClr>
                </a:solidFill>
                <a:latin typeface="Dotum" panose="020B0600000101010101" pitchFamily="34" charset="-127"/>
                <a:ea typeface="Dotum" panose="020B0600000101010101" pitchFamily="34" charset="-127"/>
                <a:cs typeface="+mn-ea"/>
                <a:sym typeface="+mn-lt"/>
              </a:rPr>
              <a:t> YAN (Martin)</a:t>
            </a:r>
          </a:p>
          <a:p>
            <a:pPr marL="0" indent="0">
              <a:buNone/>
            </a:pPr>
            <a:r>
              <a:rPr lang="en-US" altLang="zh-CN" sz="1200" b="1" dirty="0">
                <a:solidFill>
                  <a:schemeClr val="accent4">
                    <a:lumMod val="20000"/>
                    <a:lumOff val="80000"/>
                  </a:schemeClr>
                </a:solidFill>
                <a:latin typeface="Dotum" panose="020B0600000101010101" pitchFamily="34" charset="-127"/>
                <a:ea typeface="Dotum" panose="020B0600000101010101" pitchFamily="34" charset="-127"/>
                <a:cs typeface="+mn-ea"/>
                <a:sym typeface="+mn-lt"/>
              </a:rPr>
              <a:t>             </a:t>
            </a:r>
            <a:r>
              <a:rPr lang="en-US" altLang="zh-CN" sz="1200" b="1" dirty="0" err="1">
                <a:solidFill>
                  <a:schemeClr val="accent4">
                    <a:lumMod val="20000"/>
                    <a:lumOff val="80000"/>
                  </a:schemeClr>
                </a:solidFill>
                <a:latin typeface="Dotum" panose="020B0600000101010101" pitchFamily="34" charset="-127"/>
                <a:ea typeface="Dotum" panose="020B0600000101010101" pitchFamily="34" charset="-127"/>
                <a:cs typeface="+mn-ea"/>
                <a:sym typeface="+mn-lt"/>
              </a:rPr>
              <a:t>Shiyu</a:t>
            </a:r>
            <a:r>
              <a:rPr lang="en-US" altLang="zh-CN" sz="1200" b="1" dirty="0">
                <a:solidFill>
                  <a:schemeClr val="accent4">
                    <a:lumMod val="20000"/>
                    <a:lumOff val="80000"/>
                  </a:schemeClr>
                </a:solidFill>
                <a:latin typeface="Dotum" panose="020B0600000101010101" pitchFamily="34" charset="-127"/>
                <a:ea typeface="Dotum" panose="020B0600000101010101" pitchFamily="34" charset="-127"/>
                <a:cs typeface="+mn-ea"/>
                <a:sym typeface="+mn-lt"/>
              </a:rPr>
              <a:t> FAN (Leo)</a:t>
            </a:r>
          </a:p>
        </p:txBody>
      </p:sp>
      <p:sp>
        <p:nvSpPr>
          <p:cNvPr id="3" name="文本框 2">
            <a:extLst>
              <a:ext uri="{FF2B5EF4-FFF2-40B4-BE49-F238E27FC236}">
                <a16:creationId xmlns:a16="http://schemas.microsoft.com/office/drawing/2014/main" id="{AAE72B26-F216-4B78-9D81-FEE34241EAC8}"/>
              </a:ext>
            </a:extLst>
          </p:cNvPr>
          <p:cNvSpPr txBox="1"/>
          <p:nvPr/>
        </p:nvSpPr>
        <p:spPr>
          <a:xfrm rot="20028523">
            <a:off x="-64013" y="-62171"/>
            <a:ext cx="736099" cy="707886"/>
          </a:xfrm>
          <a:prstGeom prst="rect">
            <a:avLst/>
          </a:prstGeom>
          <a:noFill/>
        </p:spPr>
        <p:txBody>
          <a:bodyPr wrap="none" rtlCol="0">
            <a:spAutoFit/>
          </a:bodyPr>
          <a:lstStyle/>
          <a:p>
            <a:r>
              <a:rPr lang="az-Cyrl-AZ" altLang="zh-CN" sz="4000" b="1" dirty="0"/>
              <a:t>да</a:t>
            </a:r>
            <a:endParaRPr lang="zh-CN" altLang="en-US" sz="4000" b="1" dirty="0"/>
          </a:p>
        </p:txBody>
      </p:sp>
      <p:sp>
        <p:nvSpPr>
          <p:cNvPr id="6" name="文本框 5">
            <a:extLst>
              <a:ext uri="{FF2B5EF4-FFF2-40B4-BE49-F238E27FC236}">
                <a16:creationId xmlns:a16="http://schemas.microsoft.com/office/drawing/2014/main" id="{C7E946F5-B9BD-43A1-A727-6127F5CD1683}"/>
              </a:ext>
            </a:extLst>
          </p:cNvPr>
          <p:cNvSpPr txBox="1"/>
          <p:nvPr/>
        </p:nvSpPr>
        <p:spPr>
          <a:xfrm rot="1223986">
            <a:off x="5005006" y="3106686"/>
            <a:ext cx="3985386" cy="707886"/>
          </a:xfrm>
          <a:prstGeom prst="rect">
            <a:avLst/>
          </a:prstGeom>
          <a:noFill/>
        </p:spPr>
        <p:txBody>
          <a:bodyPr wrap="none" rtlCol="0">
            <a:spAutoFit/>
          </a:bodyPr>
          <a:lstStyle/>
          <a:p>
            <a:r>
              <a:rPr lang="en-US" altLang="zh-CN" sz="4000" b="1" dirty="0">
                <a:solidFill>
                  <a:schemeClr val="accent1">
                    <a:lumMod val="60000"/>
                    <a:lumOff val="40000"/>
                  </a:schemeClr>
                </a:solidFill>
              </a:rPr>
              <a:t>Machine Learning</a:t>
            </a:r>
            <a:endParaRPr lang="zh-CN" altLang="en-US" sz="4000" b="1" dirty="0">
              <a:solidFill>
                <a:schemeClr val="accent1">
                  <a:lumMod val="60000"/>
                  <a:lumOff val="40000"/>
                </a:schemeClr>
              </a:solidFill>
            </a:endParaRPr>
          </a:p>
        </p:txBody>
      </p:sp>
      <p:sp>
        <p:nvSpPr>
          <p:cNvPr id="7" name="文本框 6">
            <a:extLst>
              <a:ext uri="{FF2B5EF4-FFF2-40B4-BE49-F238E27FC236}">
                <a16:creationId xmlns:a16="http://schemas.microsoft.com/office/drawing/2014/main" id="{7792AFC2-9071-44F3-9C96-B362F7F6D461}"/>
              </a:ext>
            </a:extLst>
          </p:cNvPr>
          <p:cNvSpPr txBox="1"/>
          <p:nvPr/>
        </p:nvSpPr>
        <p:spPr>
          <a:xfrm>
            <a:off x="307708" y="2664506"/>
            <a:ext cx="2783134" cy="830997"/>
          </a:xfrm>
          <a:prstGeom prst="rect">
            <a:avLst/>
          </a:prstGeom>
          <a:noFill/>
        </p:spPr>
        <p:txBody>
          <a:bodyPr wrap="none" rtlCol="0">
            <a:spAutoFit/>
          </a:bodyPr>
          <a:lstStyle/>
          <a:p>
            <a:r>
              <a:rPr lang="en-US" altLang="zh-CN" sz="4800" dirty="0">
                <a:solidFill>
                  <a:schemeClr val="bg2"/>
                </a:solidFill>
                <a:latin typeface="Aharoni" panose="02010803020104030203" pitchFamily="2" charset="-79"/>
                <a:cs typeface="Aharoni" panose="02010803020104030203" pitchFamily="2" charset="-79"/>
              </a:rPr>
              <a:t>Rus - </a:t>
            </a:r>
            <a:r>
              <a:rPr lang="en-US" altLang="zh-CN" sz="4800" dirty="0" err="1">
                <a:solidFill>
                  <a:schemeClr val="bg2"/>
                </a:solidFill>
                <a:latin typeface="Aharoni" panose="02010803020104030203" pitchFamily="2" charset="-79"/>
                <a:cs typeface="Aharoni" panose="02010803020104030203" pitchFamily="2" charset="-79"/>
              </a:rPr>
              <a:t>Eng</a:t>
            </a:r>
            <a:endParaRPr lang="zh-CN" altLang="en-US" sz="4800" dirty="0">
              <a:solidFill>
                <a:schemeClr val="bg2"/>
              </a:solidFill>
              <a:latin typeface="Aharoni" panose="02010803020104030203" pitchFamily="2" charset="-79"/>
              <a:cs typeface="Aharoni" panose="02010803020104030203" pitchFamily="2" charset="-79"/>
            </a:endParaRPr>
          </a:p>
        </p:txBody>
      </p:sp>
      <p:sp>
        <p:nvSpPr>
          <p:cNvPr id="15" name="文本框 14">
            <a:extLst>
              <a:ext uri="{FF2B5EF4-FFF2-40B4-BE49-F238E27FC236}">
                <a16:creationId xmlns:a16="http://schemas.microsoft.com/office/drawing/2014/main" id="{A9EDFD8E-92F7-4B96-8ADA-FC5991CA2411}"/>
              </a:ext>
            </a:extLst>
          </p:cNvPr>
          <p:cNvSpPr txBox="1"/>
          <p:nvPr/>
        </p:nvSpPr>
        <p:spPr>
          <a:xfrm rot="1223986">
            <a:off x="350482" y="4439094"/>
            <a:ext cx="2394502" cy="707886"/>
          </a:xfrm>
          <a:prstGeom prst="rect">
            <a:avLst/>
          </a:prstGeom>
          <a:noFill/>
        </p:spPr>
        <p:txBody>
          <a:bodyPr wrap="none" rtlCol="0">
            <a:spAutoFit/>
          </a:bodyPr>
          <a:lstStyle/>
          <a:p>
            <a:r>
              <a:rPr lang="en-US" altLang="zh-CN" sz="4000" b="1" dirty="0">
                <a:solidFill>
                  <a:schemeClr val="accent1">
                    <a:lumMod val="60000"/>
                    <a:lumOff val="40000"/>
                  </a:schemeClr>
                </a:solidFill>
              </a:rPr>
              <a:t>Thank you</a:t>
            </a:r>
            <a:endParaRPr lang="zh-CN" altLang="en-US" sz="4000" b="1" dirty="0">
              <a:solidFill>
                <a:schemeClr val="accent1">
                  <a:lumMod val="60000"/>
                  <a:lumOff val="40000"/>
                </a:schemeClr>
              </a:solidFill>
            </a:endParaRPr>
          </a:p>
        </p:txBody>
      </p:sp>
      <p:sp>
        <p:nvSpPr>
          <p:cNvPr id="16" name="文本框 15">
            <a:extLst>
              <a:ext uri="{FF2B5EF4-FFF2-40B4-BE49-F238E27FC236}">
                <a16:creationId xmlns:a16="http://schemas.microsoft.com/office/drawing/2014/main" id="{C6A30591-DB28-445F-83AE-F2D92BAED714}"/>
              </a:ext>
            </a:extLst>
          </p:cNvPr>
          <p:cNvSpPr txBox="1"/>
          <p:nvPr/>
        </p:nvSpPr>
        <p:spPr>
          <a:xfrm rot="1223986">
            <a:off x="3206709" y="4084993"/>
            <a:ext cx="872931" cy="707886"/>
          </a:xfrm>
          <a:prstGeom prst="rect">
            <a:avLst/>
          </a:prstGeom>
          <a:noFill/>
        </p:spPr>
        <p:txBody>
          <a:bodyPr wrap="none" rtlCol="0">
            <a:spAutoFit/>
          </a:bodyPr>
          <a:lstStyle/>
          <a:p>
            <a:r>
              <a:rPr lang="en-US" altLang="zh-CN" sz="4000" b="1" dirty="0">
                <a:solidFill>
                  <a:schemeClr val="accent1">
                    <a:lumMod val="60000"/>
                    <a:lumOff val="40000"/>
                  </a:schemeClr>
                </a:solidFill>
              </a:rPr>
              <a:t>Yes</a:t>
            </a:r>
            <a:endParaRPr lang="zh-CN" altLang="en-US" sz="4000" b="1" dirty="0">
              <a:solidFill>
                <a:schemeClr val="accent1">
                  <a:lumMod val="60000"/>
                  <a:lumOff val="40000"/>
                </a:schemeClr>
              </a:solidFill>
            </a:endParaRPr>
          </a:p>
        </p:txBody>
      </p:sp>
    </p:spTree>
    <p:extLst>
      <p:ext uri="{BB962C8B-B14F-4D97-AF65-F5344CB8AC3E}">
        <p14:creationId xmlns:p14="http://schemas.microsoft.com/office/powerpoint/2010/main" val="1132260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
          <p:cNvSpPr txBox="1">
            <a:spLocks/>
          </p:cNvSpPr>
          <p:nvPr/>
        </p:nvSpPr>
        <p:spPr>
          <a:xfrm>
            <a:off x="2439263" y="4095409"/>
            <a:ext cx="4536210" cy="63276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200" dirty="0">
                <a:solidFill>
                  <a:schemeClr val="tx1">
                    <a:lumMod val="75000"/>
                  </a:schemeClr>
                </a:solidFill>
                <a:cs typeface="+mn-ea"/>
                <a:sym typeface="+mn-lt"/>
              </a:rPr>
              <a:t>The </a:t>
            </a:r>
            <a:r>
              <a:rPr lang="en-US" altLang="zh-CN" sz="1200" dirty="0">
                <a:solidFill>
                  <a:schemeClr val="tx1">
                    <a:lumMod val="75000"/>
                  </a:schemeClr>
                </a:solidFill>
                <a:cs typeface="+mn-ea"/>
                <a:sym typeface="+mn-lt"/>
              </a:rPr>
              <a:t>training dataset comes from </a:t>
            </a:r>
            <a:r>
              <a:rPr lang="en-US" altLang="zh-CN" sz="1200" u="sng" dirty="0">
                <a:solidFill>
                  <a:schemeClr val="tx1">
                    <a:lumMod val="75000"/>
                  </a:schemeClr>
                </a:solidFill>
                <a:cs typeface="+mn-ea"/>
                <a:sym typeface="+mn-lt"/>
              </a:rPr>
              <a:t>http://storage.googleapis.com/download.tensorflow.org/data/rus-eng.zip</a:t>
            </a:r>
            <a:r>
              <a:rPr lang="en-US" altLang="zh-CN" sz="1200" dirty="0">
                <a:solidFill>
                  <a:schemeClr val="tx1">
                    <a:lumMod val="75000"/>
                  </a:schemeClr>
                </a:solidFill>
                <a:cs typeface="+mn-ea"/>
                <a:sym typeface="+mn-lt"/>
              </a:rPr>
              <a:t>, this dataset contains 330k pairs of Rus-</a:t>
            </a:r>
            <a:r>
              <a:rPr lang="en-US" altLang="zh-CN" sz="1200" dirty="0" err="1">
                <a:solidFill>
                  <a:schemeClr val="tx1">
                    <a:lumMod val="75000"/>
                  </a:schemeClr>
                </a:solidFill>
                <a:cs typeface="+mn-ea"/>
                <a:sym typeface="+mn-lt"/>
              </a:rPr>
              <a:t>Eng</a:t>
            </a:r>
            <a:r>
              <a:rPr lang="en-US" altLang="zh-CN" sz="1200" dirty="0">
                <a:solidFill>
                  <a:schemeClr val="tx1">
                    <a:lumMod val="75000"/>
                  </a:schemeClr>
                </a:solidFill>
                <a:cs typeface="+mn-ea"/>
                <a:sym typeface="+mn-lt"/>
              </a:rPr>
              <a:t> sentences</a:t>
            </a:r>
            <a:endParaRPr lang="en-US" sz="1200" dirty="0">
              <a:solidFill>
                <a:schemeClr val="tx1">
                  <a:lumMod val="75000"/>
                </a:schemeClr>
              </a:solidFill>
              <a:cs typeface="+mn-ea"/>
              <a:sym typeface="+mn-lt"/>
            </a:endParaRPr>
          </a:p>
        </p:txBody>
      </p:sp>
      <p:sp>
        <p:nvSpPr>
          <p:cNvPr id="21" name="矩形 20"/>
          <p:cNvSpPr/>
          <p:nvPr/>
        </p:nvSpPr>
        <p:spPr>
          <a:xfrm>
            <a:off x="1801661" y="411163"/>
            <a:ext cx="5540678" cy="738664"/>
          </a:xfrm>
          <a:prstGeom prst="rect">
            <a:avLst/>
          </a:prstGeom>
        </p:spPr>
        <p:txBody>
          <a:bodyPr wrap="square">
            <a:spAutoFit/>
          </a:bodyPr>
          <a:lstStyle/>
          <a:p>
            <a:pPr algn="ctr"/>
            <a:r>
              <a:rPr lang="en-US" altLang="zh-CN" sz="2800" b="1" dirty="0">
                <a:solidFill>
                  <a:schemeClr val="bg1"/>
                </a:solidFill>
                <a:latin typeface="Aharoni" panose="02010803020104030203" pitchFamily="2" charset="-79"/>
                <a:cs typeface="Aharoni" panose="02010803020104030203" pitchFamily="2" charset="-79"/>
                <a:sym typeface="+mn-lt"/>
              </a:rPr>
              <a:t>Sentence Preprocessing</a:t>
            </a:r>
          </a:p>
          <a:p>
            <a:pPr algn="ctr"/>
            <a:r>
              <a:rPr lang="en-US" altLang="zh-CN" sz="1400" dirty="0">
                <a:solidFill>
                  <a:schemeClr val="tx1">
                    <a:lumMod val="75000"/>
                  </a:schemeClr>
                </a:solidFill>
                <a:cs typeface="+mn-ea"/>
                <a:sym typeface="+mn-lt"/>
              </a:rPr>
              <a:t>Turn sentence to the code that machine can handle</a:t>
            </a:r>
          </a:p>
        </p:txBody>
      </p:sp>
      <p:grpSp>
        <p:nvGrpSpPr>
          <p:cNvPr id="27" name="组合 26">
            <a:extLst>
              <a:ext uri="{FF2B5EF4-FFF2-40B4-BE49-F238E27FC236}">
                <a16:creationId xmlns:a16="http://schemas.microsoft.com/office/drawing/2014/main" id="{E1AC39B2-7968-461F-A79B-466BCA8F8FF2}"/>
              </a:ext>
            </a:extLst>
          </p:cNvPr>
          <p:cNvGrpSpPr/>
          <p:nvPr/>
        </p:nvGrpSpPr>
        <p:grpSpPr>
          <a:xfrm>
            <a:off x="827584" y="3345839"/>
            <a:ext cx="6790612" cy="390260"/>
            <a:chOff x="520308" y="3345839"/>
            <a:chExt cx="6790612" cy="390260"/>
          </a:xfrm>
        </p:grpSpPr>
        <p:sp>
          <p:nvSpPr>
            <p:cNvPr id="23" name="Content Placeholder 2"/>
            <p:cNvSpPr txBox="1">
              <a:spLocks/>
            </p:cNvSpPr>
            <p:nvPr/>
          </p:nvSpPr>
          <p:spPr>
            <a:xfrm>
              <a:off x="520308" y="3345840"/>
              <a:ext cx="1675427" cy="38255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zh-CN" b="1" dirty="0">
                  <a:solidFill>
                    <a:schemeClr val="bg1"/>
                  </a:solidFill>
                  <a:cs typeface="+mn-ea"/>
                  <a:sym typeface="+mn-lt"/>
                </a:rPr>
                <a:t>Handle Punctuation</a:t>
              </a:r>
              <a:endParaRPr lang="en-US" b="1" dirty="0">
                <a:solidFill>
                  <a:schemeClr val="bg1"/>
                </a:solidFill>
                <a:cs typeface="+mn-ea"/>
                <a:sym typeface="+mn-lt"/>
              </a:endParaRPr>
            </a:p>
          </p:txBody>
        </p:sp>
        <p:sp>
          <p:nvSpPr>
            <p:cNvPr id="80" name="Content Placeholder 2"/>
            <p:cNvSpPr txBox="1">
              <a:spLocks/>
            </p:cNvSpPr>
            <p:nvPr/>
          </p:nvSpPr>
          <p:spPr>
            <a:xfrm>
              <a:off x="2235355" y="3353546"/>
              <a:ext cx="1605784" cy="38255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altLang="zh-CN" b="1" dirty="0">
                  <a:solidFill>
                    <a:schemeClr val="bg1"/>
                  </a:solidFill>
                  <a:cs typeface="+mn-ea"/>
                  <a:sym typeface="+mn-lt"/>
                </a:rPr>
                <a:t>Create Tokens</a:t>
              </a:r>
              <a:endParaRPr lang="en-US" b="1" dirty="0">
                <a:solidFill>
                  <a:schemeClr val="bg1"/>
                </a:solidFill>
                <a:cs typeface="+mn-ea"/>
                <a:sym typeface="+mn-lt"/>
              </a:endParaRPr>
            </a:p>
          </p:txBody>
        </p:sp>
        <p:sp>
          <p:nvSpPr>
            <p:cNvPr id="81" name="Content Placeholder 2"/>
            <p:cNvSpPr txBox="1">
              <a:spLocks/>
            </p:cNvSpPr>
            <p:nvPr/>
          </p:nvSpPr>
          <p:spPr>
            <a:xfrm>
              <a:off x="5670349" y="3345839"/>
              <a:ext cx="1640571" cy="38255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zh-CN" b="1" dirty="0"/>
                <a:t>Create Word Index</a:t>
              </a:r>
              <a:endParaRPr lang="en-US" b="1" dirty="0">
                <a:solidFill>
                  <a:schemeClr val="bg1"/>
                </a:solidFill>
                <a:cs typeface="+mn-ea"/>
                <a:sym typeface="+mn-lt"/>
              </a:endParaRPr>
            </a:p>
          </p:txBody>
        </p:sp>
        <p:sp>
          <p:nvSpPr>
            <p:cNvPr id="13" name="Content Placeholder 2"/>
            <p:cNvSpPr txBox="1">
              <a:spLocks/>
            </p:cNvSpPr>
            <p:nvPr/>
          </p:nvSpPr>
          <p:spPr>
            <a:xfrm>
              <a:off x="3880759" y="3353546"/>
              <a:ext cx="1605784" cy="38255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b="1" dirty="0">
                  <a:solidFill>
                    <a:schemeClr val="bg1"/>
                  </a:solidFill>
                  <a:cs typeface="+mn-ea"/>
                  <a:sym typeface="+mn-lt"/>
                </a:rPr>
                <a:t>Zero Padding</a:t>
              </a:r>
            </a:p>
          </p:txBody>
        </p:sp>
      </p:grpSp>
      <p:sp>
        <p:nvSpPr>
          <p:cNvPr id="15" name="Freeform 346"/>
          <p:cNvSpPr>
            <a:spLocks noEditPoints="1"/>
          </p:cNvSpPr>
          <p:nvPr/>
        </p:nvSpPr>
        <p:spPr bwMode="auto">
          <a:xfrm>
            <a:off x="6123230" y="2605356"/>
            <a:ext cx="423821" cy="423821"/>
          </a:xfrm>
          <a:custGeom>
            <a:avLst/>
            <a:gdLst>
              <a:gd name="T0" fmla="*/ 40 w 41"/>
              <a:gd name="T1" fmla="*/ 25 h 41"/>
              <a:gd name="T2" fmla="*/ 20 w 41"/>
              <a:gd name="T3" fmla="*/ 41 h 41"/>
              <a:gd name="T4" fmla="*/ 6 w 41"/>
              <a:gd name="T5" fmla="*/ 36 h 41"/>
              <a:gd name="T6" fmla="*/ 3 w 41"/>
              <a:gd name="T7" fmla="*/ 39 h 41"/>
              <a:gd name="T8" fmla="*/ 1 w 41"/>
              <a:gd name="T9" fmla="*/ 40 h 41"/>
              <a:gd name="T10" fmla="*/ 0 w 41"/>
              <a:gd name="T11" fmla="*/ 38 h 41"/>
              <a:gd name="T12" fmla="*/ 0 w 41"/>
              <a:gd name="T13" fmla="*/ 26 h 41"/>
              <a:gd name="T14" fmla="*/ 1 w 41"/>
              <a:gd name="T15" fmla="*/ 24 h 41"/>
              <a:gd name="T16" fmla="*/ 13 w 41"/>
              <a:gd name="T17" fmla="*/ 24 h 41"/>
              <a:gd name="T18" fmla="*/ 15 w 41"/>
              <a:gd name="T19" fmla="*/ 26 h 41"/>
              <a:gd name="T20" fmla="*/ 15 w 41"/>
              <a:gd name="T21" fmla="*/ 27 h 41"/>
              <a:gd name="T22" fmla="*/ 11 w 41"/>
              <a:gd name="T23" fmla="*/ 31 h 41"/>
              <a:gd name="T24" fmla="*/ 20 w 41"/>
              <a:gd name="T25" fmla="*/ 35 h 41"/>
              <a:gd name="T26" fmla="*/ 32 w 41"/>
              <a:gd name="T27" fmla="*/ 28 h 41"/>
              <a:gd name="T28" fmla="*/ 33 w 41"/>
              <a:gd name="T29" fmla="*/ 25 h 41"/>
              <a:gd name="T30" fmla="*/ 34 w 41"/>
              <a:gd name="T31" fmla="*/ 24 h 41"/>
              <a:gd name="T32" fmla="*/ 39 w 41"/>
              <a:gd name="T33" fmla="*/ 24 h 41"/>
              <a:gd name="T34" fmla="*/ 40 w 41"/>
              <a:gd name="T35" fmla="*/ 25 h 41"/>
              <a:gd name="T36" fmla="*/ 40 w 41"/>
              <a:gd name="T37" fmla="*/ 25 h 41"/>
              <a:gd name="T38" fmla="*/ 41 w 41"/>
              <a:gd name="T39" fmla="*/ 16 h 41"/>
              <a:gd name="T40" fmla="*/ 39 w 41"/>
              <a:gd name="T41" fmla="*/ 17 h 41"/>
              <a:gd name="T42" fmla="*/ 27 w 41"/>
              <a:gd name="T43" fmla="*/ 17 h 41"/>
              <a:gd name="T44" fmla="*/ 25 w 41"/>
              <a:gd name="T45" fmla="*/ 16 h 41"/>
              <a:gd name="T46" fmla="*/ 26 w 41"/>
              <a:gd name="T47" fmla="*/ 15 h 41"/>
              <a:gd name="T48" fmla="*/ 30 w 41"/>
              <a:gd name="T49" fmla="*/ 11 h 41"/>
              <a:gd name="T50" fmla="*/ 20 w 41"/>
              <a:gd name="T51" fmla="*/ 7 h 41"/>
              <a:gd name="T52" fmla="*/ 9 w 41"/>
              <a:gd name="T53" fmla="*/ 14 h 41"/>
              <a:gd name="T54" fmla="*/ 7 w 41"/>
              <a:gd name="T55" fmla="*/ 17 h 41"/>
              <a:gd name="T56" fmla="*/ 6 w 41"/>
              <a:gd name="T57" fmla="*/ 17 h 41"/>
              <a:gd name="T58" fmla="*/ 1 w 41"/>
              <a:gd name="T59" fmla="*/ 17 h 41"/>
              <a:gd name="T60" fmla="*/ 0 w 41"/>
              <a:gd name="T61" fmla="*/ 17 h 41"/>
              <a:gd name="T62" fmla="*/ 0 w 41"/>
              <a:gd name="T63" fmla="*/ 16 h 41"/>
              <a:gd name="T64" fmla="*/ 20 w 41"/>
              <a:gd name="T65" fmla="*/ 0 h 41"/>
              <a:gd name="T66" fmla="*/ 34 w 41"/>
              <a:gd name="T67" fmla="*/ 6 h 41"/>
              <a:gd name="T68" fmla="*/ 38 w 41"/>
              <a:gd name="T69" fmla="*/ 2 h 41"/>
              <a:gd name="T70" fmla="*/ 39 w 41"/>
              <a:gd name="T71" fmla="*/ 2 h 41"/>
              <a:gd name="T72" fmla="*/ 41 w 41"/>
              <a:gd name="T73" fmla="*/ 4 h 41"/>
              <a:gd name="T74" fmla="*/ 41 w 41"/>
              <a:gd name="T75" fmla="*/ 1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1" h="41">
                <a:moveTo>
                  <a:pt x="40" y="25"/>
                </a:moveTo>
                <a:cubicBezTo>
                  <a:pt x="38" y="35"/>
                  <a:pt x="30" y="41"/>
                  <a:pt x="20" y="41"/>
                </a:cubicBezTo>
                <a:cubicBezTo>
                  <a:pt x="15" y="41"/>
                  <a:pt x="10" y="39"/>
                  <a:pt x="6" y="36"/>
                </a:cubicBezTo>
                <a:cubicBezTo>
                  <a:pt x="3" y="39"/>
                  <a:pt x="3" y="39"/>
                  <a:pt x="3" y="39"/>
                </a:cubicBezTo>
                <a:cubicBezTo>
                  <a:pt x="2" y="40"/>
                  <a:pt x="2" y="40"/>
                  <a:pt x="1" y="40"/>
                </a:cubicBezTo>
                <a:cubicBezTo>
                  <a:pt x="0" y="40"/>
                  <a:pt x="0" y="39"/>
                  <a:pt x="0" y="38"/>
                </a:cubicBezTo>
                <a:cubicBezTo>
                  <a:pt x="0" y="26"/>
                  <a:pt x="0" y="26"/>
                  <a:pt x="0" y="26"/>
                </a:cubicBezTo>
                <a:cubicBezTo>
                  <a:pt x="0" y="25"/>
                  <a:pt x="0" y="24"/>
                  <a:pt x="1" y="24"/>
                </a:cubicBezTo>
                <a:cubicBezTo>
                  <a:pt x="13" y="24"/>
                  <a:pt x="13" y="24"/>
                  <a:pt x="13" y="24"/>
                </a:cubicBezTo>
                <a:cubicBezTo>
                  <a:pt x="14" y="24"/>
                  <a:pt x="15" y="25"/>
                  <a:pt x="15" y="26"/>
                </a:cubicBezTo>
                <a:cubicBezTo>
                  <a:pt x="15" y="26"/>
                  <a:pt x="15" y="27"/>
                  <a:pt x="15" y="27"/>
                </a:cubicBezTo>
                <a:cubicBezTo>
                  <a:pt x="11" y="31"/>
                  <a:pt x="11" y="31"/>
                  <a:pt x="11" y="31"/>
                </a:cubicBezTo>
                <a:cubicBezTo>
                  <a:pt x="13" y="33"/>
                  <a:pt x="17" y="35"/>
                  <a:pt x="20" y="35"/>
                </a:cubicBezTo>
                <a:cubicBezTo>
                  <a:pt x="25" y="35"/>
                  <a:pt x="29" y="32"/>
                  <a:pt x="32" y="28"/>
                </a:cubicBezTo>
                <a:cubicBezTo>
                  <a:pt x="33" y="27"/>
                  <a:pt x="33" y="26"/>
                  <a:pt x="33" y="25"/>
                </a:cubicBezTo>
                <a:cubicBezTo>
                  <a:pt x="33" y="25"/>
                  <a:pt x="34" y="24"/>
                  <a:pt x="34" y="24"/>
                </a:cubicBezTo>
                <a:cubicBezTo>
                  <a:pt x="39" y="24"/>
                  <a:pt x="39" y="24"/>
                  <a:pt x="39" y="24"/>
                </a:cubicBezTo>
                <a:cubicBezTo>
                  <a:pt x="40" y="24"/>
                  <a:pt x="40" y="25"/>
                  <a:pt x="40" y="25"/>
                </a:cubicBezTo>
                <a:cubicBezTo>
                  <a:pt x="40" y="25"/>
                  <a:pt x="40" y="25"/>
                  <a:pt x="40" y="25"/>
                </a:cubicBezTo>
                <a:close/>
                <a:moveTo>
                  <a:pt x="41" y="16"/>
                </a:moveTo>
                <a:cubicBezTo>
                  <a:pt x="41" y="17"/>
                  <a:pt x="40" y="17"/>
                  <a:pt x="39" y="17"/>
                </a:cubicBezTo>
                <a:cubicBezTo>
                  <a:pt x="27" y="17"/>
                  <a:pt x="27" y="17"/>
                  <a:pt x="27" y="17"/>
                </a:cubicBezTo>
                <a:cubicBezTo>
                  <a:pt x="26" y="17"/>
                  <a:pt x="25" y="17"/>
                  <a:pt x="25" y="16"/>
                </a:cubicBezTo>
                <a:cubicBezTo>
                  <a:pt x="25" y="15"/>
                  <a:pt x="26" y="15"/>
                  <a:pt x="26" y="15"/>
                </a:cubicBezTo>
                <a:cubicBezTo>
                  <a:pt x="30" y="11"/>
                  <a:pt x="30" y="11"/>
                  <a:pt x="30" y="11"/>
                </a:cubicBezTo>
                <a:cubicBezTo>
                  <a:pt x="27" y="8"/>
                  <a:pt x="24" y="7"/>
                  <a:pt x="20" y="7"/>
                </a:cubicBezTo>
                <a:cubicBezTo>
                  <a:pt x="15" y="7"/>
                  <a:pt x="11" y="10"/>
                  <a:pt x="9" y="14"/>
                </a:cubicBezTo>
                <a:cubicBezTo>
                  <a:pt x="8" y="15"/>
                  <a:pt x="8" y="16"/>
                  <a:pt x="7" y="17"/>
                </a:cubicBezTo>
                <a:cubicBezTo>
                  <a:pt x="7" y="17"/>
                  <a:pt x="7" y="17"/>
                  <a:pt x="6" y="17"/>
                </a:cubicBezTo>
                <a:cubicBezTo>
                  <a:pt x="1" y="17"/>
                  <a:pt x="1" y="17"/>
                  <a:pt x="1" y="17"/>
                </a:cubicBezTo>
                <a:cubicBezTo>
                  <a:pt x="0" y="17"/>
                  <a:pt x="0" y="17"/>
                  <a:pt x="0" y="17"/>
                </a:cubicBezTo>
                <a:cubicBezTo>
                  <a:pt x="0" y="17"/>
                  <a:pt x="0" y="16"/>
                  <a:pt x="0" y="16"/>
                </a:cubicBezTo>
                <a:cubicBezTo>
                  <a:pt x="2" y="7"/>
                  <a:pt x="10" y="0"/>
                  <a:pt x="20" y="0"/>
                </a:cubicBezTo>
                <a:cubicBezTo>
                  <a:pt x="25" y="0"/>
                  <a:pt x="31" y="2"/>
                  <a:pt x="34" y="6"/>
                </a:cubicBezTo>
                <a:cubicBezTo>
                  <a:pt x="38" y="2"/>
                  <a:pt x="38" y="2"/>
                  <a:pt x="38" y="2"/>
                </a:cubicBezTo>
                <a:cubicBezTo>
                  <a:pt x="38" y="2"/>
                  <a:pt x="39" y="2"/>
                  <a:pt x="39" y="2"/>
                </a:cubicBezTo>
                <a:cubicBezTo>
                  <a:pt x="40" y="2"/>
                  <a:pt x="41" y="3"/>
                  <a:pt x="41" y="4"/>
                </a:cubicBezTo>
                <a:lnTo>
                  <a:pt x="41" y="16"/>
                </a:lnTo>
                <a:close/>
              </a:path>
            </a:pathLst>
          </a:custGeom>
          <a:solidFill>
            <a:schemeClr val="bg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17" name="Freeform 371"/>
          <p:cNvSpPr>
            <a:spLocks/>
          </p:cNvSpPr>
          <p:nvPr/>
        </p:nvSpPr>
        <p:spPr bwMode="auto">
          <a:xfrm>
            <a:off x="4428882" y="2618534"/>
            <a:ext cx="423821" cy="432559"/>
          </a:xfrm>
          <a:custGeom>
            <a:avLst/>
            <a:gdLst>
              <a:gd name="T0" fmla="*/ 41 w 41"/>
              <a:gd name="T1" fmla="*/ 33 h 42"/>
              <a:gd name="T2" fmla="*/ 32 w 41"/>
              <a:gd name="T3" fmla="*/ 42 h 42"/>
              <a:gd name="T4" fmla="*/ 24 w 41"/>
              <a:gd name="T5" fmla="*/ 33 h 42"/>
              <a:gd name="T6" fmla="*/ 24 w 41"/>
              <a:gd name="T7" fmla="*/ 32 h 42"/>
              <a:gd name="T8" fmla="*/ 14 w 41"/>
              <a:gd name="T9" fmla="*/ 27 h 42"/>
              <a:gd name="T10" fmla="*/ 8 w 41"/>
              <a:gd name="T11" fmla="*/ 30 h 42"/>
              <a:gd name="T12" fmla="*/ 0 w 41"/>
              <a:gd name="T13" fmla="*/ 21 h 42"/>
              <a:gd name="T14" fmla="*/ 8 w 41"/>
              <a:gd name="T15" fmla="*/ 12 h 42"/>
              <a:gd name="T16" fmla="*/ 14 w 41"/>
              <a:gd name="T17" fmla="*/ 15 h 42"/>
              <a:gd name="T18" fmla="*/ 24 w 41"/>
              <a:gd name="T19" fmla="*/ 10 h 42"/>
              <a:gd name="T20" fmla="*/ 24 w 41"/>
              <a:gd name="T21" fmla="*/ 9 h 42"/>
              <a:gd name="T22" fmla="*/ 32 w 41"/>
              <a:gd name="T23" fmla="*/ 0 h 42"/>
              <a:gd name="T24" fmla="*/ 41 w 41"/>
              <a:gd name="T25" fmla="*/ 9 h 42"/>
              <a:gd name="T26" fmla="*/ 32 w 41"/>
              <a:gd name="T27" fmla="*/ 18 h 42"/>
              <a:gd name="T28" fmla="*/ 26 w 41"/>
              <a:gd name="T29" fmla="*/ 15 h 42"/>
              <a:gd name="T30" fmla="*/ 17 w 41"/>
              <a:gd name="T31" fmla="*/ 20 h 42"/>
              <a:gd name="T32" fmla="*/ 17 w 41"/>
              <a:gd name="T33" fmla="*/ 21 h 42"/>
              <a:gd name="T34" fmla="*/ 17 w 41"/>
              <a:gd name="T35" fmla="*/ 22 h 42"/>
              <a:gd name="T36" fmla="*/ 26 w 41"/>
              <a:gd name="T37" fmla="*/ 27 h 42"/>
              <a:gd name="T38" fmla="*/ 32 w 41"/>
              <a:gd name="T39" fmla="*/ 24 h 42"/>
              <a:gd name="T40" fmla="*/ 41 w 41"/>
              <a:gd name="T41" fmla="*/ 33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1" h="42">
                <a:moveTo>
                  <a:pt x="41" y="33"/>
                </a:moveTo>
                <a:cubicBezTo>
                  <a:pt x="41" y="38"/>
                  <a:pt x="37" y="42"/>
                  <a:pt x="32" y="42"/>
                </a:cubicBezTo>
                <a:cubicBezTo>
                  <a:pt x="28" y="42"/>
                  <a:pt x="24" y="38"/>
                  <a:pt x="24" y="33"/>
                </a:cubicBezTo>
                <a:cubicBezTo>
                  <a:pt x="24" y="33"/>
                  <a:pt x="24" y="32"/>
                  <a:pt x="24" y="32"/>
                </a:cubicBezTo>
                <a:cubicBezTo>
                  <a:pt x="14" y="27"/>
                  <a:pt x="14" y="27"/>
                  <a:pt x="14" y="27"/>
                </a:cubicBezTo>
                <a:cubicBezTo>
                  <a:pt x="13" y="29"/>
                  <a:pt x="11" y="30"/>
                  <a:pt x="8" y="30"/>
                </a:cubicBezTo>
                <a:cubicBezTo>
                  <a:pt x="4" y="30"/>
                  <a:pt x="0" y="26"/>
                  <a:pt x="0" y="21"/>
                </a:cubicBezTo>
                <a:cubicBezTo>
                  <a:pt x="0" y="16"/>
                  <a:pt x="4" y="12"/>
                  <a:pt x="8" y="12"/>
                </a:cubicBezTo>
                <a:cubicBezTo>
                  <a:pt x="11" y="12"/>
                  <a:pt x="13" y="13"/>
                  <a:pt x="14" y="15"/>
                </a:cubicBezTo>
                <a:cubicBezTo>
                  <a:pt x="24" y="10"/>
                  <a:pt x="24" y="10"/>
                  <a:pt x="24" y="10"/>
                </a:cubicBezTo>
                <a:cubicBezTo>
                  <a:pt x="24" y="10"/>
                  <a:pt x="24" y="9"/>
                  <a:pt x="24" y="9"/>
                </a:cubicBezTo>
                <a:cubicBezTo>
                  <a:pt x="24" y="4"/>
                  <a:pt x="28" y="0"/>
                  <a:pt x="32" y="0"/>
                </a:cubicBezTo>
                <a:cubicBezTo>
                  <a:pt x="37" y="0"/>
                  <a:pt x="41" y="4"/>
                  <a:pt x="41" y="9"/>
                </a:cubicBezTo>
                <a:cubicBezTo>
                  <a:pt x="41" y="14"/>
                  <a:pt x="37" y="18"/>
                  <a:pt x="32" y="18"/>
                </a:cubicBezTo>
                <a:cubicBezTo>
                  <a:pt x="30" y="18"/>
                  <a:pt x="28" y="17"/>
                  <a:pt x="26" y="15"/>
                </a:cubicBezTo>
                <a:cubicBezTo>
                  <a:pt x="17" y="20"/>
                  <a:pt x="17" y="20"/>
                  <a:pt x="17" y="20"/>
                </a:cubicBezTo>
                <a:cubicBezTo>
                  <a:pt x="17" y="20"/>
                  <a:pt x="17" y="21"/>
                  <a:pt x="17" y="21"/>
                </a:cubicBezTo>
                <a:cubicBezTo>
                  <a:pt x="17" y="21"/>
                  <a:pt x="17" y="22"/>
                  <a:pt x="17" y="22"/>
                </a:cubicBezTo>
                <a:cubicBezTo>
                  <a:pt x="26" y="27"/>
                  <a:pt x="26" y="27"/>
                  <a:pt x="26" y="27"/>
                </a:cubicBezTo>
                <a:cubicBezTo>
                  <a:pt x="28" y="25"/>
                  <a:pt x="30" y="24"/>
                  <a:pt x="32" y="24"/>
                </a:cubicBezTo>
                <a:cubicBezTo>
                  <a:pt x="37" y="24"/>
                  <a:pt x="41" y="28"/>
                  <a:pt x="41" y="33"/>
                </a:cubicBezTo>
                <a:close/>
              </a:path>
            </a:pathLst>
          </a:custGeom>
          <a:solidFill>
            <a:schemeClr val="bg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cxnSp>
        <p:nvCxnSpPr>
          <p:cNvPr id="3" name="直接箭头连接符 2">
            <a:extLst>
              <a:ext uri="{FF2B5EF4-FFF2-40B4-BE49-F238E27FC236}">
                <a16:creationId xmlns:a16="http://schemas.microsoft.com/office/drawing/2014/main" id="{B7063A03-7BF2-47E0-89E6-37887774A14F}"/>
              </a:ext>
            </a:extLst>
          </p:cNvPr>
          <p:cNvCxnSpPr>
            <a:cxnSpLocks/>
          </p:cNvCxnSpPr>
          <p:nvPr/>
        </p:nvCxnSpPr>
        <p:spPr>
          <a:xfrm>
            <a:off x="1124363" y="3147814"/>
            <a:ext cx="7445803" cy="0"/>
          </a:xfrm>
          <a:prstGeom prst="straightConnector1">
            <a:avLst/>
          </a:prstGeom>
          <a:ln w="158750">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5CC44B42-6763-47EB-9283-DB84A7A37A65}"/>
              </a:ext>
            </a:extLst>
          </p:cNvPr>
          <p:cNvCxnSpPr>
            <a:cxnSpLocks/>
          </p:cNvCxnSpPr>
          <p:nvPr/>
        </p:nvCxnSpPr>
        <p:spPr>
          <a:xfrm>
            <a:off x="1124363" y="3219822"/>
            <a:ext cx="6976029" cy="0"/>
          </a:xfrm>
          <a:prstGeom prst="line">
            <a:avLst/>
          </a:prstGeom>
          <a:ln w="85725"/>
        </p:spPr>
        <p:style>
          <a:lnRef idx="1">
            <a:schemeClr val="dk1"/>
          </a:lnRef>
          <a:fillRef idx="0">
            <a:schemeClr val="dk1"/>
          </a:fillRef>
          <a:effectRef idx="0">
            <a:schemeClr val="dk1"/>
          </a:effectRef>
          <a:fontRef idx="minor">
            <a:schemeClr val="tx1"/>
          </a:fontRef>
        </p:style>
      </p:cxnSp>
      <p:grpSp>
        <p:nvGrpSpPr>
          <p:cNvPr id="26" name="组合 25">
            <a:extLst>
              <a:ext uri="{FF2B5EF4-FFF2-40B4-BE49-F238E27FC236}">
                <a16:creationId xmlns:a16="http://schemas.microsoft.com/office/drawing/2014/main" id="{D50A47EB-88E3-428E-9E7B-CD296E515771}"/>
              </a:ext>
            </a:extLst>
          </p:cNvPr>
          <p:cNvGrpSpPr/>
          <p:nvPr/>
        </p:nvGrpSpPr>
        <p:grpSpPr>
          <a:xfrm>
            <a:off x="755576" y="1935531"/>
            <a:ext cx="7063309" cy="863301"/>
            <a:chOff x="472706" y="2017492"/>
            <a:chExt cx="7063309" cy="863301"/>
          </a:xfrm>
        </p:grpSpPr>
        <p:sp>
          <p:nvSpPr>
            <p:cNvPr id="18" name="对话气泡: 矩形 17">
              <a:extLst>
                <a:ext uri="{FF2B5EF4-FFF2-40B4-BE49-F238E27FC236}">
                  <a16:creationId xmlns:a16="http://schemas.microsoft.com/office/drawing/2014/main" id="{74C46A34-7693-4F06-9E2A-0D4CE94BD1F5}"/>
                </a:ext>
              </a:extLst>
            </p:cNvPr>
            <p:cNvSpPr/>
            <p:nvPr/>
          </p:nvSpPr>
          <p:spPr>
            <a:xfrm>
              <a:off x="472706" y="2067694"/>
              <a:ext cx="1670847" cy="813099"/>
            </a:xfrm>
            <a:prstGeom prst="wedgeRectCallout">
              <a:avLst>
                <a:gd name="adj1" fmla="val 23008"/>
                <a:gd name="adj2" fmla="val 75943"/>
              </a:avLst>
            </a:prstGeom>
            <a:solidFill>
              <a:schemeClr val="dk1">
                <a:alpha val="2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400" dirty="0">
                  <a:solidFill>
                    <a:schemeClr val="bg1">
                      <a:lumMod val="75000"/>
                      <a:lumOff val="25000"/>
                    </a:schemeClr>
                  </a:solidFill>
                  <a:latin typeface="Times New Roman" panose="02020603050405020304" pitchFamily="18" charset="0"/>
                  <a:cs typeface="Times New Roman" panose="02020603050405020304" pitchFamily="18" charset="0"/>
                </a:rPr>
                <a:t>Clean the sentences by removing special characters.</a:t>
              </a:r>
            </a:p>
          </p:txBody>
        </p:sp>
        <p:sp>
          <p:nvSpPr>
            <p:cNvPr id="32" name="对话气泡: 矩形 31">
              <a:extLst>
                <a:ext uri="{FF2B5EF4-FFF2-40B4-BE49-F238E27FC236}">
                  <a16:creationId xmlns:a16="http://schemas.microsoft.com/office/drawing/2014/main" id="{475B3928-1C16-4D75-A322-70603D5B58DB}"/>
                </a:ext>
              </a:extLst>
            </p:cNvPr>
            <p:cNvSpPr/>
            <p:nvPr/>
          </p:nvSpPr>
          <p:spPr>
            <a:xfrm>
              <a:off x="2322931" y="2272228"/>
              <a:ext cx="1670847" cy="604054"/>
            </a:xfrm>
            <a:prstGeom prst="wedgeRectCallout">
              <a:avLst>
                <a:gd name="adj1" fmla="val -16528"/>
                <a:gd name="adj2" fmla="val 85397"/>
              </a:avLst>
            </a:prstGeom>
            <a:solidFill>
              <a:schemeClr val="dk1">
                <a:alpha val="2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400" dirty="0">
                  <a:solidFill>
                    <a:schemeClr val="bg1">
                      <a:lumMod val="95000"/>
                      <a:lumOff val="5000"/>
                    </a:schemeClr>
                  </a:solidFill>
                  <a:latin typeface="Times New Roman" panose="02020603050405020304" pitchFamily="18" charset="0"/>
                  <a:cs typeface="Times New Roman" panose="02020603050405020304" pitchFamily="18" charset="0"/>
                </a:rPr>
                <a:t>Add  &lt;</a:t>
              </a:r>
              <a:r>
                <a:rPr lang="en-US" altLang="zh-CN" sz="1400" i="1" dirty="0">
                  <a:solidFill>
                    <a:schemeClr val="bg1">
                      <a:lumMod val="95000"/>
                      <a:lumOff val="5000"/>
                    </a:schemeClr>
                  </a:solidFill>
                  <a:latin typeface="Times New Roman" panose="02020603050405020304" pitchFamily="18" charset="0"/>
                  <a:cs typeface="Times New Roman" panose="02020603050405020304" pitchFamily="18" charset="0"/>
                </a:rPr>
                <a:t>start&gt;</a:t>
              </a:r>
              <a:r>
                <a:rPr lang="en-US" altLang="zh-CN" sz="1400" dirty="0">
                  <a:solidFill>
                    <a:schemeClr val="bg1">
                      <a:lumMod val="95000"/>
                      <a:lumOff val="5000"/>
                    </a:schemeClr>
                  </a:solidFill>
                  <a:latin typeface="Times New Roman" panose="02020603050405020304" pitchFamily="18" charset="0"/>
                  <a:cs typeface="Times New Roman" panose="02020603050405020304" pitchFamily="18" charset="0"/>
                </a:rPr>
                <a:t> and &lt;</a:t>
              </a:r>
              <a:r>
                <a:rPr lang="en-US" altLang="zh-CN" sz="1400" i="1" dirty="0">
                  <a:solidFill>
                    <a:schemeClr val="bg1">
                      <a:lumMod val="95000"/>
                      <a:lumOff val="5000"/>
                    </a:schemeClr>
                  </a:solidFill>
                  <a:latin typeface="Times New Roman" panose="02020603050405020304" pitchFamily="18" charset="0"/>
                  <a:cs typeface="Times New Roman" panose="02020603050405020304" pitchFamily="18" charset="0"/>
                </a:rPr>
                <a:t>end&gt;</a:t>
              </a:r>
              <a:r>
                <a:rPr lang="en-US" altLang="zh-CN" sz="1400" dirty="0">
                  <a:solidFill>
                    <a:schemeClr val="bg1">
                      <a:lumMod val="95000"/>
                      <a:lumOff val="5000"/>
                    </a:schemeClr>
                  </a:solidFill>
                  <a:latin typeface="Times New Roman" panose="02020603050405020304" pitchFamily="18" charset="0"/>
                  <a:cs typeface="Times New Roman" panose="02020603050405020304" pitchFamily="18" charset="0"/>
                </a:rPr>
                <a:t> token</a:t>
              </a:r>
            </a:p>
          </p:txBody>
        </p:sp>
        <p:sp>
          <p:nvSpPr>
            <p:cNvPr id="33" name="对话气泡: 矩形 32">
              <a:extLst>
                <a:ext uri="{FF2B5EF4-FFF2-40B4-BE49-F238E27FC236}">
                  <a16:creationId xmlns:a16="http://schemas.microsoft.com/office/drawing/2014/main" id="{76145CD7-69E0-42A7-AF06-094DB78DD9B8}"/>
                </a:ext>
              </a:extLst>
            </p:cNvPr>
            <p:cNvSpPr/>
            <p:nvPr/>
          </p:nvSpPr>
          <p:spPr>
            <a:xfrm>
              <a:off x="4091777" y="2067694"/>
              <a:ext cx="1728192" cy="707972"/>
            </a:xfrm>
            <a:prstGeom prst="wedgeRectCallout">
              <a:avLst>
                <a:gd name="adj1" fmla="val 16473"/>
                <a:gd name="adj2" fmla="val 101932"/>
              </a:avLst>
            </a:prstGeom>
            <a:solidFill>
              <a:schemeClr val="dk1">
                <a:alpha val="2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400" dirty="0">
                  <a:solidFill>
                    <a:srgbClr val="202124"/>
                  </a:solidFill>
                  <a:latin typeface="Roboto"/>
                </a:rPr>
                <a:t>Pad sentence to  maximum length with 0.</a:t>
              </a:r>
            </a:p>
          </p:txBody>
        </p:sp>
        <p:sp>
          <p:nvSpPr>
            <p:cNvPr id="34" name="对话气泡: 矩形 33">
              <a:extLst>
                <a:ext uri="{FF2B5EF4-FFF2-40B4-BE49-F238E27FC236}">
                  <a16:creationId xmlns:a16="http://schemas.microsoft.com/office/drawing/2014/main" id="{B710BB49-99CF-4E46-9D5A-176AD1A16542}"/>
                </a:ext>
              </a:extLst>
            </p:cNvPr>
            <p:cNvSpPr/>
            <p:nvPr/>
          </p:nvSpPr>
          <p:spPr>
            <a:xfrm>
              <a:off x="5942002" y="2017492"/>
              <a:ext cx="1594013" cy="813099"/>
            </a:xfrm>
            <a:prstGeom prst="wedgeRectCallout">
              <a:avLst>
                <a:gd name="adj1" fmla="val -18424"/>
                <a:gd name="adj2" fmla="val 89909"/>
              </a:avLst>
            </a:prstGeom>
            <a:solidFill>
              <a:schemeClr val="dk1">
                <a:alpha val="2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1400" dirty="0">
                  <a:solidFill>
                    <a:srgbClr val="202124"/>
                  </a:solidFill>
                  <a:latin typeface="Roboto"/>
                </a:rPr>
                <a:t>Create index number for every word in sentence</a:t>
              </a:r>
            </a:p>
          </p:txBody>
        </p:sp>
      </p:grpSp>
      <p:sp>
        <p:nvSpPr>
          <p:cNvPr id="14" name="Content Placeholder 2"/>
          <p:cNvSpPr txBox="1">
            <a:spLocks/>
          </p:cNvSpPr>
          <p:nvPr/>
        </p:nvSpPr>
        <p:spPr>
          <a:xfrm>
            <a:off x="7513524" y="3314689"/>
            <a:ext cx="1605784" cy="38255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altLang="zh-CN" sz="2400" b="1" i="1" dirty="0">
                <a:solidFill>
                  <a:schemeClr val="bg1"/>
                </a:solidFill>
                <a:latin typeface="Aharoni" panose="02010803020104030203" pitchFamily="2" charset="-79"/>
                <a:cs typeface="Aharoni" panose="02010803020104030203" pitchFamily="2" charset="-79"/>
                <a:sym typeface="+mn-lt"/>
              </a:rPr>
              <a:t>Seq2Seq</a:t>
            </a:r>
            <a:endParaRPr lang="en-US" sz="2400" b="1" i="1" dirty="0">
              <a:solidFill>
                <a:schemeClr val="bg1"/>
              </a:solidFill>
              <a:latin typeface="Aharoni" panose="02010803020104030203" pitchFamily="2" charset="-79"/>
              <a:cs typeface="Aharoni" panose="02010803020104030203" pitchFamily="2" charset="-79"/>
              <a:sym typeface="+mn-lt"/>
            </a:endParaRPr>
          </a:p>
        </p:txBody>
      </p:sp>
      <p:pic>
        <p:nvPicPr>
          <p:cNvPr id="35" name="图片 34" descr="钟表的特写&#10;&#10;描述已自动生成">
            <a:extLst>
              <a:ext uri="{FF2B5EF4-FFF2-40B4-BE49-F238E27FC236}">
                <a16:creationId xmlns:a16="http://schemas.microsoft.com/office/drawing/2014/main" id="{58C494B2-3CAF-42F5-AB95-112AA5868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221834"/>
            <a:ext cx="2251491" cy="637882"/>
          </a:xfrm>
          <a:prstGeom prst="rect">
            <a:avLst/>
          </a:prstGeom>
          <a:effectLst>
            <a:softEdge rad="50800"/>
          </a:effectLst>
        </p:spPr>
      </p:pic>
      <p:pic>
        <p:nvPicPr>
          <p:cNvPr id="37" name="图片 36" descr="图形用户界面, 文本&#10;&#10;描述已自动生成">
            <a:extLst>
              <a:ext uri="{FF2B5EF4-FFF2-40B4-BE49-F238E27FC236}">
                <a16:creationId xmlns:a16="http://schemas.microsoft.com/office/drawing/2014/main" id="{6CA19469-92ED-4F6F-8918-8A2D53721F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2192" y="1405319"/>
            <a:ext cx="1819604" cy="694311"/>
          </a:xfrm>
          <a:prstGeom prst="rect">
            <a:avLst/>
          </a:prstGeom>
          <a:effectLst>
            <a:softEdge rad="127000"/>
          </a:effectLst>
        </p:spPr>
      </p:pic>
      <p:pic>
        <p:nvPicPr>
          <p:cNvPr id="39" name="图片 38" descr="图片包含 图形用户界面, 文本&#10;&#10;描述已自动生成">
            <a:extLst>
              <a:ext uri="{FF2B5EF4-FFF2-40B4-BE49-F238E27FC236}">
                <a16:creationId xmlns:a16="http://schemas.microsoft.com/office/drawing/2014/main" id="{61A9A8FE-99C4-438E-A78D-DDA2E8DE96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0976" y="1231964"/>
            <a:ext cx="2175239" cy="671632"/>
          </a:xfrm>
          <a:prstGeom prst="rect">
            <a:avLst/>
          </a:prstGeom>
          <a:effectLst>
            <a:softEdge rad="114300"/>
          </a:effectLst>
        </p:spPr>
      </p:pic>
    </p:spTree>
    <p:extLst>
      <p:ext uri="{BB962C8B-B14F-4D97-AF65-F5344CB8AC3E}">
        <p14:creationId xmlns:p14="http://schemas.microsoft.com/office/powerpoint/2010/main" val="669727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
          <p:cNvSpPr txBox="1">
            <a:spLocks/>
          </p:cNvSpPr>
          <p:nvPr/>
        </p:nvSpPr>
        <p:spPr>
          <a:xfrm>
            <a:off x="1835696" y="843558"/>
            <a:ext cx="5472608" cy="36004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altLang="zh-CN" sz="1200" dirty="0">
                <a:solidFill>
                  <a:schemeClr val="tx1"/>
                </a:solidFill>
                <a:cs typeface="+mn-ea"/>
                <a:sym typeface="+mn-lt"/>
              </a:rPr>
              <a:t>For text translation, the input sequence and output sequence usually are not equal </a:t>
            </a:r>
            <a:endParaRPr lang="en-US" sz="1200" dirty="0">
              <a:solidFill>
                <a:schemeClr val="tx1"/>
              </a:solidFill>
              <a:cs typeface="+mn-ea"/>
              <a:sym typeface="+mn-lt"/>
            </a:endParaRPr>
          </a:p>
        </p:txBody>
      </p:sp>
      <p:sp>
        <p:nvSpPr>
          <p:cNvPr id="21" name="矩形 20"/>
          <p:cNvSpPr/>
          <p:nvPr/>
        </p:nvSpPr>
        <p:spPr>
          <a:xfrm>
            <a:off x="1801661" y="239777"/>
            <a:ext cx="5540678" cy="523220"/>
          </a:xfrm>
          <a:prstGeom prst="rect">
            <a:avLst/>
          </a:prstGeom>
        </p:spPr>
        <p:txBody>
          <a:bodyPr wrap="square">
            <a:spAutoFit/>
          </a:bodyPr>
          <a:lstStyle/>
          <a:p>
            <a:pPr algn="ctr"/>
            <a:r>
              <a:rPr lang="en-US" altLang="zh-CN" sz="2800" b="1" dirty="0">
                <a:solidFill>
                  <a:schemeClr val="bg1"/>
                </a:solidFill>
                <a:cs typeface="+mn-ea"/>
                <a:sym typeface="+mn-lt"/>
              </a:rPr>
              <a:t>Seq2Seq</a:t>
            </a:r>
            <a:r>
              <a:rPr lang="en-US" altLang="zh-CN" sz="1050" dirty="0">
                <a:solidFill>
                  <a:schemeClr val="bg2">
                    <a:lumMod val="50000"/>
                  </a:schemeClr>
                </a:solidFill>
                <a:cs typeface="+mn-ea"/>
                <a:sym typeface="+mn-lt"/>
              </a:rPr>
              <a:t> </a:t>
            </a:r>
          </a:p>
        </p:txBody>
      </p:sp>
      <p:pic>
        <p:nvPicPr>
          <p:cNvPr id="3" name="图片 2" descr="图片包含 电子, 插口, 游戏机, 照片&#10;&#10;描述已自动生成">
            <a:extLst>
              <a:ext uri="{FF2B5EF4-FFF2-40B4-BE49-F238E27FC236}">
                <a16:creationId xmlns:a16="http://schemas.microsoft.com/office/drawing/2014/main" id="{E2A6FDF1-643F-4010-ACBE-62AF502D59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1277175"/>
            <a:ext cx="5867623" cy="2985153"/>
          </a:xfrm>
          <a:prstGeom prst="rect">
            <a:avLst/>
          </a:prstGeom>
        </p:spPr>
      </p:pic>
      <p:sp>
        <p:nvSpPr>
          <p:cNvPr id="4" name="文本框 3">
            <a:extLst>
              <a:ext uri="{FF2B5EF4-FFF2-40B4-BE49-F238E27FC236}">
                <a16:creationId xmlns:a16="http://schemas.microsoft.com/office/drawing/2014/main" id="{ABD2CB8E-6B97-4EC0-BB75-3E4213068C74}"/>
              </a:ext>
            </a:extLst>
          </p:cNvPr>
          <p:cNvSpPr txBox="1"/>
          <p:nvPr/>
        </p:nvSpPr>
        <p:spPr>
          <a:xfrm>
            <a:off x="7342339" y="1406607"/>
            <a:ext cx="1872176" cy="369332"/>
          </a:xfrm>
          <a:prstGeom prst="rect">
            <a:avLst/>
          </a:prstGeom>
          <a:solidFill>
            <a:schemeClr val="accent4">
              <a:lumMod val="60000"/>
              <a:lumOff val="40000"/>
            </a:schemeClr>
          </a:solidFill>
        </p:spPr>
        <p:txBody>
          <a:bodyPr wrap="square" rtlCol="0">
            <a:spAutoFit/>
          </a:bodyPr>
          <a:lstStyle/>
          <a:p>
            <a:r>
              <a:rPr lang="en-US" altLang="zh-CN" b="1" dirty="0">
                <a:solidFill>
                  <a:schemeClr val="bg2">
                    <a:lumMod val="50000"/>
                  </a:schemeClr>
                </a:solidFill>
              </a:rPr>
              <a:t>RNN/LSTM</a:t>
            </a:r>
            <a:endParaRPr lang="zh-CN" altLang="en-US" b="1" dirty="0">
              <a:solidFill>
                <a:schemeClr val="bg2">
                  <a:lumMod val="50000"/>
                </a:schemeClr>
              </a:solidFill>
            </a:endParaRPr>
          </a:p>
        </p:txBody>
      </p:sp>
      <p:sp>
        <p:nvSpPr>
          <p:cNvPr id="22" name="文本框 21">
            <a:extLst>
              <a:ext uri="{FF2B5EF4-FFF2-40B4-BE49-F238E27FC236}">
                <a16:creationId xmlns:a16="http://schemas.microsoft.com/office/drawing/2014/main" id="{A206799E-87EF-4079-8197-12A84C8777AB}"/>
              </a:ext>
            </a:extLst>
          </p:cNvPr>
          <p:cNvSpPr txBox="1"/>
          <p:nvPr/>
        </p:nvSpPr>
        <p:spPr>
          <a:xfrm>
            <a:off x="7342339" y="2333215"/>
            <a:ext cx="1907704" cy="369332"/>
          </a:xfrm>
          <a:prstGeom prst="rect">
            <a:avLst/>
          </a:prstGeom>
          <a:solidFill>
            <a:schemeClr val="accent4">
              <a:lumMod val="60000"/>
              <a:lumOff val="40000"/>
            </a:schemeClr>
          </a:solidFill>
        </p:spPr>
        <p:txBody>
          <a:bodyPr wrap="square" rtlCol="0">
            <a:spAutoFit/>
          </a:bodyPr>
          <a:lstStyle/>
          <a:p>
            <a:r>
              <a:rPr lang="en-US" altLang="zh-CN" b="1" dirty="0">
                <a:solidFill>
                  <a:schemeClr val="bg2">
                    <a:lumMod val="50000"/>
                  </a:schemeClr>
                </a:solidFill>
              </a:rPr>
              <a:t>Attention Module</a:t>
            </a:r>
            <a:endParaRPr lang="zh-CN" altLang="en-US" b="1" dirty="0">
              <a:solidFill>
                <a:schemeClr val="bg2">
                  <a:lumMod val="50000"/>
                </a:schemeClr>
              </a:solidFill>
            </a:endParaRPr>
          </a:p>
        </p:txBody>
      </p:sp>
      <p:sp>
        <p:nvSpPr>
          <p:cNvPr id="23" name="文本框 22">
            <a:extLst>
              <a:ext uri="{FF2B5EF4-FFF2-40B4-BE49-F238E27FC236}">
                <a16:creationId xmlns:a16="http://schemas.microsoft.com/office/drawing/2014/main" id="{D6DE00D3-17B5-43CB-BB63-27C3967A320F}"/>
              </a:ext>
            </a:extLst>
          </p:cNvPr>
          <p:cNvSpPr txBox="1"/>
          <p:nvPr/>
        </p:nvSpPr>
        <p:spPr>
          <a:xfrm>
            <a:off x="7342339" y="3291830"/>
            <a:ext cx="1936856" cy="369332"/>
          </a:xfrm>
          <a:prstGeom prst="rect">
            <a:avLst/>
          </a:prstGeom>
          <a:solidFill>
            <a:schemeClr val="accent4">
              <a:lumMod val="60000"/>
              <a:lumOff val="40000"/>
            </a:schemeClr>
          </a:solidFill>
        </p:spPr>
        <p:txBody>
          <a:bodyPr wrap="square" rtlCol="0">
            <a:spAutoFit/>
          </a:bodyPr>
          <a:lstStyle/>
          <a:p>
            <a:r>
              <a:rPr lang="en-US" altLang="zh-CN" b="1" dirty="0">
                <a:solidFill>
                  <a:schemeClr val="bg2">
                    <a:lumMod val="50000"/>
                  </a:schemeClr>
                </a:solidFill>
              </a:rPr>
              <a:t>Teaching Force</a:t>
            </a:r>
            <a:endParaRPr lang="zh-CN" altLang="en-US" b="1" dirty="0">
              <a:solidFill>
                <a:schemeClr val="bg2">
                  <a:lumMod val="50000"/>
                </a:schemeClr>
              </a:solidFill>
            </a:endParaRPr>
          </a:p>
        </p:txBody>
      </p:sp>
    </p:spTree>
    <p:extLst>
      <p:ext uri="{BB962C8B-B14F-4D97-AF65-F5344CB8AC3E}">
        <p14:creationId xmlns:p14="http://schemas.microsoft.com/office/powerpoint/2010/main" val="3170030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
          <p:cNvSpPr txBox="1">
            <a:spLocks/>
          </p:cNvSpPr>
          <p:nvPr/>
        </p:nvSpPr>
        <p:spPr>
          <a:xfrm>
            <a:off x="1988096" y="786698"/>
            <a:ext cx="5472608" cy="63276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200" dirty="0">
                <a:solidFill>
                  <a:schemeClr val="tx1"/>
                </a:solidFill>
                <a:cs typeface="+mn-ea"/>
                <a:sym typeface="+mn-lt"/>
              </a:rPr>
              <a:t>LTSM struct create a new </a:t>
            </a:r>
          </a:p>
        </p:txBody>
      </p:sp>
      <p:sp>
        <p:nvSpPr>
          <p:cNvPr id="21" name="矩形 20"/>
          <p:cNvSpPr/>
          <p:nvPr/>
        </p:nvSpPr>
        <p:spPr>
          <a:xfrm>
            <a:off x="1801661" y="239777"/>
            <a:ext cx="5540678" cy="523220"/>
          </a:xfrm>
          <a:prstGeom prst="rect">
            <a:avLst/>
          </a:prstGeom>
        </p:spPr>
        <p:txBody>
          <a:bodyPr wrap="square">
            <a:spAutoFit/>
          </a:bodyPr>
          <a:lstStyle/>
          <a:p>
            <a:pPr algn="ctr"/>
            <a:r>
              <a:rPr lang="en-US" altLang="zh-CN" sz="2800" b="1" dirty="0">
                <a:solidFill>
                  <a:schemeClr val="bg1"/>
                </a:solidFill>
                <a:cs typeface="+mn-ea"/>
                <a:sym typeface="+mn-lt"/>
              </a:rPr>
              <a:t>From RNN to LTSM</a:t>
            </a:r>
            <a:endParaRPr lang="en-US" altLang="zh-CN" sz="1050" dirty="0">
              <a:solidFill>
                <a:schemeClr val="bg2">
                  <a:lumMod val="50000"/>
                </a:schemeClr>
              </a:solidFill>
              <a:cs typeface="+mn-ea"/>
              <a:sym typeface="+mn-lt"/>
            </a:endParaRPr>
          </a:p>
        </p:txBody>
      </p:sp>
      <p:cxnSp>
        <p:nvCxnSpPr>
          <p:cNvPr id="76" name="直接箭头连接符 75"/>
          <p:cNvCxnSpPr/>
          <p:nvPr/>
        </p:nvCxnSpPr>
        <p:spPr>
          <a:xfrm flipH="1">
            <a:off x="2700338" y="2931790"/>
            <a:ext cx="647526" cy="0"/>
          </a:xfrm>
          <a:prstGeom prst="straightConnector1">
            <a:avLst/>
          </a:prstGeom>
          <a:ln>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B8BBFD4D-BD93-4188-9391-CA9537A07D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1172" y="1387209"/>
            <a:ext cx="3462796" cy="12961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STM神经网络。">
            <a:extLst>
              <a:ext uri="{FF2B5EF4-FFF2-40B4-BE49-F238E27FC236}">
                <a16:creationId xmlns:a16="http://schemas.microsoft.com/office/drawing/2014/main" id="{044CA303-39A9-4894-81BF-FB5619B5877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60032" y="1363269"/>
            <a:ext cx="3401883" cy="1296144"/>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6" descr="门控循环单元神经网络。">
            <a:extLst>
              <a:ext uri="{FF2B5EF4-FFF2-40B4-BE49-F238E27FC236}">
                <a16:creationId xmlns:a16="http://schemas.microsoft.com/office/drawing/2014/main" id="{0167F806-A2CF-4326-A91B-820B8009E56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cxnSp>
        <p:nvCxnSpPr>
          <p:cNvPr id="4" name="直接连接符 3">
            <a:extLst>
              <a:ext uri="{FF2B5EF4-FFF2-40B4-BE49-F238E27FC236}">
                <a16:creationId xmlns:a16="http://schemas.microsoft.com/office/drawing/2014/main" id="{CF23E9C1-7F5B-4CCF-AFFC-F2C2E06EE5BB}"/>
              </a:ext>
            </a:extLst>
          </p:cNvPr>
          <p:cNvCxnSpPr>
            <a:cxnSpLocks/>
          </p:cNvCxnSpPr>
          <p:nvPr/>
        </p:nvCxnSpPr>
        <p:spPr>
          <a:xfrm>
            <a:off x="4505673" y="1542422"/>
            <a:ext cx="0" cy="3104438"/>
          </a:xfrm>
          <a:prstGeom prst="line">
            <a:avLst/>
          </a:prstGeom>
          <a:ln w="57150" cap="rnd"/>
        </p:spPr>
        <p:style>
          <a:lnRef idx="1">
            <a:schemeClr val="dk1"/>
          </a:lnRef>
          <a:fillRef idx="0">
            <a:schemeClr val="dk1"/>
          </a:fillRef>
          <a:effectRef idx="0">
            <a:schemeClr val="dk1"/>
          </a:effectRef>
          <a:fontRef idx="minor">
            <a:schemeClr val="tx1"/>
          </a:fontRef>
        </p:style>
      </p:cxnSp>
      <p:sp>
        <p:nvSpPr>
          <p:cNvPr id="5" name="文本框 4">
            <a:extLst>
              <a:ext uri="{FF2B5EF4-FFF2-40B4-BE49-F238E27FC236}">
                <a16:creationId xmlns:a16="http://schemas.microsoft.com/office/drawing/2014/main" id="{0C262376-31CE-4251-BE04-D5DAEEE7BC45}"/>
              </a:ext>
            </a:extLst>
          </p:cNvPr>
          <p:cNvSpPr txBox="1"/>
          <p:nvPr/>
        </p:nvSpPr>
        <p:spPr>
          <a:xfrm>
            <a:off x="546199" y="3003798"/>
            <a:ext cx="3848622" cy="1200329"/>
          </a:xfrm>
          <a:prstGeom prst="rect">
            <a:avLst/>
          </a:prstGeom>
          <a:noFill/>
        </p:spPr>
        <p:txBody>
          <a:bodyPr wrap="square" rtlCol="0">
            <a:spAutoFit/>
          </a:bodyPr>
          <a:lstStyle/>
          <a:p>
            <a:r>
              <a:rPr lang="en-US" altLang="zh-CN" dirty="0"/>
              <a:t>ht-1 will be passed from the previous cell to the next cell,</a:t>
            </a:r>
          </a:p>
          <a:p>
            <a:r>
              <a:rPr lang="en-US" altLang="zh-CN" dirty="0"/>
              <a:t>However such dependency will not be remembered for a long term.</a:t>
            </a:r>
            <a:endParaRPr lang="zh-CN" altLang="en-US" dirty="0"/>
          </a:p>
        </p:txBody>
      </p:sp>
      <p:sp>
        <p:nvSpPr>
          <p:cNvPr id="6" name="文本框 5">
            <a:extLst>
              <a:ext uri="{FF2B5EF4-FFF2-40B4-BE49-F238E27FC236}">
                <a16:creationId xmlns:a16="http://schemas.microsoft.com/office/drawing/2014/main" id="{586B057B-9D94-4133-A4EE-C7AFA73D3C85}"/>
              </a:ext>
            </a:extLst>
          </p:cNvPr>
          <p:cNvSpPr txBox="1"/>
          <p:nvPr/>
        </p:nvSpPr>
        <p:spPr>
          <a:xfrm>
            <a:off x="7342339" y="4646860"/>
            <a:ext cx="1799595" cy="369332"/>
          </a:xfrm>
          <a:prstGeom prst="rect">
            <a:avLst/>
          </a:prstGeom>
          <a:noFill/>
        </p:spPr>
        <p:txBody>
          <a:bodyPr wrap="none" rtlCol="0">
            <a:spAutoFit/>
          </a:bodyPr>
          <a:lstStyle/>
          <a:p>
            <a:r>
              <a:rPr lang="en-US" altLang="zh-CN" dirty="0"/>
              <a:t>How about GRU?</a:t>
            </a:r>
            <a:endParaRPr lang="zh-CN" altLang="en-US" dirty="0"/>
          </a:p>
        </p:txBody>
      </p:sp>
      <p:pic>
        <p:nvPicPr>
          <p:cNvPr id="1034" name="Picture 10">
            <a:extLst>
              <a:ext uri="{FF2B5EF4-FFF2-40B4-BE49-F238E27FC236}">
                <a16:creationId xmlns:a16="http://schemas.microsoft.com/office/drawing/2014/main" id="{7D23954C-7E5F-4FA6-ABBC-145DC143B1E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41777" y="2639291"/>
            <a:ext cx="2447940" cy="1607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962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801660" y="239777"/>
            <a:ext cx="5938691" cy="523220"/>
          </a:xfrm>
          <a:prstGeom prst="rect">
            <a:avLst/>
          </a:prstGeom>
        </p:spPr>
        <p:txBody>
          <a:bodyPr wrap="square">
            <a:spAutoFit/>
          </a:bodyPr>
          <a:lstStyle/>
          <a:p>
            <a:pPr algn="ctr"/>
            <a:r>
              <a:rPr lang="en-US" altLang="zh-CN" sz="2800" b="1" dirty="0">
                <a:solidFill>
                  <a:schemeClr val="bg1">
                    <a:lumMod val="65000"/>
                    <a:lumOff val="35000"/>
                  </a:schemeClr>
                </a:solidFill>
                <a:cs typeface="+mn-ea"/>
                <a:sym typeface="+mn-lt"/>
              </a:rPr>
              <a:t>Teacher forcing</a:t>
            </a:r>
            <a:r>
              <a:rPr lang="zh-CN" altLang="en-US" sz="2800" b="1" dirty="0">
                <a:solidFill>
                  <a:schemeClr val="bg1">
                    <a:lumMod val="65000"/>
                    <a:lumOff val="35000"/>
                  </a:schemeClr>
                </a:solidFill>
                <a:cs typeface="+mn-ea"/>
                <a:sym typeface="+mn-lt"/>
              </a:rPr>
              <a:t> </a:t>
            </a:r>
            <a:r>
              <a:rPr lang="en-US" altLang="zh-CN" sz="2800" b="1" dirty="0">
                <a:solidFill>
                  <a:schemeClr val="bg1">
                    <a:lumMod val="65000"/>
                    <a:lumOff val="35000"/>
                  </a:schemeClr>
                </a:solidFill>
                <a:cs typeface="+mn-ea"/>
                <a:sym typeface="+mn-lt"/>
              </a:rPr>
              <a:t>and Attention Module </a:t>
            </a:r>
            <a:endParaRPr lang="en-US" altLang="zh-CN" sz="1050" dirty="0">
              <a:solidFill>
                <a:schemeClr val="bg1">
                  <a:lumMod val="65000"/>
                  <a:lumOff val="35000"/>
                </a:schemeClr>
              </a:solidFill>
              <a:cs typeface="+mn-ea"/>
              <a:sym typeface="+mn-lt"/>
            </a:endParaRPr>
          </a:p>
        </p:txBody>
      </p:sp>
      <p:sp>
        <p:nvSpPr>
          <p:cNvPr id="2" name="文本框 1">
            <a:extLst>
              <a:ext uri="{FF2B5EF4-FFF2-40B4-BE49-F238E27FC236}">
                <a16:creationId xmlns:a16="http://schemas.microsoft.com/office/drawing/2014/main" id="{1FBFBAE5-2DAC-4127-8570-C7E6E4641990}"/>
              </a:ext>
            </a:extLst>
          </p:cNvPr>
          <p:cNvSpPr txBox="1"/>
          <p:nvPr/>
        </p:nvSpPr>
        <p:spPr>
          <a:xfrm>
            <a:off x="810564" y="891104"/>
            <a:ext cx="7920879" cy="923330"/>
          </a:xfrm>
          <a:prstGeom prst="rect">
            <a:avLst/>
          </a:prstGeom>
          <a:noFill/>
        </p:spPr>
        <p:txBody>
          <a:bodyPr wrap="square" rtlCol="0">
            <a:spAutoFit/>
          </a:bodyPr>
          <a:lstStyle/>
          <a:p>
            <a:r>
              <a:rPr lang="en-US" altLang="zh-CN" b="1" dirty="0">
                <a:solidFill>
                  <a:schemeClr val="bg1">
                    <a:lumMod val="65000"/>
                    <a:lumOff val="35000"/>
                  </a:schemeClr>
                </a:solidFill>
                <a:cs typeface="+mn-ea"/>
                <a:sym typeface="+mn-lt"/>
              </a:rPr>
              <a:t>Teacher forcing : </a:t>
            </a:r>
            <a:r>
              <a:rPr lang="en-US" altLang="zh-CN" dirty="0">
                <a:solidFill>
                  <a:schemeClr val="tx1">
                    <a:lumMod val="75000"/>
                  </a:schemeClr>
                </a:solidFill>
              </a:rPr>
              <a:t>It does not use the output of the previous state as the input of the next state each time, but directly uses the previous item corresponding to the ground truth of the training data as the input of the next state.</a:t>
            </a:r>
            <a:endParaRPr lang="zh-CN" altLang="en-US" dirty="0">
              <a:solidFill>
                <a:schemeClr val="tx1">
                  <a:lumMod val="75000"/>
                </a:schemeClr>
              </a:solidFill>
            </a:endParaRPr>
          </a:p>
        </p:txBody>
      </p:sp>
      <p:sp>
        <p:nvSpPr>
          <p:cNvPr id="19" name="文本框 18">
            <a:extLst>
              <a:ext uri="{FF2B5EF4-FFF2-40B4-BE49-F238E27FC236}">
                <a16:creationId xmlns:a16="http://schemas.microsoft.com/office/drawing/2014/main" id="{F93A23B9-9207-4B5D-873B-C56DBBB97AF1}"/>
              </a:ext>
            </a:extLst>
          </p:cNvPr>
          <p:cNvSpPr txBox="1"/>
          <p:nvPr/>
        </p:nvSpPr>
        <p:spPr>
          <a:xfrm>
            <a:off x="810564" y="1942541"/>
            <a:ext cx="7920879" cy="646331"/>
          </a:xfrm>
          <a:prstGeom prst="rect">
            <a:avLst/>
          </a:prstGeom>
          <a:noFill/>
        </p:spPr>
        <p:txBody>
          <a:bodyPr wrap="square" rtlCol="0">
            <a:spAutoFit/>
          </a:bodyPr>
          <a:lstStyle/>
          <a:p>
            <a:r>
              <a:rPr lang="en-US" altLang="zh-CN" b="1" dirty="0">
                <a:solidFill>
                  <a:schemeClr val="bg1">
                    <a:lumMod val="65000"/>
                    <a:lumOff val="35000"/>
                  </a:schemeClr>
                </a:solidFill>
                <a:cs typeface="+mn-ea"/>
                <a:sym typeface="+mn-lt"/>
              </a:rPr>
              <a:t>Attention Module: </a:t>
            </a:r>
            <a:r>
              <a:rPr lang="en-US" altLang="zh-CN" dirty="0">
                <a:solidFill>
                  <a:schemeClr val="tx1">
                    <a:lumMod val="75000"/>
                  </a:schemeClr>
                </a:solidFill>
              </a:rPr>
              <a:t>Assign attention weights to all the outputs of the </a:t>
            </a:r>
            <a:r>
              <a:rPr lang="en-US" altLang="zh-CN" dirty="0">
                <a:solidFill>
                  <a:schemeClr val="bg1">
                    <a:lumMod val="50000"/>
                    <a:lumOff val="50000"/>
                  </a:schemeClr>
                </a:solidFill>
              </a:rPr>
              <a:t>context vector </a:t>
            </a:r>
            <a:r>
              <a:rPr lang="en-US" altLang="zh-CN" dirty="0">
                <a:solidFill>
                  <a:schemeClr val="tx1">
                    <a:lumMod val="75000"/>
                  </a:schemeClr>
                </a:solidFill>
              </a:rPr>
              <a:t>and use them as one of the inputs of the decoder in turn.</a:t>
            </a:r>
            <a:endParaRPr lang="zh-CN" altLang="en-US" dirty="0">
              <a:solidFill>
                <a:schemeClr val="tx1">
                  <a:lumMod val="75000"/>
                </a:schemeClr>
              </a:solidFill>
            </a:endParaRPr>
          </a:p>
        </p:txBody>
      </p:sp>
      <p:pic>
        <p:nvPicPr>
          <p:cNvPr id="3" name="图片 2">
            <a:extLst>
              <a:ext uri="{FF2B5EF4-FFF2-40B4-BE49-F238E27FC236}">
                <a16:creationId xmlns:a16="http://schemas.microsoft.com/office/drawing/2014/main" id="{E2FFB2F3-4BA2-4DA7-B768-1A7021C912B3}"/>
              </a:ext>
            </a:extLst>
          </p:cNvPr>
          <p:cNvPicPr>
            <a:picLocks noChangeAspect="1"/>
          </p:cNvPicPr>
          <p:nvPr/>
        </p:nvPicPr>
        <p:blipFill>
          <a:blip r:embed="rId3"/>
          <a:stretch>
            <a:fillRect/>
          </a:stretch>
        </p:blipFill>
        <p:spPr>
          <a:xfrm>
            <a:off x="942816" y="2666861"/>
            <a:ext cx="2160240" cy="2195224"/>
          </a:xfrm>
          <a:prstGeom prst="rect">
            <a:avLst/>
          </a:prstGeom>
        </p:spPr>
      </p:pic>
      <p:pic>
        <p:nvPicPr>
          <p:cNvPr id="4" name="图片 3">
            <a:extLst>
              <a:ext uri="{FF2B5EF4-FFF2-40B4-BE49-F238E27FC236}">
                <a16:creationId xmlns:a16="http://schemas.microsoft.com/office/drawing/2014/main" id="{4B44BBA2-65AE-4634-B573-110BB34FAA7C}"/>
              </a:ext>
            </a:extLst>
          </p:cNvPr>
          <p:cNvPicPr>
            <a:picLocks noChangeAspect="1"/>
          </p:cNvPicPr>
          <p:nvPr/>
        </p:nvPicPr>
        <p:blipFill>
          <a:blip r:embed="rId4"/>
          <a:stretch>
            <a:fillRect/>
          </a:stretch>
        </p:blipFill>
        <p:spPr>
          <a:xfrm>
            <a:off x="5292080" y="2588872"/>
            <a:ext cx="3236414" cy="2195224"/>
          </a:xfrm>
          <a:prstGeom prst="rect">
            <a:avLst/>
          </a:prstGeom>
          <a:effectLst>
            <a:softEdge rad="50800"/>
          </a:effectLst>
        </p:spPr>
      </p:pic>
      <p:cxnSp>
        <p:nvCxnSpPr>
          <p:cNvPr id="6" name="直接箭头连接符 5">
            <a:extLst>
              <a:ext uri="{FF2B5EF4-FFF2-40B4-BE49-F238E27FC236}">
                <a16:creationId xmlns:a16="http://schemas.microsoft.com/office/drawing/2014/main" id="{70C3139C-50B8-4B2C-8B17-A68FC4513390}"/>
              </a:ext>
            </a:extLst>
          </p:cNvPr>
          <p:cNvCxnSpPr/>
          <p:nvPr/>
        </p:nvCxnSpPr>
        <p:spPr>
          <a:xfrm>
            <a:off x="3419872" y="3686484"/>
            <a:ext cx="1584176" cy="0"/>
          </a:xfrm>
          <a:prstGeom prst="straightConnector1">
            <a:avLst/>
          </a:prstGeom>
          <a:ln w="6032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44841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17" name="组合 16"/>
          <p:cNvGrpSpPr/>
          <p:nvPr/>
        </p:nvGrpSpPr>
        <p:grpSpPr>
          <a:xfrm>
            <a:off x="-19953" y="-21247"/>
            <a:ext cx="9177939" cy="531543"/>
            <a:chOff x="0" y="-21468"/>
            <a:chExt cx="9177939" cy="826535"/>
          </a:xfrm>
        </p:grpSpPr>
        <p:sp>
          <p:nvSpPr>
            <p:cNvPr id="57" name="Freeform 104"/>
            <p:cNvSpPr>
              <a:spLocks/>
            </p:cNvSpPr>
            <p:nvPr/>
          </p:nvSpPr>
          <p:spPr bwMode="auto">
            <a:xfrm flipV="1">
              <a:off x="0" y="-4618"/>
              <a:ext cx="3725125" cy="619991"/>
            </a:xfrm>
            <a:custGeom>
              <a:avLst/>
              <a:gdLst>
                <a:gd name="T0" fmla="*/ 337 w 965"/>
                <a:gd name="T1" fmla="*/ 296 h 296"/>
                <a:gd name="T2" fmla="*/ 338 w 965"/>
                <a:gd name="T3" fmla="*/ 295 h 296"/>
                <a:gd name="T4" fmla="*/ 340 w 965"/>
                <a:gd name="T5" fmla="*/ 296 h 296"/>
                <a:gd name="T6" fmla="*/ 959 w 965"/>
                <a:gd name="T7" fmla="*/ 296 h 296"/>
                <a:gd name="T8" fmla="*/ 965 w 965"/>
                <a:gd name="T9" fmla="*/ 273 h 296"/>
                <a:gd name="T10" fmla="*/ 913 w 965"/>
                <a:gd name="T11" fmla="*/ 221 h 296"/>
                <a:gd name="T12" fmla="*/ 903 w 965"/>
                <a:gd name="T13" fmla="*/ 222 h 296"/>
                <a:gd name="T14" fmla="*/ 830 w 965"/>
                <a:gd name="T15" fmla="*/ 153 h 296"/>
                <a:gd name="T16" fmla="*/ 765 w 965"/>
                <a:gd name="T17" fmla="*/ 193 h 296"/>
                <a:gd name="T18" fmla="*/ 728 w 965"/>
                <a:gd name="T19" fmla="*/ 183 h 296"/>
                <a:gd name="T20" fmla="*/ 686 w 965"/>
                <a:gd name="T21" fmla="*/ 197 h 296"/>
                <a:gd name="T22" fmla="*/ 612 w 965"/>
                <a:gd name="T23" fmla="*/ 153 h 296"/>
                <a:gd name="T24" fmla="*/ 573 w 965"/>
                <a:gd name="T25" fmla="*/ 163 h 296"/>
                <a:gd name="T26" fmla="*/ 489 w 965"/>
                <a:gd name="T27" fmla="*/ 80 h 296"/>
                <a:gd name="T28" fmla="*/ 483 w 965"/>
                <a:gd name="T29" fmla="*/ 80 h 296"/>
                <a:gd name="T30" fmla="*/ 387 w 965"/>
                <a:gd name="T31" fmla="*/ 0 h 296"/>
                <a:gd name="T32" fmla="*/ 292 w 965"/>
                <a:gd name="T33" fmla="*/ 76 h 296"/>
                <a:gd name="T34" fmla="*/ 271 w 965"/>
                <a:gd name="T35" fmla="*/ 73 h 296"/>
                <a:gd name="T36" fmla="*/ 188 w 965"/>
                <a:gd name="T37" fmla="*/ 147 h 296"/>
                <a:gd name="T38" fmla="*/ 160 w 965"/>
                <a:gd name="T39" fmla="*/ 140 h 296"/>
                <a:gd name="T40" fmla="*/ 94 w 965"/>
                <a:gd name="T41" fmla="*/ 206 h 296"/>
                <a:gd name="T42" fmla="*/ 95 w 965"/>
                <a:gd name="T43" fmla="*/ 212 h 296"/>
                <a:gd name="T44" fmla="*/ 64 w 965"/>
                <a:gd name="T45" fmla="*/ 204 h 296"/>
                <a:gd name="T46" fmla="*/ 0 w 965"/>
                <a:gd name="T47" fmla="*/ 268 h 296"/>
                <a:gd name="T48" fmla="*/ 6 w 965"/>
                <a:gd name="T49" fmla="*/ 296 h 296"/>
                <a:gd name="T50" fmla="*/ 337 w 965"/>
                <a:gd name="T51" fmla="*/ 29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5" h="296">
                  <a:moveTo>
                    <a:pt x="337" y="296"/>
                  </a:moveTo>
                  <a:cubicBezTo>
                    <a:pt x="337" y="296"/>
                    <a:pt x="338" y="295"/>
                    <a:pt x="338" y="295"/>
                  </a:cubicBezTo>
                  <a:cubicBezTo>
                    <a:pt x="339" y="295"/>
                    <a:pt x="339" y="296"/>
                    <a:pt x="340" y="296"/>
                  </a:cubicBezTo>
                  <a:cubicBezTo>
                    <a:pt x="959" y="296"/>
                    <a:pt x="959" y="296"/>
                    <a:pt x="959" y="296"/>
                  </a:cubicBezTo>
                  <a:cubicBezTo>
                    <a:pt x="963" y="289"/>
                    <a:pt x="965" y="281"/>
                    <a:pt x="965" y="273"/>
                  </a:cubicBezTo>
                  <a:cubicBezTo>
                    <a:pt x="965" y="245"/>
                    <a:pt x="942" y="221"/>
                    <a:pt x="913" y="221"/>
                  </a:cubicBezTo>
                  <a:cubicBezTo>
                    <a:pt x="910" y="221"/>
                    <a:pt x="906" y="222"/>
                    <a:pt x="903" y="222"/>
                  </a:cubicBezTo>
                  <a:cubicBezTo>
                    <a:pt x="901" y="184"/>
                    <a:pt x="869" y="153"/>
                    <a:pt x="830" y="153"/>
                  </a:cubicBezTo>
                  <a:cubicBezTo>
                    <a:pt x="802" y="153"/>
                    <a:pt x="777" y="169"/>
                    <a:pt x="765" y="193"/>
                  </a:cubicBezTo>
                  <a:cubicBezTo>
                    <a:pt x="754" y="187"/>
                    <a:pt x="742" y="183"/>
                    <a:pt x="728" y="183"/>
                  </a:cubicBezTo>
                  <a:cubicBezTo>
                    <a:pt x="712" y="183"/>
                    <a:pt x="698" y="188"/>
                    <a:pt x="686" y="197"/>
                  </a:cubicBezTo>
                  <a:cubicBezTo>
                    <a:pt x="672" y="170"/>
                    <a:pt x="644" y="153"/>
                    <a:pt x="612" y="153"/>
                  </a:cubicBezTo>
                  <a:cubicBezTo>
                    <a:pt x="598" y="153"/>
                    <a:pt x="585" y="156"/>
                    <a:pt x="573" y="163"/>
                  </a:cubicBezTo>
                  <a:cubicBezTo>
                    <a:pt x="572" y="117"/>
                    <a:pt x="535" y="80"/>
                    <a:pt x="489" y="80"/>
                  </a:cubicBezTo>
                  <a:cubicBezTo>
                    <a:pt x="487" y="80"/>
                    <a:pt x="485" y="80"/>
                    <a:pt x="483" y="80"/>
                  </a:cubicBezTo>
                  <a:cubicBezTo>
                    <a:pt x="474" y="35"/>
                    <a:pt x="435" y="0"/>
                    <a:pt x="387" y="0"/>
                  </a:cubicBezTo>
                  <a:cubicBezTo>
                    <a:pt x="341" y="0"/>
                    <a:pt x="302" y="33"/>
                    <a:pt x="292" y="76"/>
                  </a:cubicBezTo>
                  <a:cubicBezTo>
                    <a:pt x="285" y="74"/>
                    <a:pt x="278" y="73"/>
                    <a:pt x="271" y="73"/>
                  </a:cubicBezTo>
                  <a:cubicBezTo>
                    <a:pt x="228" y="73"/>
                    <a:pt x="193" y="106"/>
                    <a:pt x="188" y="147"/>
                  </a:cubicBezTo>
                  <a:cubicBezTo>
                    <a:pt x="180" y="143"/>
                    <a:pt x="170" y="140"/>
                    <a:pt x="160" y="140"/>
                  </a:cubicBezTo>
                  <a:cubicBezTo>
                    <a:pt x="124" y="140"/>
                    <a:pt x="94" y="170"/>
                    <a:pt x="94" y="206"/>
                  </a:cubicBezTo>
                  <a:cubicBezTo>
                    <a:pt x="94" y="208"/>
                    <a:pt x="95" y="210"/>
                    <a:pt x="95" y="212"/>
                  </a:cubicBezTo>
                  <a:cubicBezTo>
                    <a:pt x="86" y="207"/>
                    <a:pt x="75" y="204"/>
                    <a:pt x="64" y="204"/>
                  </a:cubicBezTo>
                  <a:cubicBezTo>
                    <a:pt x="29" y="204"/>
                    <a:pt x="0" y="233"/>
                    <a:pt x="0" y="268"/>
                  </a:cubicBezTo>
                  <a:cubicBezTo>
                    <a:pt x="0" y="278"/>
                    <a:pt x="2" y="288"/>
                    <a:pt x="6" y="296"/>
                  </a:cubicBezTo>
                  <a:lnTo>
                    <a:pt x="337" y="2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114"/>
            <p:cNvSpPr>
              <a:spLocks/>
            </p:cNvSpPr>
            <p:nvPr/>
          </p:nvSpPr>
          <p:spPr bwMode="auto">
            <a:xfrm flipV="1">
              <a:off x="3249081" y="-7739"/>
              <a:ext cx="3339144" cy="812806"/>
            </a:xfrm>
            <a:custGeom>
              <a:avLst/>
              <a:gdLst>
                <a:gd name="T0" fmla="*/ 913 w 917"/>
                <a:gd name="T1" fmla="*/ 280 h 280"/>
                <a:gd name="T2" fmla="*/ 917 w 917"/>
                <a:gd name="T3" fmla="*/ 261 h 280"/>
                <a:gd name="T4" fmla="*/ 865 w 917"/>
                <a:gd name="T5" fmla="*/ 209 h 280"/>
                <a:gd name="T6" fmla="*/ 850 w 917"/>
                <a:gd name="T7" fmla="*/ 211 h 280"/>
                <a:gd name="T8" fmla="*/ 778 w 917"/>
                <a:gd name="T9" fmla="*/ 148 h 280"/>
                <a:gd name="T10" fmla="*/ 746 w 917"/>
                <a:gd name="T11" fmla="*/ 156 h 280"/>
                <a:gd name="T12" fmla="*/ 663 w 917"/>
                <a:gd name="T13" fmla="*/ 79 h 280"/>
                <a:gd name="T14" fmla="*/ 596 w 917"/>
                <a:gd name="T15" fmla="*/ 112 h 280"/>
                <a:gd name="T16" fmla="*/ 517 w 917"/>
                <a:gd name="T17" fmla="*/ 55 h 280"/>
                <a:gd name="T18" fmla="*/ 479 w 917"/>
                <a:gd name="T19" fmla="*/ 64 h 280"/>
                <a:gd name="T20" fmla="*/ 387 w 917"/>
                <a:gd name="T21" fmla="*/ 0 h 280"/>
                <a:gd name="T22" fmla="*/ 292 w 917"/>
                <a:gd name="T23" fmla="*/ 76 h 280"/>
                <a:gd name="T24" fmla="*/ 271 w 917"/>
                <a:gd name="T25" fmla="*/ 73 h 280"/>
                <a:gd name="T26" fmla="*/ 188 w 917"/>
                <a:gd name="T27" fmla="*/ 146 h 280"/>
                <a:gd name="T28" fmla="*/ 160 w 917"/>
                <a:gd name="T29" fmla="*/ 140 h 280"/>
                <a:gd name="T30" fmla="*/ 95 w 917"/>
                <a:gd name="T31" fmla="*/ 206 h 280"/>
                <a:gd name="T32" fmla="*/ 95 w 917"/>
                <a:gd name="T33" fmla="*/ 212 h 280"/>
                <a:gd name="T34" fmla="*/ 64 w 917"/>
                <a:gd name="T35" fmla="*/ 204 h 280"/>
                <a:gd name="T36" fmla="*/ 0 w 917"/>
                <a:gd name="T37" fmla="*/ 268 h 280"/>
                <a:gd name="T38" fmla="*/ 1 w 917"/>
                <a:gd name="T39" fmla="*/ 280 h 280"/>
                <a:gd name="T40" fmla="*/ 913 w 917"/>
                <a:gd name="T41" fmla="*/ 28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17" h="280">
                  <a:moveTo>
                    <a:pt x="913" y="280"/>
                  </a:moveTo>
                  <a:cubicBezTo>
                    <a:pt x="915" y="274"/>
                    <a:pt x="917" y="268"/>
                    <a:pt x="917" y="261"/>
                  </a:cubicBezTo>
                  <a:cubicBezTo>
                    <a:pt x="917" y="232"/>
                    <a:pt x="893" y="209"/>
                    <a:pt x="865" y="209"/>
                  </a:cubicBezTo>
                  <a:cubicBezTo>
                    <a:pt x="860" y="209"/>
                    <a:pt x="855" y="210"/>
                    <a:pt x="850" y="211"/>
                  </a:cubicBezTo>
                  <a:cubicBezTo>
                    <a:pt x="845" y="175"/>
                    <a:pt x="815" y="148"/>
                    <a:pt x="778" y="148"/>
                  </a:cubicBezTo>
                  <a:cubicBezTo>
                    <a:pt x="767" y="148"/>
                    <a:pt x="756" y="151"/>
                    <a:pt x="746" y="156"/>
                  </a:cubicBezTo>
                  <a:cubicBezTo>
                    <a:pt x="743" y="113"/>
                    <a:pt x="707" y="79"/>
                    <a:pt x="663" y="79"/>
                  </a:cubicBezTo>
                  <a:cubicBezTo>
                    <a:pt x="636" y="79"/>
                    <a:pt x="612" y="92"/>
                    <a:pt x="596" y="112"/>
                  </a:cubicBezTo>
                  <a:cubicBezTo>
                    <a:pt x="585" y="79"/>
                    <a:pt x="554" y="55"/>
                    <a:pt x="517" y="55"/>
                  </a:cubicBezTo>
                  <a:cubicBezTo>
                    <a:pt x="503" y="55"/>
                    <a:pt x="490" y="58"/>
                    <a:pt x="479" y="64"/>
                  </a:cubicBezTo>
                  <a:cubicBezTo>
                    <a:pt x="465" y="27"/>
                    <a:pt x="429" y="0"/>
                    <a:pt x="387" y="0"/>
                  </a:cubicBezTo>
                  <a:cubicBezTo>
                    <a:pt x="341" y="0"/>
                    <a:pt x="302" y="32"/>
                    <a:pt x="292" y="76"/>
                  </a:cubicBezTo>
                  <a:cubicBezTo>
                    <a:pt x="285" y="74"/>
                    <a:pt x="278" y="73"/>
                    <a:pt x="271" y="73"/>
                  </a:cubicBezTo>
                  <a:cubicBezTo>
                    <a:pt x="229" y="73"/>
                    <a:pt x="193" y="105"/>
                    <a:pt x="188" y="146"/>
                  </a:cubicBezTo>
                  <a:cubicBezTo>
                    <a:pt x="180" y="142"/>
                    <a:pt x="170" y="140"/>
                    <a:pt x="160" y="140"/>
                  </a:cubicBezTo>
                  <a:cubicBezTo>
                    <a:pt x="124" y="140"/>
                    <a:pt x="95" y="169"/>
                    <a:pt x="95" y="206"/>
                  </a:cubicBezTo>
                  <a:cubicBezTo>
                    <a:pt x="95" y="208"/>
                    <a:pt x="95" y="210"/>
                    <a:pt x="95" y="212"/>
                  </a:cubicBezTo>
                  <a:cubicBezTo>
                    <a:pt x="86" y="207"/>
                    <a:pt x="75" y="204"/>
                    <a:pt x="64" y="204"/>
                  </a:cubicBezTo>
                  <a:cubicBezTo>
                    <a:pt x="29" y="204"/>
                    <a:pt x="0" y="233"/>
                    <a:pt x="0" y="268"/>
                  </a:cubicBezTo>
                  <a:cubicBezTo>
                    <a:pt x="0" y="272"/>
                    <a:pt x="1" y="276"/>
                    <a:pt x="1" y="280"/>
                  </a:cubicBezTo>
                  <a:lnTo>
                    <a:pt x="913" y="2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92"/>
            <p:cNvSpPr>
              <a:spLocks/>
            </p:cNvSpPr>
            <p:nvPr/>
          </p:nvSpPr>
          <p:spPr bwMode="auto">
            <a:xfrm flipV="1">
              <a:off x="6012160" y="-21468"/>
              <a:ext cx="2088232" cy="396831"/>
            </a:xfrm>
            <a:custGeom>
              <a:avLst/>
              <a:gdLst>
                <a:gd name="T0" fmla="*/ 420 w 423"/>
                <a:gd name="T1" fmla="*/ 155 h 155"/>
                <a:gd name="T2" fmla="*/ 423 w 423"/>
                <a:gd name="T3" fmla="*/ 138 h 155"/>
                <a:gd name="T4" fmla="*/ 377 w 423"/>
                <a:gd name="T5" fmla="*/ 92 h 155"/>
                <a:gd name="T6" fmla="*/ 368 w 423"/>
                <a:gd name="T7" fmla="*/ 93 h 155"/>
                <a:gd name="T8" fmla="*/ 294 w 423"/>
                <a:gd name="T9" fmla="*/ 36 h 155"/>
                <a:gd name="T10" fmla="*/ 249 w 423"/>
                <a:gd name="T11" fmla="*/ 50 h 155"/>
                <a:gd name="T12" fmla="*/ 187 w 423"/>
                <a:gd name="T13" fmla="*/ 0 h 155"/>
                <a:gd name="T14" fmla="*/ 125 w 423"/>
                <a:gd name="T15" fmla="*/ 46 h 155"/>
                <a:gd name="T16" fmla="*/ 114 w 423"/>
                <a:gd name="T17" fmla="*/ 44 h 155"/>
                <a:gd name="T18" fmla="*/ 67 w 423"/>
                <a:gd name="T19" fmla="*/ 92 h 155"/>
                <a:gd name="T20" fmla="*/ 67 w 423"/>
                <a:gd name="T21" fmla="*/ 97 h 155"/>
                <a:gd name="T22" fmla="*/ 46 w 423"/>
                <a:gd name="T23" fmla="*/ 92 h 155"/>
                <a:gd name="T24" fmla="*/ 0 w 423"/>
                <a:gd name="T25" fmla="*/ 138 h 155"/>
                <a:gd name="T26" fmla="*/ 4 w 423"/>
                <a:gd name="T27" fmla="*/ 155 h 155"/>
                <a:gd name="T28" fmla="*/ 420 w 423"/>
                <a:gd name="T29"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3" h="155">
                  <a:moveTo>
                    <a:pt x="420" y="155"/>
                  </a:moveTo>
                  <a:cubicBezTo>
                    <a:pt x="422" y="150"/>
                    <a:pt x="423" y="144"/>
                    <a:pt x="423" y="138"/>
                  </a:cubicBezTo>
                  <a:cubicBezTo>
                    <a:pt x="423" y="112"/>
                    <a:pt x="403" y="92"/>
                    <a:pt x="377" y="92"/>
                  </a:cubicBezTo>
                  <a:cubicBezTo>
                    <a:pt x="374" y="92"/>
                    <a:pt x="371" y="92"/>
                    <a:pt x="368" y="93"/>
                  </a:cubicBezTo>
                  <a:cubicBezTo>
                    <a:pt x="359" y="60"/>
                    <a:pt x="329" y="36"/>
                    <a:pt x="294" y="36"/>
                  </a:cubicBezTo>
                  <a:cubicBezTo>
                    <a:pt x="277" y="36"/>
                    <a:pt x="262" y="41"/>
                    <a:pt x="249" y="50"/>
                  </a:cubicBezTo>
                  <a:cubicBezTo>
                    <a:pt x="243" y="22"/>
                    <a:pt x="218" y="0"/>
                    <a:pt x="187" y="0"/>
                  </a:cubicBezTo>
                  <a:cubicBezTo>
                    <a:pt x="158" y="0"/>
                    <a:pt x="133" y="19"/>
                    <a:pt x="125" y="46"/>
                  </a:cubicBezTo>
                  <a:cubicBezTo>
                    <a:pt x="122" y="45"/>
                    <a:pt x="118" y="44"/>
                    <a:pt x="114" y="44"/>
                  </a:cubicBezTo>
                  <a:cubicBezTo>
                    <a:pt x="88" y="44"/>
                    <a:pt x="67" y="66"/>
                    <a:pt x="67" y="92"/>
                  </a:cubicBezTo>
                  <a:cubicBezTo>
                    <a:pt x="67" y="93"/>
                    <a:pt x="67" y="95"/>
                    <a:pt x="67" y="97"/>
                  </a:cubicBezTo>
                  <a:cubicBezTo>
                    <a:pt x="61" y="94"/>
                    <a:pt x="54" y="92"/>
                    <a:pt x="46" y="92"/>
                  </a:cubicBezTo>
                  <a:cubicBezTo>
                    <a:pt x="21" y="92"/>
                    <a:pt x="0" y="112"/>
                    <a:pt x="0" y="138"/>
                  </a:cubicBezTo>
                  <a:cubicBezTo>
                    <a:pt x="0" y="144"/>
                    <a:pt x="2" y="150"/>
                    <a:pt x="4" y="155"/>
                  </a:cubicBezTo>
                  <a:lnTo>
                    <a:pt x="420" y="15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08"/>
            <p:cNvSpPr>
              <a:spLocks noEditPoints="1"/>
            </p:cNvSpPr>
            <p:nvPr/>
          </p:nvSpPr>
          <p:spPr bwMode="auto">
            <a:xfrm flipV="1">
              <a:off x="7953803" y="-21468"/>
              <a:ext cx="1224136" cy="483517"/>
            </a:xfrm>
            <a:custGeom>
              <a:avLst/>
              <a:gdLst>
                <a:gd name="T0" fmla="*/ 389 w 397"/>
                <a:gd name="T1" fmla="*/ 189 h 189"/>
                <a:gd name="T2" fmla="*/ 397 w 397"/>
                <a:gd name="T3" fmla="*/ 157 h 189"/>
                <a:gd name="T4" fmla="*/ 332 w 397"/>
                <a:gd name="T5" fmla="*/ 91 h 189"/>
                <a:gd name="T6" fmla="*/ 318 w 397"/>
                <a:gd name="T7" fmla="*/ 93 h 189"/>
                <a:gd name="T8" fmla="*/ 268 w 397"/>
                <a:gd name="T9" fmla="*/ 53 h 189"/>
                <a:gd name="T10" fmla="*/ 261 w 397"/>
                <a:gd name="T11" fmla="*/ 53 h 189"/>
                <a:gd name="T12" fmla="*/ 187 w 397"/>
                <a:gd name="T13" fmla="*/ 0 h 189"/>
                <a:gd name="T14" fmla="*/ 112 w 397"/>
                <a:gd name="T15" fmla="*/ 57 h 189"/>
                <a:gd name="T16" fmla="*/ 91 w 397"/>
                <a:gd name="T17" fmla="*/ 53 h 189"/>
                <a:gd name="T18" fmla="*/ 39 w 397"/>
                <a:gd name="T19" fmla="*/ 104 h 189"/>
                <a:gd name="T20" fmla="*/ 39 w 397"/>
                <a:gd name="T21" fmla="*/ 106 h 189"/>
                <a:gd name="T22" fmla="*/ 0 w 397"/>
                <a:gd name="T23" fmla="*/ 161 h 189"/>
                <a:gd name="T24" fmla="*/ 7 w 397"/>
                <a:gd name="T25" fmla="*/ 189 h 189"/>
                <a:gd name="T26" fmla="*/ 389 w 397"/>
                <a:gd name="T27" fmla="*/ 189 h 189"/>
                <a:gd name="T28" fmla="*/ 134 w 397"/>
                <a:gd name="T29" fmla="*/ 134 h 189"/>
                <a:gd name="T30" fmla="*/ 135 w 397"/>
                <a:gd name="T31" fmla="*/ 135 h 189"/>
                <a:gd name="T32" fmla="*/ 132 w 397"/>
                <a:gd name="T33" fmla="*/ 136 h 189"/>
                <a:gd name="T34" fmla="*/ 134 w 397"/>
                <a:gd name="T35" fmla="*/ 134 h 189"/>
                <a:gd name="T36" fmla="*/ 117 w 397"/>
                <a:gd name="T37" fmla="*/ 149 h 189"/>
                <a:gd name="T38" fmla="*/ 115 w 397"/>
                <a:gd name="T39" fmla="*/ 152 h 189"/>
                <a:gd name="T40" fmla="*/ 115 w 397"/>
                <a:gd name="T41" fmla="*/ 150 h 189"/>
                <a:gd name="T42" fmla="*/ 117 w 397"/>
                <a:gd name="T43" fmla="*/ 14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7" h="189">
                  <a:moveTo>
                    <a:pt x="389" y="189"/>
                  </a:moveTo>
                  <a:cubicBezTo>
                    <a:pt x="394" y="179"/>
                    <a:pt x="397" y="168"/>
                    <a:pt x="397" y="157"/>
                  </a:cubicBezTo>
                  <a:cubicBezTo>
                    <a:pt x="397" y="120"/>
                    <a:pt x="368" y="91"/>
                    <a:pt x="332" y="91"/>
                  </a:cubicBezTo>
                  <a:cubicBezTo>
                    <a:pt x="327" y="91"/>
                    <a:pt x="323" y="92"/>
                    <a:pt x="318" y="93"/>
                  </a:cubicBezTo>
                  <a:cubicBezTo>
                    <a:pt x="313" y="70"/>
                    <a:pt x="292" y="53"/>
                    <a:pt x="268" y="53"/>
                  </a:cubicBezTo>
                  <a:cubicBezTo>
                    <a:pt x="265" y="53"/>
                    <a:pt x="263" y="53"/>
                    <a:pt x="261" y="53"/>
                  </a:cubicBezTo>
                  <a:cubicBezTo>
                    <a:pt x="251" y="22"/>
                    <a:pt x="221" y="0"/>
                    <a:pt x="187" y="0"/>
                  </a:cubicBezTo>
                  <a:cubicBezTo>
                    <a:pt x="151" y="0"/>
                    <a:pt x="121" y="24"/>
                    <a:pt x="112" y="57"/>
                  </a:cubicBezTo>
                  <a:cubicBezTo>
                    <a:pt x="106" y="54"/>
                    <a:pt x="99" y="53"/>
                    <a:pt x="91" y="53"/>
                  </a:cubicBezTo>
                  <a:cubicBezTo>
                    <a:pt x="62" y="53"/>
                    <a:pt x="39" y="76"/>
                    <a:pt x="39" y="104"/>
                  </a:cubicBezTo>
                  <a:cubicBezTo>
                    <a:pt x="39" y="105"/>
                    <a:pt x="39" y="106"/>
                    <a:pt x="39" y="106"/>
                  </a:cubicBezTo>
                  <a:cubicBezTo>
                    <a:pt x="16" y="114"/>
                    <a:pt x="0" y="136"/>
                    <a:pt x="0" y="161"/>
                  </a:cubicBezTo>
                  <a:cubicBezTo>
                    <a:pt x="0" y="171"/>
                    <a:pt x="3" y="181"/>
                    <a:pt x="7" y="189"/>
                  </a:cubicBezTo>
                  <a:lnTo>
                    <a:pt x="389" y="189"/>
                  </a:lnTo>
                  <a:close/>
                  <a:moveTo>
                    <a:pt x="134" y="134"/>
                  </a:moveTo>
                  <a:cubicBezTo>
                    <a:pt x="135" y="135"/>
                    <a:pt x="135" y="135"/>
                    <a:pt x="135" y="135"/>
                  </a:cubicBezTo>
                  <a:cubicBezTo>
                    <a:pt x="134" y="135"/>
                    <a:pt x="133" y="136"/>
                    <a:pt x="132" y="136"/>
                  </a:cubicBezTo>
                  <a:cubicBezTo>
                    <a:pt x="132" y="135"/>
                    <a:pt x="133" y="135"/>
                    <a:pt x="134" y="134"/>
                  </a:cubicBezTo>
                  <a:moveTo>
                    <a:pt x="117" y="149"/>
                  </a:moveTo>
                  <a:cubicBezTo>
                    <a:pt x="116" y="150"/>
                    <a:pt x="116" y="151"/>
                    <a:pt x="115" y="152"/>
                  </a:cubicBezTo>
                  <a:cubicBezTo>
                    <a:pt x="115" y="152"/>
                    <a:pt x="115" y="151"/>
                    <a:pt x="115" y="150"/>
                  </a:cubicBezTo>
                  <a:cubicBezTo>
                    <a:pt x="116" y="150"/>
                    <a:pt x="116" y="150"/>
                    <a:pt x="117" y="14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p:cNvGrpSpPr/>
          <p:nvPr/>
        </p:nvGrpSpPr>
        <p:grpSpPr>
          <a:xfrm>
            <a:off x="2987824" y="3885508"/>
            <a:ext cx="3168351" cy="471577"/>
            <a:chOff x="3325174" y="818230"/>
            <a:chExt cx="2481953" cy="433887"/>
          </a:xfrm>
        </p:grpSpPr>
        <p:sp>
          <p:nvSpPr>
            <p:cNvPr id="284" name="任意多边形 283"/>
            <p:cNvSpPr/>
            <p:nvPr/>
          </p:nvSpPr>
          <p:spPr>
            <a:xfrm>
              <a:off x="3672779" y="818230"/>
              <a:ext cx="896930" cy="394073"/>
            </a:xfrm>
            <a:custGeom>
              <a:avLst/>
              <a:gdLst>
                <a:gd name="connsiteX0" fmla="*/ 65680 w 499482"/>
                <a:gd name="connsiteY0" fmla="*/ 0 h 394073"/>
                <a:gd name="connsiteX1" fmla="*/ 499482 w 499482"/>
                <a:gd name="connsiteY1" fmla="*/ 0 h 394073"/>
                <a:gd name="connsiteX2" fmla="*/ 499482 w 499482"/>
                <a:gd name="connsiteY2" fmla="*/ 394073 h 394073"/>
                <a:gd name="connsiteX3" fmla="*/ 65680 w 499482"/>
                <a:gd name="connsiteY3" fmla="*/ 394073 h 394073"/>
                <a:gd name="connsiteX4" fmla="*/ 0 w 499482"/>
                <a:gd name="connsiteY4" fmla="*/ 328393 h 394073"/>
                <a:gd name="connsiteX5" fmla="*/ 0 w 499482"/>
                <a:gd name="connsiteY5" fmla="*/ 65680 h 394073"/>
                <a:gd name="connsiteX6" fmla="*/ 65680 w 499482"/>
                <a:gd name="connsiteY6" fmla="*/ 0 h 39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482" h="394073">
                  <a:moveTo>
                    <a:pt x="65680" y="0"/>
                  </a:moveTo>
                  <a:lnTo>
                    <a:pt x="499482" y="0"/>
                  </a:lnTo>
                  <a:lnTo>
                    <a:pt x="499482" y="394073"/>
                  </a:lnTo>
                  <a:lnTo>
                    <a:pt x="65680" y="394073"/>
                  </a:lnTo>
                  <a:cubicBezTo>
                    <a:pt x="29406" y="394073"/>
                    <a:pt x="0" y="364667"/>
                    <a:pt x="0" y="328393"/>
                  </a:cubicBezTo>
                  <a:lnTo>
                    <a:pt x="0" y="65680"/>
                  </a:lnTo>
                  <a:cubicBezTo>
                    <a:pt x="0" y="29406"/>
                    <a:pt x="29406" y="0"/>
                    <a:pt x="65680"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5" name="Content Placeholder 2"/>
            <p:cNvSpPr txBox="1">
              <a:spLocks/>
            </p:cNvSpPr>
            <p:nvPr/>
          </p:nvSpPr>
          <p:spPr>
            <a:xfrm>
              <a:off x="3325174" y="869564"/>
              <a:ext cx="1605784" cy="38255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altLang="zh-CN" sz="1600" b="1" dirty="0">
                  <a:solidFill>
                    <a:schemeClr val="bg2"/>
                  </a:solidFill>
                  <a:cs typeface="+mn-ea"/>
                  <a:sym typeface="+mn-lt"/>
                </a:rPr>
                <a:t>Encoder</a:t>
              </a:r>
              <a:endParaRPr lang="en-US" sz="1600" b="1" dirty="0">
                <a:solidFill>
                  <a:schemeClr val="bg2"/>
                </a:solidFill>
                <a:cs typeface="+mn-ea"/>
                <a:sym typeface="+mn-lt"/>
              </a:endParaRPr>
            </a:p>
          </p:txBody>
        </p:sp>
        <p:sp>
          <p:nvSpPr>
            <p:cNvPr id="286" name="任意多边形 285"/>
            <p:cNvSpPr/>
            <p:nvPr/>
          </p:nvSpPr>
          <p:spPr>
            <a:xfrm flipH="1">
              <a:off x="4572000" y="818230"/>
              <a:ext cx="896930" cy="394073"/>
            </a:xfrm>
            <a:custGeom>
              <a:avLst/>
              <a:gdLst>
                <a:gd name="connsiteX0" fmla="*/ 65680 w 499482"/>
                <a:gd name="connsiteY0" fmla="*/ 0 h 394073"/>
                <a:gd name="connsiteX1" fmla="*/ 499482 w 499482"/>
                <a:gd name="connsiteY1" fmla="*/ 0 h 394073"/>
                <a:gd name="connsiteX2" fmla="*/ 499482 w 499482"/>
                <a:gd name="connsiteY2" fmla="*/ 394073 h 394073"/>
                <a:gd name="connsiteX3" fmla="*/ 65680 w 499482"/>
                <a:gd name="connsiteY3" fmla="*/ 394073 h 394073"/>
                <a:gd name="connsiteX4" fmla="*/ 0 w 499482"/>
                <a:gd name="connsiteY4" fmla="*/ 328393 h 394073"/>
                <a:gd name="connsiteX5" fmla="*/ 0 w 499482"/>
                <a:gd name="connsiteY5" fmla="*/ 65680 h 394073"/>
                <a:gd name="connsiteX6" fmla="*/ 65680 w 499482"/>
                <a:gd name="connsiteY6" fmla="*/ 0 h 39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482" h="394073">
                  <a:moveTo>
                    <a:pt x="65680" y="0"/>
                  </a:moveTo>
                  <a:lnTo>
                    <a:pt x="499482" y="0"/>
                  </a:lnTo>
                  <a:lnTo>
                    <a:pt x="499482" y="394073"/>
                  </a:lnTo>
                  <a:lnTo>
                    <a:pt x="65680" y="394073"/>
                  </a:lnTo>
                  <a:cubicBezTo>
                    <a:pt x="29406" y="394073"/>
                    <a:pt x="0" y="364667"/>
                    <a:pt x="0" y="328393"/>
                  </a:cubicBezTo>
                  <a:lnTo>
                    <a:pt x="0" y="65680"/>
                  </a:lnTo>
                  <a:cubicBezTo>
                    <a:pt x="0" y="29406"/>
                    <a:pt x="29406" y="0"/>
                    <a:pt x="6568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Content Placeholder 2"/>
            <p:cNvSpPr txBox="1">
              <a:spLocks/>
            </p:cNvSpPr>
            <p:nvPr/>
          </p:nvSpPr>
          <p:spPr>
            <a:xfrm>
              <a:off x="4201343" y="869099"/>
              <a:ext cx="1605784" cy="38255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altLang="zh-CN" sz="1600" b="1" dirty="0">
                  <a:solidFill>
                    <a:schemeClr val="bg1">
                      <a:lumMod val="95000"/>
                      <a:lumOff val="5000"/>
                    </a:schemeClr>
                  </a:solidFill>
                  <a:cs typeface="+mn-ea"/>
                  <a:sym typeface="+mn-lt"/>
                </a:rPr>
                <a:t>Decoder</a:t>
              </a:r>
              <a:endParaRPr lang="en-US" sz="1600" b="1" dirty="0">
                <a:solidFill>
                  <a:schemeClr val="bg1">
                    <a:lumMod val="95000"/>
                    <a:lumOff val="5000"/>
                  </a:schemeClr>
                </a:solidFill>
                <a:cs typeface="+mn-ea"/>
                <a:sym typeface="+mn-lt"/>
              </a:endParaRPr>
            </a:p>
          </p:txBody>
        </p:sp>
      </p:grpSp>
      <p:sp>
        <p:nvSpPr>
          <p:cNvPr id="108" name="圆角矩形 107"/>
          <p:cNvSpPr/>
          <p:nvPr/>
        </p:nvSpPr>
        <p:spPr>
          <a:xfrm rot="16200000">
            <a:off x="3867083" y="2205268"/>
            <a:ext cx="1409834" cy="45719"/>
          </a:xfrm>
          <a:prstGeom prst="roundRect">
            <a:avLst>
              <a:gd name="adj" fmla="val 43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5" name="图片 4">
            <a:extLst>
              <a:ext uri="{FF2B5EF4-FFF2-40B4-BE49-F238E27FC236}">
                <a16:creationId xmlns:a16="http://schemas.microsoft.com/office/drawing/2014/main" id="{3A693190-8287-4A04-9837-B2D09926018B}"/>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788024" y="789386"/>
            <a:ext cx="4003996" cy="2792260"/>
          </a:xfrm>
          <a:prstGeom prst="rect">
            <a:avLst/>
          </a:prstGeom>
          <a:effectLst>
            <a:softEdge rad="114300"/>
          </a:effectLst>
        </p:spPr>
      </p:pic>
      <p:pic>
        <p:nvPicPr>
          <p:cNvPr id="7" name="图片 6" descr="文本&#10;&#10;描述已自动生成">
            <a:extLst>
              <a:ext uri="{FF2B5EF4-FFF2-40B4-BE49-F238E27FC236}">
                <a16:creationId xmlns:a16="http://schemas.microsoft.com/office/drawing/2014/main" id="{AC9C7ACE-1F50-487B-ABEC-1EC6232F9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061" y="954612"/>
            <a:ext cx="4182907" cy="2541364"/>
          </a:xfrm>
          <a:prstGeom prst="rect">
            <a:avLst/>
          </a:prstGeom>
          <a:effectLst>
            <a:softEdge rad="139700"/>
          </a:effectLst>
        </p:spPr>
      </p:pic>
    </p:spTree>
    <p:extLst>
      <p:ext uri="{BB962C8B-B14F-4D97-AF65-F5344CB8AC3E}">
        <p14:creationId xmlns:p14="http://schemas.microsoft.com/office/powerpoint/2010/main" val="345307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4" name="Content Placeholder 2"/>
          <p:cNvSpPr txBox="1">
            <a:spLocks/>
          </p:cNvSpPr>
          <p:nvPr/>
        </p:nvSpPr>
        <p:spPr>
          <a:xfrm>
            <a:off x="2278469" y="3762707"/>
            <a:ext cx="4536210" cy="63276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a:buNone/>
            </a:pPr>
            <a:r>
              <a:rPr lang="en-US" sz="1200" dirty="0">
                <a:solidFill>
                  <a:schemeClr val="bg2"/>
                </a:solidFill>
                <a:cs typeface="+mn-ea"/>
                <a:sym typeface="+mn-lt"/>
              </a:rPr>
              <a:t>Cross Entropy Loss for Classifier,</a:t>
            </a:r>
          </a:p>
          <a:p>
            <a:pPr marL="0" lvl="0" indent="0" algn="ctr">
              <a:buNone/>
            </a:pPr>
            <a:r>
              <a:rPr lang="en-US" altLang="zh-CN" sz="1200" dirty="0">
                <a:solidFill>
                  <a:schemeClr val="bg2"/>
                </a:solidFill>
              </a:rPr>
              <a:t>Mean Squared Error for Linear Regression</a:t>
            </a:r>
          </a:p>
          <a:p>
            <a:pPr marL="0" lvl="0" indent="0" algn="ctr">
              <a:buNone/>
            </a:pPr>
            <a:r>
              <a:rPr lang="en-US" altLang="zh-CN" sz="1200" dirty="0">
                <a:solidFill>
                  <a:schemeClr val="bg2"/>
                </a:solidFill>
                <a:ea typeface="宋体"/>
                <a:cs typeface="+mn-ea"/>
                <a:sym typeface="+mn-lt"/>
              </a:rPr>
              <a:t>Why?</a:t>
            </a:r>
            <a:endParaRPr kumimoji="0" lang="en-US" sz="1200" b="0" i="0" u="none" strike="noStrike" kern="1200" cap="none" spc="0" normalizeH="0" baseline="0" noProof="0" dirty="0">
              <a:ln>
                <a:noFill/>
              </a:ln>
              <a:solidFill>
                <a:schemeClr val="bg2"/>
              </a:solidFill>
              <a:effectLst/>
              <a:uLnTx/>
              <a:uFillTx/>
              <a:ea typeface="宋体"/>
              <a:cs typeface="+mn-ea"/>
              <a:sym typeface="+mn-lt"/>
            </a:endParaRPr>
          </a:p>
        </p:txBody>
      </p:sp>
      <p:sp>
        <p:nvSpPr>
          <p:cNvPr id="21" name="矩形 20"/>
          <p:cNvSpPr/>
          <p:nvPr/>
        </p:nvSpPr>
        <p:spPr>
          <a:xfrm>
            <a:off x="1801661" y="411163"/>
            <a:ext cx="5540678"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800" b="1" dirty="0">
                <a:solidFill>
                  <a:srgbClr val="F9F9F9"/>
                </a:solidFill>
                <a:latin typeface="Calibri"/>
                <a:ea typeface="宋体"/>
                <a:cs typeface="+mn-ea"/>
                <a:sym typeface="+mn-lt"/>
              </a:rPr>
              <a:t>Optimizer and Loss Function</a:t>
            </a:r>
            <a:endParaRPr kumimoji="0" lang="en-US" altLang="zh-CN" sz="2800" b="1" i="0" u="none" strike="noStrike" kern="1200" cap="none" spc="0" normalizeH="0" baseline="0" noProof="0" dirty="0">
              <a:ln>
                <a:noFill/>
              </a:ln>
              <a:solidFill>
                <a:srgbClr val="F9F9F9"/>
              </a:solidFill>
              <a:effectLst/>
              <a:uLnTx/>
              <a:uFillTx/>
              <a:latin typeface="Calibri"/>
              <a:ea typeface="宋体"/>
              <a:cs typeface="+mn-ea"/>
              <a:sym typeface="+mn-lt"/>
            </a:endParaRPr>
          </a:p>
        </p:txBody>
      </p:sp>
      <p:grpSp>
        <p:nvGrpSpPr>
          <p:cNvPr id="2" name="组合 1"/>
          <p:cNvGrpSpPr/>
          <p:nvPr/>
        </p:nvGrpSpPr>
        <p:grpSpPr>
          <a:xfrm>
            <a:off x="4402904" y="4566335"/>
            <a:ext cx="243552" cy="243552"/>
            <a:chOff x="4431922" y="4356034"/>
            <a:chExt cx="243552" cy="243552"/>
          </a:xfrm>
        </p:grpSpPr>
        <p:grpSp>
          <p:nvGrpSpPr>
            <p:cNvPr id="26" name="组合 25"/>
            <p:cNvGrpSpPr/>
            <p:nvPr/>
          </p:nvGrpSpPr>
          <p:grpSpPr>
            <a:xfrm rot="13500000">
              <a:off x="4496136" y="4415853"/>
              <a:ext cx="108000" cy="108000"/>
              <a:chOff x="6372200" y="4146704"/>
              <a:chExt cx="108000" cy="108000"/>
            </a:xfrm>
            <a:solidFill>
              <a:schemeClr val="bg2"/>
            </a:solidFill>
          </p:grpSpPr>
          <p:sp>
            <p:nvSpPr>
              <p:cNvPr id="28" name="圆角矩形 27"/>
              <p:cNvSpPr/>
              <p:nvPr/>
            </p:nvSpPr>
            <p:spPr>
              <a:xfrm>
                <a:off x="6372200" y="4148402"/>
                <a:ext cx="108000" cy="36000"/>
              </a:xfrm>
              <a:prstGeom prst="roundRect">
                <a:avLst>
                  <a:gd name="adj" fmla="val 4373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alibri"/>
                  <a:ea typeface="宋体"/>
                  <a:cs typeface="+mn-ea"/>
                  <a:sym typeface="+mn-lt"/>
                </a:endParaRPr>
              </a:p>
            </p:txBody>
          </p:sp>
          <p:sp>
            <p:nvSpPr>
              <p:cNvPr id="29" name="圆角矩形 28"/>
              <p:cNvSpPr/>
              <p:nvPr/>
            </p:nvSpPr>
            <p:spPr>
              <a:xfrm rot="16200000">
                <a:off x="6336200" y="4182704"/>
                <a:ext cx="108000" cy="36000"/>
              </a:xfrm>
              <a:prstGeom prst="roundRect">
                <a:avLst>
                  <a:gd name="adj" fmla="val 4373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alibri"/>
                  <a:ea typeface="宋体"/>
                  <a:cs typeface="+mn-ea"/>
                  <a:sym typeface="+mn-lt"/>
                </a:endParaRPr>
              </a:p>
            </p:txBody>
          </p:sp>
        </p:grpSp>
        <p:sp>
          <p:nvSpPr>
            <p:cNvPr id="27" name="椭圆 26"/>
            <p:cNvSpPr/>
            <p:nvPr/>
          </p:nvSpPr>
          <p:spPr>
            <a:xfrm>
              <a:off x="4431922" y="4356034"/>
              <a:ext cx="243552" cy="243552"/>
            </a:xfrm>
            <a:prstGeom prst="ellipse">
              <a:avLst/>
            </a:prstGeom>
            <a:no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Calibri"/>
                <a:ea typeface="宋体"/>
                <a:cs typeface="+mn-ea"/>
                <a:sym typeface="+mn-lt"/>
              </a:endParaRPr>
            </a:p>
          </p:txBody>
        </p:sp>
      </p:grpSp>
      <p:sp>
        <p:nvSpPr>
          <p:cNvPr id="3" name="文本框 2">
            <a:extLst>
              <a:ext uri="{FF2B5EF4-FFF2-40B4-BE49-F238E27FC236}">
                <a16:creationId xmlns:a16="http://schemas.microsoft.com/office/drawing/2014/main" id="{2778BDD2-3345-4989-A3B3-55B3D5571E80}"/>
              </a:ext>
            </a:extLst>
          </p:cNvPr>
          <p:cNvSpPr txBox="1"/>
          <p:nvPr/>
        </p:nvSpPr>
        <p:spPr>
          <a:xfrm>
            <a:off x="1103945" y="1218200"/>
            <a:ext cx="5040560" cy="923330"/>
          </a:xfrm>
          <a:prstGeom prst="rect">
            <a:avLst/>
          </a:prstGeom>
          <a:noFill/>
        </p:spPr>
        <p:txBody>
          <a:bodyPr wrap="square" rtlCol="0">
            <a:spAutoFit/>
          </a:bodyPr>
          <a:lstStyle/>
          <a:p>
            <a:r>
              <a:rPr lang="en-US" altLang="zh-CN" b="1" dirty="0">
                <a:solidFill>
                  <a:schemeClr val="tx1">
                    <a:lumMod val="40000"/>
                    <a:lumOff val="60000"/>
                  </a:schemeClr>
                </a:solidFill>
              </a:rPr>
              <a:t>Optimizer</a:t>
            </a:r>
            <a:r>
              <a:rPr lang="zh-CN" altLang="en-US" dirty="0">
                <a:solidFill>
                  <a:schemeClr val="tx1">
                    <a:lumMod val="40000"/>
                    <a:lumOff val="60000"/>
                  </a:schemeClr>
                </a:solidFill>
              </a:rPr>
              <a:t>：</a:t>
            </a:r>
            <a:r>
              <a:rPr lang="en-US" altLang="zh-CN" b="1" dirty="0">
                <a:solidFill>
                  <a:schemeClr val="tx1">
                    <a:lumMod val="40000"/>
                    <a:lumOff val="60000"/>
                  </a:schemeClr>
                </a:solidFill>
              </a:rPr>
              <a:t>Adam optimization algorithm</a:t>
            </a:r>
          </a:p>
          <a:p>
            <a:endParaRPr lang="en-US" altLang="zh-CN" b="1" dirty="0"/>
          </a:p>
          <a:p>
            <a:r>
              <a:rPr lang="en-US" altLang="zh-CN" b="1" dirty="0">
                <a:solidFill>
                  <a:schemeClr val="tx1">
                    <a:lumMod val="40000"/>
                    <a:lumOff val="60000"/>
                  </a:schemeClr>
                </a:solidFill>
              </a:rPr>
              <a:t>Loss Function: Cross Entropy Loss Function + Mask</a:t>
            </a:r>
          </a:p>
        </p:txBody>
      </p:sp>
      <p:pic>
        <p:nvPicPr>
          <p:cNvPr id="6" name="图片 5" descr="电脑萤幕的截图&#10;&#10;描述已自动生成">
            <a:extLst>
              <a:ext uri="{FF2B5EF4-FFF2-40B4-BE49-F238E27FC236}">
                <a16:creationId xmlns:a16="http://schemas.microsoft.com/office/drawing/2014/main" id="{F57AAB8E-823E-40D3-A8A7-E4B3661F108C}"/>
              </a:ext>
            </a:extLst>
          </p:cNvPr>
          <p:cNvPicPr>
            <a:picLocks noChangeAspect="1"/>
          </p:cNvPicPr>
          <p:nvPr/>
        </p:nvPicPr>
        <p:blipFill rotWithShape="1">
          <a:blip r:embed="rId2">
            <a:extLst>
              <a:ext uri="{28A0092B-C50C-407E-A947-70E740481C1C}">
                <a14:useLocalDpi xmlns:a14="http://schemas.microsoft.com/office/drawing/2010/main" val="0"/>
              </a:ext>
            </a:extLst>
          </a:blip>
          <a:srcRect l="34842" t="38764" r="43284" b="52809"/>
          <a:stretch/>
        </p:blipFill>
        <p:spPr>
          <a:xfrm>
            <a:off x="5724128" y="1186445"/>
            <a:ext cx="2448273" cy="478818"/>
          </a:xfrm>
          <a:prstGeom prst="rect">
            <a:avLst/>
          </a:prstGeom>
          <a:effectLst>
            <a:softEdge rad="50800"/>
          </a:effectLst>
        </p:spPr>
      </p:pic>
      <p:sp>
        <p:nvSpPr>
          <p:cNvPr id="7" name="AutoShape 2">
            <a:extLst>
              <a:ext uri="{FF2B5EF4-FFF2-40B4-BE49-F238E27FC236}">
                <a16:creationId xmlns:a16="http://schemas.microsoft.com/office/drawing/2014/main" id="{CD8023F9-8C7B-4345-A850-FA73716F3BB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图片 8">
            <a:extLst>
              <a:ext uri="{FF2B5EF4-FFF2-40B4-BE49-F238E27FC236}">
                <a16:creationId xmlns:a16="http://schemas.microsoft.com/office/drawing/2014/main" id="{BD78061C-E3E0-46DA-8B47-9256FAD004D5}"/>
              </a:ext>
            </a:extLst>
          </p:cNvPr>
          <p:cNvPicPr>
            <a:picLocks noChangeAspect="1"/>
          </p:cNvPicPr>
          <p:nvPr/>
        </p:nvPicPr>
        <p:blipFill>
          <a:blip r:embed="rId3"/>
          <a:stretch>
            <a:fillRect/>
          </a:stretch>
        </p:blipFill>
        <p:spPr>
          <a:xfrm>
            <a:off x="1103945" y="2396454"/>
            <a:ext cx="3724275" cy="438150"/>
          </a:xfrm>
          <a:prstGeom prst="rect">
            <a:avLst/>
          </a:prstGeom>
          <a:effectLst>
            <a:softEdge rad="101600"/>
          </a:effectLst>
        </p:spPr>
      </p:pic>
      <p:pic>
        <p:nvPicPr>
          <p:cNvPr id="10" name="图片 9">
            <a:extLst>
              <a:ext uri="{FF2B5EF4-FFF2-40B4-BE49-F238E27FC236}">
                <a16:creationId xmlns:a16="http://schemas.microsoft.com/office/drawing/2014/main" id="{297B6680-087F-4EDD-9C14-E7FFB6D8465C}"/>
              </a:ext>
            </a:extLst>
          </p:cNvPr>
          <p:cNvPicPr>
            <a:picLocks noChangeAspect="1"/>
          </p:cNvPicPr>
          <p:nvPr/>
        </p:nvPicPr>
        <p:blipFill>
          <a:blip r:embed="rId4"/>
          <a:stretch>
            <a:fillRect/>
          </a:stretch>
        </p:blipFill>
        <p:spPr>
          <a:xfrm>
            <a:off x="5033169" y="2252433"/>
            <a:ext cx="3168352" cy="1487378"/>
          </a:xfrm>
          <a:prstGeom prst="rect">
            <a:avLst/>
          </a:prstGeom>
          <a:effectLst>
            <a:softEdge rad="139700"/>
          </a:effectLst>
        </p:spPr>
      </p:pic>
    </p:spTree>
    <p:extLst>
      <p:ext uri="{BB962C8B-B14F-4D97-AF65-F5344CB8AC3E}">
        <p14:creationId xmlns:p14="http://schemas.microsoft.com/office/powerpoint/2010/main" val="1677557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1" name="矩形 20"/>
          <p:cNvSpPr/>
          <p:nvPr/>
        </p:nvSpPr>
        <p:spPr>
          <a:xfrm>
            <a:off x="1801661" y="411163"/>
            <a:ext cx="5540678" cy="738664"/>
          </a:xfrm>
          <a:prstGeom prst="rect">
            <a:avLst/>
          </a:prstGeom>
        </p:spPr>
        <p:txBody>
          <a:bodyPr wrap="square">
            <a:spAutoFit/>
          </a:bodyPr>
          <a:lstStyle/>
          <a:p>
            <a:pPr algn="ctr"/>
            <a:r>
              <a:rPr lang="en-US" altLang="zh-CN" sz="2800" b="1" dirty="0">
                <a:solidFill>
                  <a:schemeClr val="bg2"/>
                </a:solidFill>
                <a:cs typeface="+mn-ea"/>
                <a:sym typeface="+mn-lt"/>
              </a:rPr>
              <a:t>Train and Save Model</a:t>
            </a:r>
          </a:p>
          <a:p>
            <a:pPr algn="ctr"/>
            <a:r>
              <a:rPr lang="en-US" altLang="zh-CN" sz="1400" dirty="0">
                <a:solidFill>
                  <a:schemeClr val="tx1">
                    <a:lumMod val="20000"/>
                    <a:lumOff val="80000"/>
                  </a:schemeClr>
                </a:solidFill>
                <a:cs typeface="+mn-ea"/>
                <a:sym typeface="+mn-lt"/>
              </a:rPr>
              <a:t>With </a:t>
            </a:r>
            <a:r>
              <a:rPr lang="en-US" altLang="zh-CN" sz="1400" dirty="0" err="1">
                <a:solidFill>
                  <a:schemeClr val="tx1">
                    <a:lumMod val="20000"/>
                    <a:lumOff val="80000"/>
                  </a:schemeClr>
                </a:solidFill>
                <a:cs typeface="+mn-ea"/>
                <a:sym typeface="+mn-lt"/>
              </a:rPr>
              <a:t>CheckPoint</a:t>
            </a:r>
            <a:endParaRPr lang="en-US" altLang="zh-CN" sz="1400" dirty="0">
              <a:solidFill>
                <a:schemeClr val="tx1">
                  <a:lumMod val="20000"/>
                  <a:lumOff val="80000"/>
                </a:schemeClr>
              </a:solidFill>
              <a:cs typeface="+mn-ea"/>
              <a:sym typeface="+mn-lt"/>
            </a:endParaRPr>
          </a:p>
        </p:txBody>
      </p:sp>
      <p:grpSp>
        <p:nvGrpSpPr>
          <p:cNvPr id="2" name="组合 1"/>
          <p:cNvGrpSpPr/>
          <p:nvPr/>
        </p:nvGrpSpPr>
        <p:grpSpPr>
          <a:xfrm>
            <a:off x="4431922" y="4356034"/>
            <a:ext cx="243552" cy="243552"/>
            <a:chOff x="4431922" y="4356034"/>
            <a:chExt cx="243552" cy="243552"/>
          </a:xfrm>
        </p:grpSpPr>
        <p:grpSp>
          <p:nvGrpSpPr>
            <p:cNvPr id="26" name="组合 25"/>
            <p:cNvGrpSpPr/>
            <p:nvPr/>
          </p:nvGrpSpPr>
          <p:grpSpPr>
            <a:xfrm rot="13500000">
              <a:off x="4496136" y="4415853"/>
              <a:ext cx="108000" cy="108000"/>
              <a:chOff x="6372200" y="4146704"/>
              <a:chExt cx="108000" cy="108000"/>
            </a:xfrm>
            <a:solidFill>
              <a:schemeClr val="bg2"/>
            </a:solidFill>
          </p:grpSpPr>
          <p:sp>
            <p:nvSpPr>
              <p:cNvPr id="28" name="圆角矩形 27"/>
              <p:cNvSpPr/>
              <p:nvPr/>
            </p:nvSpPr>
            <p:spPr>
              <a:xfrm>
                <a:off x="6372200" y="4148402"/>
                <a:ext cx="108000" cy="36000"/>
              </a:xfrm>
              <a:prstGeom prst="roundRect">
                <a:avLst>
                  <a:gd name="adj" fmla="val 4373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圆角矩形 28"/>
              <p:cNvSpPr/>
              <p:nvPr/>
            </p:nvSpPr>
            <p:spPr>
              <a:xfrm rot="16200000">
                <a:off x="6336200" y="4182704"/>
                <a:ext cx="108000" cy="36000"/>
              </a:xfrm>
              <a:prstGeom prst="roundRect">
                <a:avLst>
                  <a:gd name="adj" fmla="val 4373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7" name="椭圆 26"/>
            <p:cNvSpPr/>
            <p:nvPr/>
          </p:nvSpPr>
          <p:spPr>
            <a:xfrm>
              <a:off x="4431922" y="4356034"/>
              <a:ext cx="243552" cy="243552"/>
            </a:xfrm>
            <a:prstGeom prst="ellipse">
              <a:avLst/>
            </a:prstGeom>
            <a:no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 name="文本框 2">
            <a:extLst>
              <a:ext uri="{FF2B5EF4-FFF2-40B4-BE49-F238E27FC236}">
                <a16:creationId xmlns:a16="http://schemas.microsoft.com/office/drawing/2014/main" id="{DBBCEA2B-F3C6-43DB-87AE-03C1CCC7FE78}"/>
              </a:ext>
            </a:extLst>
          </p:cNvPr>
          <p:cNvSpPr txBox="1"/>
          <p:nvPr/>
        </p:nvSpPr>
        <p:spPr>
          <a:xfrm>
            <a:off x="539552" y="1155745"/>
            <a:ext cx="3935417" cy="2585323"/>
          </a:xfrm>
          <a:prstGeom prst="rect">
            <a:avLst/>
          </a:prstGeom>
          <a:noFill/>
        </p:spPr>
        <p:txBody>
          <a:bodyPr wrap="square" rtlCol="0">
            <a:spAutoFit/>
          </a:bodyPr>
          <a:lstStyle/>
          <a:p>
            <a:r>
              <a:rPr lang="en-US" altLang="zh-CN" dirty="0" err="1">
                <a:solidFill>
                  <a:schemeClr val="bg2"/>
                </a:solidFill>
              </a:rPr>
              <a:t>Traning</a:t>
            </a:r>
            <a:r>
              <a:rPr lang="en-US" altLang="zh-CN" dirty="0">
                <a:solidFill>
                  <a:schemeClr val="bg2"/>
                </a:solidFill>
              </a:rPr>
              <a:t> Data:  50k pairs of sentences</a:t>
            </a:r>
          </a:p>
          <a:p>
            <a:endParaRPr lang="en-US" altLang="zh-CN" dirty="0">
              <a:solidFill>
                <a:schemeClr val="bg2"/>
              </a:solidFill>
            </a:endParaRPr>
          </a:p>
          <a:p>
            <a:r>
              <a:rPr lang="en-US" altLang="zh-CN" dirty="0">
                <a:solidFill>
                  <a:schemeClr val="bg2"/>
                </a:solidFill>
              </a:rPr>
              <a:t>Batch Size: 64</a:t>
            </a:r>
          </a:p>
          <a:p>
            <a:endParaRPr lang="en-US" altLang="zh-CN" dirty="0">
              <a:solidFill>
                <a:schemeClr val="bg2"/>
              </a:solidFill>
            </a:endParaRPr>
          </a:p>
          <a:p>
            <a:r>
              <a:rPr lang="en-US" altLang="zh-CN" dirty="0">
                <a:solidFill>
                  <a:schemeClr val="bg2"/>
                </a:solidFill>
              </a:rPr>
              <a:t>Units:</a:t>
            </a:r>
            <a:r>
              <a:rPr lang="zh-CN" altLang="en-US" dirty="0">
                <a:solidFill>
                  <a:schemeClr val="bg2"/>
                </a:solidFill>
              </a:rPr>
              <a:t> </a:t>
            </a:r>
            <a:r>
              <a:rPr lang="en-US" altLang="zh-CN" dirty="0">
                <a:solidFill>
                  <a:schemeClr val="bg2"/>
                </a:solidFill>
              </a:rPr>
              <a:t>1024</a:t>
            </a:r>
          </a:p>
          <a:p>
            <a:endParaRPr lang="en-US" altLang="zh-CN" dirty="0">
              <a:solidFill>
                <a:schemeClr val="bg2"/>
              </a:solidFill>
            </a:endParaRPr>
          </a:p>
          <a:p>
            <a:r>
              <a:rPr lang="en-US" altLang="zh-CN" dirty="0">
                <a:solidFill>
                  <a:schemeClr val="bg2"/>
                </a:solidFill>
              </a:rPr>
              <a:t>Embedding: 256 </a:t>
            </a:r>
          </a:p>
          <a:p>
            <a:endParaRPr lang="en-US" altLang="zh-CN" dirty="0">
              <a:solidFill>
                <a:schemeClr val="bg2"/>
              </a:solidFill>
            </a:endParaRPr>
          </a:p>
          <a:p>
            <a:r>
              <a:rPr lang="en-US" altLang="zh-CN" dirty="0" err="1">
                <a:solidFill>
                  <a:schemeClr val="bg2"/>
                </a:solidFill>
              </a:rPr>
              <a:t>Initial_State</a:t>
            </a:r>
            <a:r>
              <a:rPr lang="en-US" altLang="zh-CN" dirty="0">
                <a:solidFill>
                  <a:schemeClr val="bg2"/>
                </a:solidFill>
              </a:rPr>
              <a:t>: </a:t>
            </a:r>
            <a:r>
              <a:rPr lang="en-US" altLang="zh-CN" dirty="0" err="1">
                <a:solidFill>
                  <a:schemeClr val="bg2"/>
                </a:solidFill>
              </a:rPr>
              <a:t>LSTM.Zero_State</a:t>
            </a:r>
            <a:endParaRPr lang="zh-CN" altLang="en-US" dirty="0">
              <a:solidFill>
                <a:schemeClr val="bg2"/>
              </a:solidFill>
            </a:endParaRPr>
          </a:p>
        </p:txBody>
      </p:sp>
      <p:sp>
        <p:nvSpPr>
          <p:cNvPr id="5" name="文本框 4">
            <a:extLst>
              <a:ext uri="{FF2B5EF4-FFF2-40B4-BE49-F238E27FC236}">
                <a16:creationId xmlns:a16="http://schemas.microsoft.com/office/drawing/2014/main" id="{712D7DCA-53E1-4766-94F1-5256BF7E6337}"/>
              </a:ext>
            </a:extLst>
          </p:cNvPr>
          <p:cNvSpPr txBox="1"/>
          <p:nvPr/>
        </p:nvSpPr>
        <p:spPr>
          <a:xfrm>
            <a:off x="4697250" y="1215518"/>
            <a:ext cx="3907198" cy="1477328"/>
          </a:xfrm>
          <a:prstGeom prst="rect">
            <a:avLst/>
          </a:prstGeom>
          <a:noFill/>
        </p:spPr>
        <p:txBody>
          <a:bodyPr wrap="square" rtlCol="0">
            <a:spAutoFit/>
          </a:bodyPr>
          <a:lstStyle/>
          <a:p>
            <a:r>
              <a:rPr lang="en-US" altLang="zh-CN" dirty="0">
                <a:solidFill>
                  <a:schemeClr val="bg1">
                    <a:lumMod val="65000"/>
                    <a:lumOff val="35000"/>
                  </a:schemeClr>
                </a:solidFill>
              </a:rPr>
              <a:t>Save Model as </a:t>
            </a:r>
            <a:r>
              <a:rPr lang="en-US" altLang="zh-CN" dirty="0" err="1">
                <a:solidFill>
                  <a:schemeClr val="bg1">
                    <a:lumMod val="65000"/>
                    <a:lumOff val="35000"/>
                  </a:schemeClr>
                </a:solidFill>
              </a:rPr>
              <a:t>CheckPoints</a:t>
            </a:r>
            <a:endParaRPr lang="en-US" altLang="zh-CN" dirty="0">
              <a:solidFill>
                <a:schemeClr val="bg1">
                  <a:lumMod val="65000"/>
                  <a:lumOff val="35000"/>
                </a:schemeClr>
              </a:solidFill>
            </a:endParaRPr>
          </a:p>
          <a:p>
            <a:endParaRPr lang="en-US" altLang="zh-CN" dirty="0">
              <a:solidFill>
                <a:schemeClr val="bg1">
                  <a:lumMod val="65000"/>
                  <a:lumOff val="35000"/>
                </a:schemeClr>
              </a:solidFill>
            </a:endParaRPr>
          </a:p>
          <a:p>
            <a:r>
              <a:rPr lang="en-US" altLang="zh-CN" dirty="0">
                <a:solidFill>
                  <a:schemeClr val="bg1">
                    <a:lumMod val="65000"/>
                    <a:lumOff val="35000"/>
                  </a:schemeClr>
                </a:solidFill>
              </a:rPr>
              <a:t>Restore Model from </a:t>
            </a:r>
            <a:r>
              <a:rPr lang="en-US" altLang="zh-CN" dirty="0" err="1">
                <a:solidFill>
                  <a:schemeClr val="bg1">
                    <a:lumMod val="65000"/>
                    <a:lumOff val="35000"/>
                  </a:schemeClr>
                </a:solidFill>
              </a:rPr>
              <a:t>CheckPoints</a:t>
            </a:r>
            <a:endParaRPr lang="en-US" altLang="zh-CN" dirty="0">
              <a:solidFill>
                <a:schemeClr val="bg1">
                  <a:lumMod val="65000"/>
                  <a:lumOff val="35000"/>
                </a:schemeClr>
              </a:solidFill>
            </a:endParaRPr>
          </a:p>
          <a:p>
            <a:endParaRPr lang="en-US" altLang="zh-CN" dirty="0">
              <a:solidFill>
                <a:schemeClr val="bg1">
                  <a:lumMod val="65000"/>
                  <a:lumOff val="35000"/>
                </a:schemeClr>
              </a:solidFill>
            </a:endParaRPr>
          </a:p>
          <a:p>
            <a:r>
              <a:rPr lang="en-US" altLang="zh-CN" dirty="0">
                <a:solidFill>
                  <a:schemeClr val="bg1">
                    <a:lumMod val="65000"/>
                    <a:lumOff val="35000"/>
                  </a:schemeClr>
                </a:solidFill>
              </a:rPr>
              <a:t>(Need reconstruct network)</a:t>
            </a:r>
            <a:endParaRPr lang="zh-CN" altLang="en-US" dirty="0">
              <a:solidFill>
                <a:schemeClr val="bg1">
                  <a:lumMod val="65000"/>
                  <a:lumOff val="35000"/>
                </a:schemeClr>
              </a:solidFill>
            </a:endParaRPr>
          </a:p>
        </p:txBody>
      </p:sp>
      <p:pic>
        <p:nvPicPr>
          <p:cNvPr id="7" name="图片 6" descr="文本&#10;&#10;描述已自动生成">
            <a:extLst>
              <a:ext uri="{FF2B5EF4-FFF2-40B4-BE49-F238E27FC236}">
                <a16:creationId xmlns:a16="http://schemas.microsoft.com/office/drawing/2014/main" id="{9D855368-CB8D-4B84-95F2-A505242CE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8024" y="2708676"/>
            <a:ext cx="3816424" cy="1219306"/>
          </a:xfrm>
          <a:prstGeom prst="rect">
            <a:avLst/>
          </a:prstGeom>
          <a:effectLst>
            <a:softEdge rad="63500"/>
          </a:effectLst>
        </p:spPr>
      </p:pic>
      <p:pic>
        <p:nvPicPr>
          <p:cNvPr id="8" name="图片 7">
            <a:extLst>
              <a:ext uri="{FF2B5EF4-FFF2-40B4-BE49-F238E27FC236}">
                <a16:creationId xmlns:a16="http://schemas.microsoft.com/office/drawing/2014/main" id="{D9663557-B663-4429-8517-468E9C175545}"/>
              </a:ext>
            </a:extLst>
          </p:cNvPr>
          <p:cNvPicPr>
            <a:picLocks noChangeAspect="1"/>
          </p:cNvPicPr>
          <p:nvPr/>
        </p:nvPicPr>
        <p:blipFill>
          <a:blip r:embed="rId3"/>
          <a:stretch>
            <a:fillRect/>
          </a:stretch>
        </p:blipFill>
        <p:spPr>
          <a:xfrm>
            <a:off x="4824028" y="4015998"/>
            <a:ext cx="3744415" cy="340036"/>
          </a:xfrm>
          <a:prstGeom prst="rect">
            <a:avLst/>
          </a:prstGeom>
          <a:effectLst>
            <a:softEdge rad="50800"/>
          </a:effectLst>
        </p:spPr>
      </p:pic>
    </p:spTree>
    <p:extLst>
      <p:ext uri="{BB962C8B-B14F-4D97-AF65-F5344CB8AC3E}">
        <p14:creationId xmlns:p14="http://schemas.microsoft.com/office/powerpoint/2010/main" val="3011648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矩形 6"/>
          <p:cNvSpPr/>
          <p:nvPr/>
        </p:nvSpPr>
        <p:spPr>
          <a:xfrm>
            <a:off x="1801661" y="249585"/>
            <a:ext cx="5540678" cy="738664"/>
          </a:xfrm>
          <a:prstGeom prst="rect">
            <a:avLst/>
          </a:prstGeom>
        </p:spPr>
        <p:txBody>
          <a:bodyPr wrap="square">
            <a:spAutoFit/>
          </a:bodyPr>
          <a:lstStyle/>
          <a:p>
            <a:pPr algn="ctr"/>
            <a:r>
              <a:rPr lang="en-US" altLang="zh-CN" sz="2800" b="1" dirty="0">
                <a:solidFill>
                  <a:schemeClr val="bg2"/>
                </a:solidFill>
                <a:cs typeface="+mn-ea"/>
                <a:sym typeface="+mn-lt"/>
              </a:rPr>
              <a:t>Test</a:t>
            </a:r>
          </a:p>
          <a:p>
            <a:pPr algn="ctr"/>
            <a:r>
              <a:rPr lang="en-US" altLang="zh-CN" sz="1400" dirty="0">
                <a:solidFill>
                  <a:schemeClr val="tx1">
                    <a:lumMod val="20000"/>
                    <a:lumOff val="80000"/>
                  </a:schemeClr>
                </a:solidFill>
                <a:cs typeface="+mn-ea"/>
                <a:sym typeface="+mn-lt"/>
              </a:rPr>
              <a:t>Rus - </a:t>
            </a:r>
            <a:r>
              <a:rPr lang="en-US" altLang="zh-CN" sz="1400" dirty="0" err="1">
                <a:solidFill>
                  <a:schemeClr val="tx1">
                    <a:lumMod val="20000"/>
                    <a:lumOff val="80000"/>
                  </a:schemeClr>
                </a:solidFill>
                <a:cs typeface="+mn-ea"/>
                <a:sym typeface="+mn-lt"/>
              </a:rPr>
              <a:t>Eng</a:t>
            </a:r>
            <a:endParaRPr lang="en-US" altLang="zh-CN" sz="1400" dirty="0">
              <a:solidFill>
                <a:schemeClr val="tx1">
                  <a:lumMod val="20000"/>
                  <a:lumOff val="80000"/>
                </a:schemeClr>
              </a:solidFill>
              <a:cs typeface="+mn-ea"/>
              <a:sym typeface="+mn-lt"/>
            </a:endParaRPr>
          </a:p>
        </p:txBody>
      </p:sp>
      <p:sp>
        <p:nvSpPr>
          <p:cNvPr id="24" name="Content Placeholder 2"/>
          <p:cNvSpPr txBox="1">
            <a:spLocks/>
          </p:cNvSpPr>
          <p:nvPr/>
        </p:nvSpPr>
        <p:spPr>
          <a:xfrm>
            <a:off x="1946965" y="3939201"/>
            <a:ext cx="5250069" cy="20104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zh-CN" dirty="0"/>
              <a:t>In Russian, Nouns. Nominal declension involves six cases – </a:t>
            </a:r>
            <a:r>
              <a:rPr lang="en-US" altLang="zh-CN" b="1" dirty="0"/>
              <a:t>nominative</a:t>
            </a:r>
            <a:r>
              <a:rPr lang="en-US" altLang="zh-CN" dirty="0"/>
              <a:t>, </a:t>
            </a:r>
            <a:r>
              <a:rPr lang="en-US" altLang="zh-CN" b="1" dirty="0"/>
              <a:t>genitive</a:t>
            </a:r>
            <a:r>
              <a:rPr lang="en-US" altLang="zh-CN" dirty="0"/>
              <a:t>, </a:t>
            </a:r>
            <a:r>
              <a:rPr lang="en-US" altLang="zh-CN" b="1" dirty="0"/>
              <a:t>dative</a:t>
            </a:r>
            <a:r>
              <a:rPr lang="en-US" altLang="zh-CN" dirty="0"/>
              <a:t>, </a:t>
            </a:r>
            <a:r>
              <a:rPr lang="en-US" altLang="zh-CN" b="1" dirty="0"/>
              <a:t>accusative</a:t>
            </a:r>
            <a:r>
              <a:rPr lang="en-US" altLang="zh-CN" dirty="0"/>
              <a:t>, instrumental, and prepositional – in two numbers (singular and plural), and absolutely obeying grammatical gender (masculine, feminine, and neuter).</a:t>
            </a:r>
            <a:endParaRPr lang="en-US" sz="1200" dirty="0">
              <a:solidFill>
                <a:schemeClr val="tx1">
                  <a:lumMod val="20000"/>
                  <a:lumOff val="80000"/>
                </a:schemeClr>
              </a:solidFill>
              <a:cs typeface="+mn-ea"/>
              <a:sym typeface="+mn-lt"/>
            </a:endParaRPr>
          </a:p>
        </p:txBody>
      </p:sp>
      <p:grpSp>
        <p:nvGrpSpPr>
          <p:cNvPr id="2" name="组合 1"/>
          <p:cNvGrpSpPr/>
          <p:nvPr/>
        </p:nvGrpSpPr>
        <p:grpSpPr>
          <a:xfrm>
            <a:off x="5705884" y="1623802"/>
            <a:ext cx="2394686" cy="1596457"/>
            <a:chOff x="5748613" y="1666531"/>
            <a:chExt cx="2394686" cy="1596457"/>
          </a:xfrm>
        </p:grpSpPr>
        <p:sp>
          <p:nvSpPr>
            <p:cNvPr id="33" name="椭圆 32"/>
            <p:cNvSpPr/>
            <p:nvPr/>
          </p:nvSpPr>
          <p:spPr>
            <a:xfrm>
              <a:off x="6341785" y="1850030"/>
              <a:ext cx="1239475" cy="1239475"/>
            </a:xfrm>
            <a:prstGeom prst="ellipse">
              <a:avLst/>
            </a:prstGeom>
            <a:noFill/>
            <a:ln w="28575">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4" name="Chart 42"/>
            <p:cNvGraphicFramePr/>
            <p:nvPr>
              <p:extLst>
                <p:ext uri="{D42A27DB-BD31-4B8C-83A1-F6EECF244321}">
                  <p14:modId xmlns:p14="http://schemas.microsoft.com/office/powerpoint/2010/main" val="3004287897"/>
                </p:ext>
              </p:extLst>
            </p:nvPr>
          </p:nvGraphicFramePr>
          <p:xfrm>
            <a:off x="5748613" y="1666531"/>
            <a:ext cx="2394686" cy="1596457"/>
          </p:xfrm>
          <a:graphic>
            <a:graphicData uri="http://schemas.openxmlformats.org/drawingml/2006/chart">
              <c:chart xmlns:c="http://schemas.openxmlformats.org/drawingml/2006/chart" xmlns:r="http://schemas.openxmlformats.org/officeDocument/2006/relationships" r:id="rId3"/>
            </a:graphicData>
          </a:graphic>
        </p:graphicFrame>
      </p:grpSp>
      <p:sp>
        <p:nvSpPr>
          <p:cNvPr id="47" name="矩形 46"/>
          <p:cNvSpPr/>
          <p:nvPr/>
        </p:nvSpPr>
        <p:spPr>
          <a:xfrm>
            <a:off x="6207574" y="2103872"/>
            <a:ext cx="1422438" cy="646331"/>
          </a:xfrm>
          <a:prstGeom prst="rect">
            <a:avLst/>
          </a:prstGeom>
        </p:spPr>
        <p:txBody>
          <a:bodyPr wrap="square">
            <a:spAutoFit/>
          </a:bodyPr>
          <a:lstStyle/>
          <a:p>
            <a:pPr algn="ctr"/>
            <a:r>
              <a:rPr lang="en-US" altLang="zh-CN" sz="3600" b="1" dirty="0">
                <a:solidFill>
                  <a:schemeClr val="accent4">
                    <a:lumMod val="20000"/>
                    <a:lumOff val="80000"/>
                  </a:schemeClr>
                </a:solidFill>
                <a:cs typeface="+mn-ea"/>
                <a:sym typeface="+mn-lt"/>
              </a:rPr>
              <a:t>10</a:t>
            </a:r>
            <a:r>
              <a:rPr lang="en-US" altLang="zh-CN" sz="2400" b="1" dirty="0">
                <a:solidFill>
                  <a:schemeClr val="accent4">
                    <a:lumMod val="20000"/>
                    <a:lumOff val="80000"/>
                  </a:schemeClr>
                </a:solidFill>
                <a:cs typeface="+mn-ea"/>
                <a:sym typeface="+mn-lt"/>
              </a:rPr>
              <a:t>%</a:t>
            </a:r>
            <a:endParaRPr lang="en-US" altLang="zh-CN" sz="3600" b="1" dirty="0">
              <a:solidFill>
                <a:schemeClr val="accent4">
                  <a:lumMod val="20000"/>
                  <a:lumOff val="80000"/>
                </a:schemeClr>
              </a:solidFill>
              <a:cs typeface="+mn-ea"/>
              <a:sym typeface="+mn-lt"/>
            </a:endParaRPr>
          </a:p>
        </p:txBody>
      </p:sp>
      <p:sp>
        <p:nvSpPr>
          <p:cNvPr id="4" name="文本框 3">
            <a:extLst>
              <a:ext uri="{FF2B5EF4-FFF2-40B4-BE49-F238E27FC236}">
                <a16:creationId xmlns:a16="http://schemas.microsoft.com/office/drawing/2014/main" id="{A8C34794-D3C8-44E7-8E7D-5D700FF932CD}"/>
              </a:ext>
            </a:extLst>
          </p:cNvPr>
          <p:cNvSpPr txBox="1"/>
          <p:nvPr/>
        </p:nvSpPr>
        <p:spPr>
          <a:xfrm>
            <a:off x="1370486" y="1186755"/>
            <a:ext cx="3744415" cy="2769989"/>
          </a:xfrm>
          <a:prstGeom prst="rect">
            <a:avLst/>
          </a:prstGeom>
          <a:noFill/>
        </p:spPr>
        <p:txBody>
          <a:bodyPr wrap="square" rtlCol="0">
            <a:spAutoFit/>
          </a:bodyPr>
          <a:lstStyle/>
          <a:p>
            <a:r>
              <a:rPr lang="en-US" altLang="zh-CN" sz="2800" b="1" dirty="0" err="1">
                <a:solidFill>
                  <a:schemeClr val="tx1">
                    <a:lumMod val="40000"/>
                    <a:lumOff val="60000"/>
                  </a:schemeClr>
                </a:solidFill>
              </a:rPr>
              <a:t>TestCase</a:t>
            </a:r>
            <a:r>
              <a:rPr lang="en-US" altLang="zh-CN" sz="2800" b="1" dirty="0">
                <a:solidFill>
                  <a:schemeClr val="tx1">
                    <a:lumMod val="40000"/>
                    <a:lumOff val="60000"/>
                  </a:schemeClr>
                </a:solidFill>
              </a:rPr>
              <a:t>: 10</a:t>
            </a:r>
          </a:p>
          <a:p>
            <a:r>
              <a:rPr lang="en-US" altLang="zh-CN" sz="2800" b="1" dirty="0">
                <a:solidFill>
                  <a:schemeClr val="tx1">
                    <a:lumMod val="40000"/>
                    <a:lumOff val="60000"/>
                  </a:schemeClr>
                </a:solidFill>
              </a:rPr>
              <a:t>Correct: 1</a:t>
            </a:r>
          </a:p>
          <a:p>
            <a:r>
              <a:rPr lang="en-US" altLang="zh-CN" sz="2800" b="1" dirty="0">
                <a:solidFill>
                  <a:schemeClr val="tx1">
                    <a:lumMod val="40000"/>
                    <a:lumOff val="60000"/>
                  </a:schemeClr>
                </a:solidFill>
              </a:rPr>
              <a:t>Error: 9</a:t>
            </a:r>
          </a:p>
          <a:p>
            <a:pPr marL="457200" indent="-457200">
              <a:buFont typeface="Arial" panose="020B0604020202020204" pitchFamily="34" charset="0"/>
              <a:buChar char="•"/>
            </a:pPr>
            <a:r>
              <a:rPr lang="en-US" altLang="zh-CN" sz="2400" b="1" dirty="0" err="1">
                <a:solidFill>
                  <a:schemeClr val="tx1">
                    <a:lumMod val="40000"/>
                    <a:lumOff val="60000"/>
                  </a:schemeClr>
                </a:solidFill>
              </a:rPr>
              <a:t>KeyError</a:t>
            </a:r>
            <a:r>
              <a:rPr lang="en-US" altLang="zh-CN" sz="2400" b="1" dirty="0">
                <a:solidFill>
                  <a:schemeClr val="tx1">
                    <a:lumMod val="40000"/>
                    <a:lumOff val="60000"/>
                  </a:schemeClr>
                </a:solidFill>
              </a:rPr>
              <a:t>: 3</a:t>
            </a:r>
          </a:p>
          <a:p>
            <a:pPr marL="457200" indent="-457200">
              <a:buFont typeface="Arial" panose="020B0604020202020204" pitchFamily="34" charset="0"/>
              <a:buChar char="•"/>
            </a:pPr>
            <a:r>
              <a:rPr lang="en-US" altLang="zh-CN" sz="2400" b="1" dirty="0" err="1">
                <a:solidFill>
                  <a:schemeClr val="tx1">
                    <a:lumMod val="40000"/>
                    <a:lumOff val="60000"/>
                  </a:schemeClr>
                </a:solidFill>
              </a:rPr>
              <a:t>TranslationError</a:t>
            </a:r>
            <a:r>
              <a:rPr lang="zh-CN" altLang="en-US" sz="2400" b="1" dirty="0">
                <a:solidFill>
                  <a:schemeClr val="tx1">
                    <a:lumMod val="40000"/>
                    <a:lumOff val="60000"/>
                  </a:schemeClr>
                </a:solidFill>
              </a:rPr>
              <a:t>：</a:t>
            </a:r>
            <a:r>
              <a:rPr lang="en-US" altLang="zh-CN" sz="2400" b="1" dirty="0">
                <a:solidFill>
                  <a:schemeClr val="tx1">
                    <a:lumMod val="40000"/>
                    <a:lumOff val="60000"/>
                  </a:schemeClr>
                </a:solidFill>
              </a:rPr>
              <a:t>4</a:t>
            </a:r>
          </a:p>
          <a:p>
            <a:pPr marL="457200" indent="-457200">
              <a:buFont typeface="Arial" panose="020B0604020202020204" pitchFamily="34" charset="0"/>
              <a:buChar char="•"/>
            </a:pPr>
            <a:r>
              <a:rPr lang="en-US" altLang="zh-CN" sz="2400" b="1" dirty="0" err="1">
                <a:solidFill>
                  <a:schemeClr val="tx1">
                    <a:lumMod val="40000"/>
                    <a:lumOff val="60000"/>
                  </a:schemeClr>
                </a:solidFill>
              </a:rPr>
              <a:t>GrammaticalError</a:t>
            </a:r>
            <a:r>
              <a:rPr lang="zh-CN" altLang="en-US" sz="2400" b="1" dirty="0">
                <a:solidFill>
                  <a:schemeClr val="tx1">
                    <a:lumMod val="40000"/>
                    <a:lumOff val="60000"/>
                  </a:schemeClr>
                </a:solidFill>
              </a:rPr>
              <a:t>：</a:t>
            </a:r>
            <a:r>
              <a:rPr lang="en-US" altLang="zh-CN" sz="2400" b="1" dirty="0">
                <a:solidFill>
                  <a:schemeClr val="tx1">
                    <a:lumMod val="40000"/>
                    <a:lumOff val="60000"/>
                  </a:schemeClr>
                </a:solidFill>
              </a:rPr>
              <a:t>2</a:t>
            </a:r>
          </a:p>
          <a:p>
            <a:endParaRPr lang="zh-CN" altLang="en-US" dirty="0"/>
          </a:p>
        </p:txBody>
      </p:sp>
    </p:spTree>
    <p:extLst>
      <p:ext uri="{BB962C8B-B14F-4D97-AF65-F5344CB8AC3E}">
        <p14:creationId xmlns:p14="http://schemas.microsoft.com/office/powerpoint/2010/main" val="1382535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6" name="任意多边形 75"/>
          <p:cNvSpPr/>
          <p:nvPr/>
        </p:nvSpPr>
        <p:spPr>
          <a:xfrm rot="16200000" flipV="1">
            <a:off x="2876765" y="-2903396"/>
            <a:ext cx="3390465" cy="9144002"/>
          </a:xfrm>
          <a:custGeom>
            <a:avLst/>
            <a:gdLst>
              <a:gd name="connsiteX0" fmla="*/ 792361 w 792361"/>
              <a:gd name="connsiteY0" fmla="*/ 0 h 1584722"/>
              <a:gd name="connsiteX1" fmla="*/ 792361 w 792361"/>
              <a:gd name="connsiteY1" fmla="*/ 1584722 h 1584722"/>
              <a:gd name="connsiteX2" fmla="*/ 0 w 792361"/>
              <a:gd name="connsiteY2" fmla="*/ 792361 h 1584722"/>
              <a:gd name="connsiteX3" fmla="*/ 792361 w 792361"/>
              <a:gd name="connsiteY3" fmla="*/ 0 h 1584722"/>
            </a:gdLst>
            <a:ahLst/>
            <a:cxnLst>
              <a:cxn ang="0">
                <a:pos x="connsiteX0" y="connsiteY0"/>
              </a:cxn>
              <a:cxn ang="0">
                <a:pos x="connsiteX1" y="connsiteY1"/>
              </a:cxn>
              <a:cxn ang="0">
                <a:pos x="connsiteX2" y="connsiteY2"/>
              </a:cxn>
              <a:cxn ang="0">
                <a:pos x="connsiteX3" y="connsiteY3"/>
              </a:cxn>
            </a:cxnLst>
            <a:rect l="l" t="t" r="r" b="b"/>
            <a:pathLst>
              <a:path w="792361" h="1584722">
                <a:moveTo>
                  <a:pt x="792361" y="0"/>
                </a:moveTo>
                <a:lnTo>
                  <a:pt x="792361" y="1584722"/>
                </a:lnTo>
                <a:cubicBezTo>
                  <a:pt x="354752" y="1584722"/>
                  <a:pt x="0" y="1229970"/>
                  <a:pt x="0" y="792361"/>
                </a:cubicBezTo>
                <a:cubicBezTo>
                  <a:pt x="0" y="354752"/>
                  <a:pt x="354752" y="0"/>
                  <a:pt x="792361" y="0"/>
                </a:cubicBezTo>
                <a:close/>
              </a:path>
            </a:pathLst>
          </a:custGeom>
          <a:solidFill>
            <a:schemeClr val="accent1">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Title 13"/>
          <p:cNvSpPr txBox="1">
            <a:spLocks/>
          </p:cNvSpPr>
          <p:nvPr/>
        </p:nvSpPr>
        <p:spPr>
          <a:xfrm>
            <a:off x="5436096" y="1267222"/>
            <a:ext cx="1368152" cy="1304528"/>
          </a:xfrm>
          <a:prstGeom prst="rect">
            <a:avLst/>
          </a:prstGeom>
        </p:spPr>
        <p:txBody>
          <a:bodyPr vert="horz" lIns="91440" tIns="45720" rIns="91440" bIns="45720" rtlCol="0" anchor="ctr">
            <a:no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pPr algn="ctr"/>
            <a:endParaRPr lang="en-US" sz="6600" b="1" dirty="0">
              <a:solidFill>
                <a:schemeClr val="bg2"/>
              </a:solidFill>
              <a:latin typeface="+mn-lt"/>
              <a:ea typeface="+mn-ea"/>
              <a:cs typeface="+mn-ea"/>
              <a:sym typeface="+mn-lt"/>
            </a:endParaRPr>
          </a:p>
        </p:txBody>
      </p:sp>
      <p:sp>
        <p:nvSpPr>
          <p:cNvPr id="24" name="Content Placeholder 2"/>
          <p:cNvSpPr txBox="1">
            <a:spLocks/>
          </p:cNvSpPr>
          <p:nvPr/>
        </p:nvSpPr>
        <p:spPr>
          <a:xfrm>
            <a:off x="4678065" y="4797910"/>
            <a:ext cx="4536210" cy="31114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200" dirty="0">
                <a:solidFill>
                  <a:schemeClr val="tx1">
                    <a:lumMod val="75000"/>
                  </a:schemeClr>
                </a:solidFill>
                <a:cs typeface="+mn-ea"/>
                <a:sym typeface="+mn-lt"/>
              </a:rPr>
              <a:t>Some cases even cannot be translated correct by Google Translate!</a:t>
            </a:r>
          </a:p>
        </p:txBody>
      </p:sp>
      <p:sp>
        <p:nvSpPr>
          <p:cNvPr id="83" name="任意多边形 82"/>
          <p:cNvSpPr/>
          <p:nvPr/>
        </p:nvSpPr>
        <p:spPr>
          <a:xfrm rot="14445666" flipV="1">
            <a:off x="7268200" y="2598135"/>
            <a:ext cx="391988" cy="746118"/>
          </a:xfrm>
          <a:custGeom>
            <a:avLst/>
            <a:gdLst>
              <a:gd name="connsiteX0" fmla="*/ 792361 w 792361"/>
              <a:gd name="connsiteY0" fmla="*/ 0 h 1584722"/>
              <a:gd name="connsiteX1" fmla="*/ 792361 w 792361"/>
              <a:gd name="connsiteY1" fmla="*/ 1584722 h 1584722"/>
              <a:gd name="connsiteX2" fmla="*/ 0 w 792361"/>
              <a:gd name="connsiteY2" fmla="*/ 792361 h 1584722"/>
              <a:gd name="connsiteX3" fmla="*/ 792361 w 792361"/>
              <a:gd name="connsiteY3" fmla="*/ 0 h 1584722"/>
            </a:gdLst>
            <a:ahLst/>
            <a:cxnLst>
              <a:cxn ang="0">
                <a:pos x="connsiteX0" y="connsiteY0"/>
              </a:cxn>
              <a:cxn ang="0">
                <a:pos x="connsiteX1" y="connsiteY1"/>
              </a:cxn>
              <a:cxn ang="0">
                <a:pos x="connsiteX2" y="connsiteY2"/>
              </a:cxn>
              <a:cxn ang="0">
                <a:pos x="connsiteX3" y="connsiteY3"/>
              </a:cxn>
            </a:cxnLst>
            <a:rect l="l" t="t" r="r" b="b"/>
            <a:pathLst>
              <a:path w="792361" h="1584722">
                <a:moveTo>
                  <a:pt x="792361" y="0"/>
                </a:moveTo>
                <a:lnTo>
                  <a:pt x="792361" y="1584722"/>
                </a:lnTo>
                <a:cubicBezTo>
                  <a:pt x="354752" y="1584722"/>
                  <a:pt x="0" y="1229970"/>
                  <a:pt x="0" y="792361"/>
                </a:cubicBezTo>
                <a:cubicBezTo>
                  <a:pt x="0" y="354752"/>
                  <a:pt x="354752" y="0"/>
                  <a:pt x="792361" y="0"/>
                </a:cubicBezTo>
                <a:close/>
              </a:path>
            </a:pathLst>
          </a:cu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1E86DCC-820E-4025-B258-83B6C65FA5FC}"/>
              </a:ext>
            </a:extLst>
          </p:cNvPr>
          <p:cNvSpPr/>
          <p:nvPr/>
        </p:nvSpPr>
        <p:spPr>
          <a:xfrm>
            <a:off x="1801658" y="34441"/>
            <a:ext cx="5540678" cy="523220"/>
          </a:xfrm>
          <a:prstGeom prst="rect">
            <a:avLst/>
          </a:prstGeom>
        </p:spPr>
        <p:txBody>
          <a:bodyPr wrap="square">
            <a:spAutoFit/>
          </a:bodyPr>
          <a:lstStyle/>
          <a:p>
            <a:pPr algn="ctr"/>
            <a:r>
              <a:rPr lang="en-US" altLang="zh-CN" sz="2800" b="1" dirty="0">
                <a:solidFill>
                  <a:schemeClr val="tx1">
                    <a:lumMod val="50000"/>
                  </a:schemeClr>
                </a:solidFill>
                <a:cs typeface="+mn-ea"/>
                <a:sym typeface="+mn-lt"/>
              </a:rPr>
              <a:t>Testcase Example</a:t>
            </a:r>
          </a:p>
        </p:txBody>
      </p:sp>
      <p:grpSp>
        <p:nvGrpSpPr>
          <p:cNvPr id="4" name="组合 3">
            <a:extLst>
              <a:ext uri="{FF2B5EF4-FFF2-40B4-BE49-F238E27FC236}">
                <a16:creationId xmlns:a16="http://schemas.microsoft.com/office/drawing/2014/main" id="{3291806C-8DDC-4686-85E0-9018A2B490A6}"/>
              </a:ext>
            </a:extLst>
          </p:cNvPr>
          <p:cNvGrpSpPr/>
          <p:nvPr/>
        </p:nvGrpSpPr>
        <p:grpSpPr>
          <a:xfrm>
            <a:off x="540881" y="3324439"/>
            <a:ext cx="8064896" cy="1158614"/>
            <a:chOff x="611560" y="741412"/>
            <a:chExt cx="8064896" cy="1158614"/>
          </a:xfrm>
        </p:grpSpPr>
        <p:sp>
          <p:nvSpPr>
            <p:cNvPr id="2" name="矩形: 圆角 1">
              <a:extLst>
                <a:ext uri="{FF2B5EF4-FFF2-40B4-BE49-F238E27FC236}">
                  <a16:creationId xmlns:a16="http://schemas.microsoft.com/office/drawing/2014/main" id="{CA16AC77-B3D4-44EC-91DF-1A0C07BECA17}"/>
                </a:ext>
              </a:extLst>
            </p:cNvPr>
            <p:cNvSpPr/>
            <p:nvPr/>
          </p:nvSpPr>
          <p:spPr>
            <a:xfrm>
              <a:off x="611560" y="741412"/>
              <a:ext cx="8064896" cy="1158614"/>
            </a:xfrm>
            <a:prstGeom prst="round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a:extLst>
                <a:ext uri="{FF2B5EF4-FFF2-40B4-BE49-F238E27FC236}">
                  <a16:creationId xmlns:a16="http://schemas.microsoft.com/office/drawing/2014/main" id="{1811BBF4-45D8-48A4-A1F4-2C745B82966F}"/>
                </a:ext>
              </a:extLst>
            </p:cNvPr>
            <p:cNvPicPr>
              <a:picLocks noChangeAspect="1"/>
            </p:cNvPicPr>
            <p:nvPr/>
          </p:nvPicPr>
          <p:blipFill>
            <a:blip r:embed="rId3"/>
            <a:stretch>
              <a:fillRect/>
            </a:stretch>
          </p:blipFill>
          <p:spPr>
            <a:xfrm>
              <a:off x="810345" y="949244"/>
              <a:ext cx="4572000" cy="742950"/>
            </a:xfrm>
            <a:prstGeom prst="rect">
              <a:avLst/>
            </a:prstGeom>
            <a:effectLst>
              <a:softEdge rad="76200"/>
            </a:effectLst>
          </p:spPr>
        </p:pic>
        <p:sp>
          <p:nvSpPr>
            <p:cNvPr id="3" name="文本框 2">
              <a:extLst>
                <a:ext uri="{FF2B5EF4-FFF2-40B4-BE49-F238E27FC236}">
                  <a16:creationId xmlns:a16="http://schemas.microsoft.com/office/drawing/2014/main" id="{3378F10E-BBC5-46C7-AAE5-FCAA0AA02742}"/>
                </a:ext>
              </a:extLst>
            </p:cNvPr>
            <p:cNvSpPr txBox="1"/>
            <p:nvPr/>
          </p:nvSpPr>
          <p:spPr>
            <a:xfrm>
              <a:off x="5508942" y="1095668"/>
              <a:ext cx="1219949" cy="461665"/>
            </a:xfrm>
            <a:prstGeom prst="rect">
              <a:avLst/>
            </a:prstGeom>
            <a:noFill/>
          </p:spPr>
          <p:txBody>
            <a:bodyPr wrap="none" rtlCol="0">
              <a:spAutoFit/>
            </a:bodyPr>
            <a:lstStyle/>
            <a:p>
              <a:r>
                <a:rPr lang="en-US" altLang="zh-CN" sz="2400" b="1" dirty="0">
                  <a:solidFill>
                    <a:schemeClr val="bg2"/>
                  </a:solidFill>
                </a:rPr>
                <a:t>Correct!</a:t>
              </a:r>
              <a:endParaRPr lang="zh-CN" altLang="en-US" sz="2400" b="1" dirty="0">
                <a:solidFill>
                  <a:schemeClr val="bg2"/>
                </a:solidFill>
              </a:endParaRPr>
            </a:p>
          </p:txBody>
        </p:sp>
      </p:grpSp>
      <p:grpSp>
        <p:nvGrpSpPr>
          <p:cNvPr id="14" name="组合 13">
            <a:extLst>
              <a:ext uri="{FF2B5EF4-FFF2-40B4-BE49-F238E27FC236}">
                <a16:creationId xmlns:a16="http://schemas.microsoft.com/office/drawing/2014/main" id="{4E14155E-9A5C-4811-B8C4-F4D7446289F6}"/>
              </a:ext>
            </a:extLst>
          </p:cNvPr>
          <p:cNvGrpSpPr/>
          <p:nvPr/>
        </p:nvGrpSpPr>
        <p:grpSpPr>
          <a:xfrm>
            <a:off x="539549" y="2012143"/>
            <a:ext cx="8064896" cy="1158614"/>
            <a:chOff x="611560" y="741412"/>
            <a:chExt cx="8064896" cy="1158614"/>
          </a:xfrm>
        </p:grpSpPr>
        <p:sp>
          <p:nvSpPr>
            <p:cNvPr id="15" name="矩形: 圆角 14">
              <a:extLst>
                <a:ext uri="{FF2B5EF4-FFF2-40B4-BE49-F238E27FC236}">
                  <a16:creationId xmlns:a16="http://schemas.microsoft.com/office/drawing/2014/main" id="{5E078DFB-B8F3-4532-8329-FFC4D659BECA}"/>
                </a:ext>
              </a:extLst>
            </p:cNvPr>
            <p:cNvSpPr/>
            <p:nvPr/>
          </p:nvSpPr>
          <p:spPr>
            <a:xfrm>
              <a:off x="611560" y="741412"/>
              <a:ext cx="8064896" cy="1158614"/>
            </a:xfrm>
            <a:prstGeom prst="round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6" name="图片 15">
              <a:extLst>
                <a:ext uri="{FF2B5EF4-FFF2-40B4-BE49-F238E27FC236}">
                  <a16:creationId xmlns:a16="http://schemas.microsoft.com/office/drawing/2014/main" id="{748ED354-637E-4E32-A2D5-4B0466DCA3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93250" y="957513"/>
              <a:ext cx="3856826" cy="720409"/>
            </a:xfrm>
            <a:prstGeom prst="rect">
              <a:avLst/>
            </a:prstGeom>
            <a:effectLst>
              <a:softEdge rad="76200"/>
            </a:effectLst>
          </p:spPr>
        </p:pic>
        <p:sp>
          <p:nvSpPr>
            <p:cNvPr id="17" name="文本框 16">
              <a:extLst>
                <a:ext uri="{FF2B5EF4-FFF2-40B4-BE49-F238E27FC236}">
                  <a16:creationId xmlns:a16="http://schemas.microsoft.com/office/drawing/2014/main" id="{520C317B-1279-442C-A3D6-9178E1DEDE9E}"/>
                </a:ext>
              </a:extLst>
            </p:cNvPr>
            <p:cNvSpPr txBox="1"/>
            <p:nvPr/>
          </p:nvSpPr>
          <p:spPr>
            <a:xfrm>
              <a:off x="5515499" y="862674"/>
              <a:ext cx="2796984" cy="830997"/>
            </a:xfrm>
            <a:prstGeom prst="rect">
              <a:avLst/>
            </a:prstGeom>
            <a:noFill/>
          </p:spPr>
          <p:txBody>
            <a:bodyPr wrap="none" rtlCol="0">
              <a:spAutoFit/>
            </a:bodyPr>
            <a:lstStyle/>
            <a:p>
              <a:r>
                <a:rPr lang="en-US" altLang="zh-CN" sz="2400" b="1" dirty="0">
                  <a:solidFill>
                    <a:schemeClr val="bg2"/>
                  </a:solidFill>
                </a:rPr>
                <a:t>Wrong!</a:t>
              </a:r>
            </a:p>
            <a:p>
              <a:r>
                <a:rPr lang="en-US" altLang="zh-CN" sz="2400" b="1" dirty="0">
                  <a:solidFill>
                    <a:schemeClr val="bg2"/>
                  </a:solidFill>
                </a:rPr>
                <a:t>‘You did by yourself.’</a:t>
              </a:r>
              <a:endParaRPr lang="zh-CN" altLang="en-US" sz="2400" b="1" dirty="0">
                <a:solidFill>
                  <a:schemeClr val="bg2"/>
                </a:solidFill>
              </a:endParaRPr>
            </a:p>
          </p:txBody>
        </p:sp>
      </p:grpSp>
      <p:grpSp>
        <p:nvGrpSpPr>
          <p:cNvPr id="18" name="组合 17">
            <a:extLst>
              <a:ext uri="{FF2B5EF4-FFF2-40B4-BE49-F238E27FC236}">
                <a16:creationId xmlns:a16="http://schemas.microsoft.com/office/drawing/2014/main" id="{F3CFD298-F8FD-4F2B-8496-F2DB1E2CC0C3}"/>
              </a:ext>
            </a:extLst>
          </p:cNvPr>
          <p:cNvGrpSpPr/>
          <p:nvPr/>
        </p:nvGrpSpPr>
        <p:grpSpPr>
          <a:xfrm>
            <a:off x="539549" y="710165"/>
            <a:ext cx="8064896" cy="1158614"/>
            <a:chOff x="611560" y="741412"/>
            <a:chExt cx="8064896" cy="1158614"/>
          </a:xfrm>
        </p:grpSpPr>
        <p:sp>
          <p:nvSpPr>
            <p:cNvPr id="19" name="矩形: 圆角 18">
              <a:extLst>
                <a:ext uri="{FF2B5EF4-FFF2-40B4-BE49-F238E27FC236}">
                  <a16:creationId xmlns:a16="http://schemas.microsoft.com/office/drawing/2014/main" id="{C2D6A58E-181A-447B-82A1-19012316C3DC}"/>
                </a:ext>
              </a:extLst>
            </p:cNvPr>
            <p:cNvSpPr/>
            <p:nvPr/>
          </p:nvSpPr>
          <p:spPr>
            <a:xfrm>
              <a:off x="611560" y="741412"/>
              <a:ext cx="8064896" cy="1158614"/>
            </a:xfrm>
            <a:prstGeom prst="round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 name="图片 19">
              <a:extLst>
                <a:ext uri="{FF2B5EF4-FFF2-40B4-BE49-F238E27FC236}">
                  <a16:creationId xmlns:a16="http://schemas.microsoft.com/office/drawing/2014/main" id="{1992ADE0-0BFD-4629-8FDE-8BF2F257061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00306" y="973262"/>
              <a:ext cx="3449848" cy="720409"/>
            </a:xfrm>
            <a:prstGeom prst="rect">
              <a:avLst/>
            </a:prstGeom>
            <a:effectLst>
              <a:softEdge rad="76200"/>
            </a:effectLst>
          </p:spPr>
        </p:pic>
        <p:sp>
          <p:nvSpPr>
            <p:cNvPr id="21" name="文本框 20">
              <a:extLst>
                <a:ext uri="{FF2B5EF4-FFF2-40B4-BE49-F238E27FC236}">
                  <a16:creationId xmlns:a16="http://schemas.microsoft.com/office/drawing/2014/main" id="{05B1FAD5-32CD-4532-8910-EF878E935068}"/>
                </a:ext>
              </a:extLst>
            </p:cNvPr>
            <p:cNvSpPr txBox="1"/>
            <p:nvPr/>
          </p:nvSpPr>
          <p:spPr>
            <a:xfrm>
              <a:off x="5515499" y="862674"/>
              <a:ext cx="2429448" cy="830997"/>
            </a:xfrm>
            <a:prstGeom prst="rect">
              <a:avLst/>
            </a:prstGeom>
            <a:noFill/>
          </p:spPr>
          <p:txBody>
            <a:bodyPr wrap="none" rtlCol="0">
              <a:spAutoFit/>
            </a:bodyPr>
            <a:lstStyle/>
            <a:p>
              <a:r>
                <a:rPr lang="en-US" altLang="zh-CN" sz="2400" b="1" dirty="0">
                  <a:solidFill>
                    <a:schemeClr val="bg2"/>
                  </a:solidFill>
                </a:rPr>
                <a:t>Wrong!</a:t>
              </a:r>
            </a:p>
            <a:p>
              <a:r>
                <a:rPr lang="en-US" altLang="zh-CN" sz="2400" b="1" dirty="0">
                  <a:solidFill>
                    <a:schemeClr val="bg2"/>
                  </a:solidFill>
                </a:rPr>
                <a:t>‘It's my pleasure.’</a:t>
              </a:r>
            </a:p>
          </p:txBody>
        </p:sp>
      </p:grpSp>
    </p:spTree>
    <p:extLst>
      <p:ext uri="{BB962C8B-B14F-4D97-AF65-F5344CB8AC3E}">
        <p14:creationId xmlns:p14="http://schemas.microsoft.com/office/powerpoint/2010/main" val="2688417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10216C98-6223-4563-972A-824A0A9308CE}"/>
              </a:ext>
            </a:extLst>
          </p:cNvPr>
          <p:cNvGrpSpPr/>
          <p:nvPr/>
        </p:nvGrpSpPr>
        <p:grpSpPr>
          <a:xfrm>
            <a:off x="395536" y="249585"/>
            <a:ext cx="8640960" cy="3200202"/>
            <a:chOff x="395536" y="249585"/>
            <a:chExt cx="8640960" cy="3200202"/>
          </a:xfrm>
        </p:grpSpPr>
        <p:sp>
          <p:nvSpPr>
            <p:cNvPr id="32" name="矩形 31">
              <a:extLst>
                <a:ext uri="{FF2B5EF4-FFF2-40B4-BE49-F238E27FC236}">
                  <a16:creationId xmlns:a16="http://schemas.microsoft.com/office/drawing/2014/main" id="{2F65FE1D-6AB1-4772-B653-700FC398ADE1}"/>
                </a:ext>
              </a:extLst>
            </p:cNvPr>
            <p:cNvSpPr/>
            <p:nvPr/>
          </p:nvSpPr>
          <p:spPr>
            <a:xfrm>
              <a:off x="1801661" y="249585"/>
              <a:ext cx="5540678" cy="523220"/>
            </a:xfrm>
            <a:prstGeom prst="rect">
              <a:avLst/>
            </a:prstGeom>
          </p:spPr>
          <p:txBody>
            <a:bodyPr wrap="square">
              <a:spAutoFit/>
            </a:bodyPr>
            <a:lstStyle/>
            <a:p>
              <a:pPr algn="ctr"/>
              <a:r>
                <a:rPr lang="en-US" altLang="zh-CN" sz="2800" b="1" dirty="0">
                  <a:solidFill>
                    <a:schemeClr val="bg1"/>
                  </a:solidFill>
                  <a:cs typeface="+mn-ea"/>
                  <a:sym typeface="+mn-lt"/>
                </a:rPr>
                <a:t>References</a:t>
              </a:r>
            </a:p>
          </p:txBody>
        </p:sp>
        <p:sp>
          <p:nvSpPr>
            <p:cNvPr id="35" name="文本框 34">
              <a:extLst>
                <a:ext uri="{FF2B5EF4-FFF2-40B4-BE49-F238E27FC236}">
                  <a16:creationId xmlns:a16="http://schemas.microsoft.com/office/drawing/2014/main" id="{A713304C-BEDF-47FC-90B5-DA9BDE45C0BB}"/>
                </a:ext>
              </a:extLst>
            </p:cNvPr>
            <p:cNvSpPr txBox="1"/>
            <p:nvPr/>
          </p:nvSpPr>
          <p:spPr>
            <a:xfrm>
              <a:off x="395536" y="987574"/>
              <a:ext cx="8640960" cy="2462213"/>
            </a:xfrm>
            <a:prstGeom prst="rect">
              <a:avLst/>
            </a:prstGeom>
            <a:noFill/>
          </p:spPr>
          <p:txBody>
            <a:bodyPr wrap="square" rtlCol="0">
              <a:spAutoFit/>
            </a:bodyPr>
            <a:lstStyle/>
            <a:p>
              <a:pPr marL="342900" indent="-342900">
                <a:buFont typeface="Arial" panose="020B0604020202020204" pitchFamily="34" charset="0"/>
                <a:buChar char="•"/>
              </a:pPr>
              <a:r>
                <a:rPr lang="en-US" altLang="zh-CN" sz="1400" dirty="0">
                  <a:solidFill>
                    <a:schemeClr val="bg1">
                      <a:lumMod val="65000"/>
                      <a:lumOff val="35000"/>
                    </a:schemeClr>
                  </a:solidFill>
                </a:rPr>
                <a:t>“Understanding LSTM Networks”  https://colah.github.io/posts/2015-08-Understanding-LSTMs/</a:t>
              </a:r>
            </a:p>
            <a:p>
              <a:pPr marL="285750" indent="-285750">
                <a:buFont typeface="Arial" panose="020B0604020202020204" pitchFamily="34" charset="0"/>
                <a:buChar char="•"/>
              </a:pPr>
              <a:endParaRPr lang="en-US" altLang="zh-CN" sz="1400" dirty="0">
                <a:solidFill>
                  <a:schemeClr val="bg1">
                    <a:lumMod val="65000"/>
                    <a:lumOff val="35000"/>
                  </a:schemeClr>
                </a:solidFill>
              </a:endParaRPr>
            </a:p>
            <a:p>
              <a:pPr marL="342900" indent="-342900">
                <a:buFont typeface="Arial" panose="020B0604020202020204" pitchFamily="34" charset="0"/>
                <a:buChar char="•"/>
              </a:pPr>
              <a:r>
                <a:rPr lang="en-US" altLang="zh-CN" sz="1400" dirty="0">
                  <a:solidFill>
                    <a:schemeClr val="bg1">
                      <a:lumMod val="65000"/>
                      <a:lumOff val="35000"/>
                    </a:schemeClr>
                  </a:solidFill>
                </a:rPr>
                <a:t>“Neural machine translation with attention” https://www.tensorflow.org/tutorials/text/nmt_with_attention</a:t>
              </a:r>
            </a:p>
            <a:p>
              <a:endParaRPr lang="en-US" altLang="zh-CN" sz="1400" dirty="0">
                <a:solidFill>
                  <a:schemeClr val="bg1">
                    <a:lumMod val="65000"/>
                    <a:lumOff val="35000"/>
                  </a:schemeClr>
                </a:solidFill>
              </a:endParaRPr>
            </a:p>
            <a:p>
              <a:pPr marL="342900" indent="-342900">
                <a:buFont typeface="Arial" panose="020B0604020202020204" pitchFamily="34" charset="0"/>
                <a:buChar char="•"/>
              </a:pPr>
              <a:r>
                <a:rPr lang="en-US" altLang="zh-CN" sz="1400" i="1" dirty="0">
                  <a:solidFill>
                    <a:schemeClr val="bg1">
                      <a:lumMod val="65000"/>
                      <a:lumOff val="35000"/>
                    </a:schemeClr>
                  </a:solidFill>
                </a:rPr>
                <a:t>“Seq2Seq” https://google.github.io/seq2seq/</a:t>
              </a:r>
            </a:p>
            <a:p>
              <a:pPr marL="342900" indent="-342900">
                <a:buFont typeface="Arial" panose="020B0604020202020204" pitchFamily="34" charset="0"/>
                <a:buChar char="•"/>
              </a:pPr>
              <a:endParaRPr lang="en-US" altLang="zh-CN" sz="1400" i="1" dirty="0">
                <a:solidFill>
                  <a:schemeClr val="bg1">
                    <a:lumMod val="65000"/>
                    <a:lumOff val="35000"/>
                  </a:schemeClr>
                </a:solidFill>
              </a:endParaRPr>
            </a:p>
            <a:p>
              <a:pPr marL="342900" indent="-342900">
                <a:buFont typeface="Arial" panose="020B0604020202020204" pitchFamily="34" charset="0"/>
                <a:buChar char="•"/>
              </a:pPr>
              <a:r>
                <a:rPr lang="en-US" altLang="zh-CN" sz="1400" i="1" dirty="0" err="1">
                  <a:solidFill>
                    <a:schemeClr val="bg1">
                      <a:lumMod val="65000"/>
                      <a:lumOff val="35000"/>
                    </a:schemeClr>
                  </a:solidFill>
                </a:rPr>
                <a:t>Dzmitry</a:t>
              </a:r>
              <a:r>
                <a:rPr lang="en-US" altLang="zh-CN" sz="1400" i="1" dirty="0">
                  <a:solidFill>
                    <a:schemeClr val="bg1">
                      <a:lumMod val="65000"/>
                      <a:lumOff val="35000"/>
                    </a:schemeClr>
                  </a:solidFill>
                </a:rPr>
                <a:t> </a:t>
              </a:r>
              <a:r>
                <a:rPr lang="en-US" altLang="zh-CN" sz="1400" i="1" dirty="0" err="1">
                  <a:solidFill>
                    <a:schemeClr val="bg1">
                      <a:lumMod val="65000"/>
                      <a:lumOff val="35000"/>
                    </a:schemeClr>
                  </a:solidFill>
                </a:rPr>
                <a:t>Bahdanau</a:t>
              </a:r>
              <a:r>
                <a:rPr lang="en-US" altLang="zh-CN" sz="1400" i="1" dirty="0">
                  <a:solidFill>
                    <a:schemeClr val="bg1">
                      <a:lumMod val="65000"/>
                      <a:lumOff val="35000"/>
                    </a:schemeClr>
                  </a:solidFill>
                </a:rPr>
                <a:t>, </a:t>
              </a:r>
              <a:r>
                <a:rPr lang="en-US" altLang="zh-CN" sz="1400" i="1" dirty="0" err="1">
                  <a:solidFill>
                    <a:schemeClr val="bg1">
                      <a:lumMod val="65000"/>
                      <a:lumOff val="35000"/>
                    </a:schemeClr>
                  </a:solidFill>
                </a:rPr>
                <a:t>Kyunghyun</a:t>
              </a:r>
              <a:r>
                <a:rPr lang="en-US" altLang="zh-CN" sz="1400" i="1" dirty="0">
                  <a:solidFill>
                    <a:schemeClr val="bg1">
                      <a:lumMod val="65000"/>
                      <a:lumOff val="35000"/>
                    </a:schemeClr>
                  </a:solidFill>
                </a:rPr>
                <a:t> Cho, </a:t>
              </a:r>
              <a:r>
                <a:rPr lang="en-US" altLang="zh-CN" sz="1400" i="1" dirty="0" err="1">
                  <a:solidFill>
                    <a:schemeClr val="bg1">
                      <a:lumMod val="65000"/>
                      <a:lumOff val="35000"/>
                    </a:schemeClr>
                  </a:solidFill>
                </a:rPr>
                <a:t>Yoshua</a:t>
              </a:r>
              <a:r>
                <a:rPr lang="en-US" altLang="zh-CN" sz="1400" i="1" dirty="0">
                  <a:solidFill>
                    <a:schemeClr val="bg1">
                      <a:lumMod val="65000"/>
                      <a:lumOff val="35000"/>
                    </a:schemeClr>
                  </a:solidFill>
                </a:rPr>
                <a:t> </a:t>
              </a:r>
              <a:r>
                <a:rPr lang="en-US" altLang="zh-CN" sz="1400" i="1" dirty="0" err="1">
                  <a:solidFill>
                    <a:schemeClr val="bg1">
                      <a:lumMod val="65000"/>
                      <a:lumOff val="35000"/>
                    </a:schemeClr>
                  </a:solidFill>
                </a:rPr>
                <a:t>Bengio</a:t>
              </a:r>
              <a:r>
                <a:rPr lang="en-US" altLang="zh-CN" sz="1400" i="1" dirty="0">
                  <a:solidFill>
                    <a:schemeClr val="bg1">
                      <a:lumMod val="65000"/>
                      <a:lumOff val="35000"/>
                    </a:schemeClr>
                  </a:solidFill>
                </a:rPr>
                <a:t> (2015). “Neural Machine Translation by Jointly Learning to Align and Translate</a:t>
              </a:r>
              <a:r>
                <a:rPr lang="en-US" altLang="zh-CN" sz="1400" i="1" dirty="0">
                  <a:solidFill>
                    <a:schemeClr val="bg1">
                      <a:lumMod val="50000"/>
                      <a:lumOff val="50000"/>
                    </a:schemeClr>
                  </a:solidFill>
                </a:rPr>
                <a:t>” </a:t>
              </a:r>
              <a:r>
                <a:rPr lang="en-US" altLang="zh-CN" sz="1400" dirty="0">
                  <a:solidFill>
                    <a:schemeClr val="bg1">
                      <a:lumMod val="50000"/>
                      <a:lumOff val="50000"/>
                    </a:schemeClr>
                  </a:solidFill>
                </a:rPr>
                <a:t>ICLR 2015</a:t>
              </a:r>
            </a:p>
            <a:p>
              <a:pPr marL="342900" indent="-342900">
                <a:buFont typeface="Arial" panose="020B0604020202020204" pitchFamily="34" charset="0"/>
                <a:buChar char="•"/>
              </a:pPr>
              <a:endParaRPr lang="en-US" altLang="zh-CN" sz="1400" dirty="0">
                <a:solidFill>
                  <a:schemeClr val="bg1">
                    <a:lumMod val="75000"/>
                    <a:lumOff val="25000"/>
                  </a:schemeClr>
                </a:solidFill>
              </a:endParaRPr>
            </a:p>
            <a:p>
              <a:pPr marL="342900" indent="-342900">
                <a:buFont typeface="Arial" panose="020B0604020202020204" pitchFamily="34" charset="0"/>
                <a:buChar char="•"/>
              </a:pPr>
              <a:r>
                <a:rPr lang="en-US" altLang="zh-CN" sz="1400" i="1" dirty="0">
                  <a:solidFill>
                    <a:schemeClr val="bg1">
                      <a:lumMod val="65000"/>
                      <a:lumOff val="35000"/>
                    </a:schemeClr>
                  </a:solidFill>
                </a:rPr>
                <a:t> </a:t>
              </a:r>
              <a:r>
                <a:rPr lang="en-US" altLang="zh-CN" sz="1400" i="1" dirty="0" err="1">
                  <a:solidFill>
                    <a:schemeClr val="bg1">
                      <a:lumMod val="65000"/>
                      <a:lumOff val="35000"/>
                    </a:schemeClr>
                  </a:solidFill>
                </a:rPr>
                <a:t>Hochreiter</a:t>
              </a:r>
              <a:r>
                <a:rPr lang="en-US" altLang="zh-CN" sz="1400" i="1" dirty="0">
                  <a:solidFill>
                    <a:schemeClr val="bg1">
                      <a:lumMod val="65000"/>
                      <a:lumOff val="35000"/>
                    </a:schemeClr>
                  </a:solidFill>
                </a:rPr>
                <a:t>, S.; </a:t>
              </a:r>
              <a:r>
                <a:rPr lang="en-US" altLang="zh-CN" sz="1400" i="1" dirty="0" err="1">
                  <a:solidFill>
                    <a:schemeClr val="bg1">
                      <a:lumMod val="65000"/>
                      <a:lumOff val="35000"/>
                    </a:schemeClr>
                  </a:solidFill>
                </a:rPr>
                <a:t>Schmidhuber</a:t>
              </a:r>
              <a:r>
                <a:rPr lang="en-US" altLang="zh-CN" sz="1400" i="1" dirty="0">
                  <a:solidFill>
                    <a:schemeClr val="bg1">
                      <a:lumMod val="65000"/>
                      <a:lumOff val="35000"/>
                    </a:schemeClr>
                  </a:solidFill>
                </a:rPr>
                <a:t>, J. (1997). "Long Short-Term Memory". Neural Computation. 9 (8): 1735–1780. </a:t>
              </a:r>
            </a:p>
            <a:p>
              <a:pPr marL="342900" indent="-342900">
                <a:buFont typeface="Arial" panose="020B0604020202020204" pitchFamily="34" charset="0"/>
                <a:buChar char="•"/>
              </a:pPr>
              <a:endParaRPr lang="en-US" altLang="zh-CN" sz="1400" i="1" dirty="0">
                <a:solidFill>
                  <a:schemeClr val="bg1">
                    <a:lumMod val="65000"/>
                    <a:lumOff val="35000"/>
                  </a:schemeClr>
                </a:solidFill>
              </a:endParaRPr>
            </a:p>
          </p:txBody>
        </p:sp>
      </p:grpSp>
    </p:spTree>
    <p:extLst>
      <p:ext uri="{BB962C8B-B14F-4D97-AF65-F5344CB8AC3E}">
        <p14:creationId xmlns:p14="http://schemas.microsoft.com/office/powerpoint/2010/main" val="3530331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87624" y="0"/>
            <a:ext cx="2592288" cy="1938992"/>
          </a:xfrm>
          <a:prstGeom prst="rect">
            <a:avLst/>
          </a:prstGeom>
          <a:noFill/>
        </p:spPr>
        <p:txBody>
          <a:bodyPr wrap="square" rtlCol="0">
            <a:spAutoFit/>
          </a:bodyPr>
          <a:lstStyle/>
          <a:p>
            <a:r>
              <a:rPr lang="en-US" altLang="zh-CN" sz="4000" b="1" dirty="0"/>
              <a:t>Thanks!</a:t>
            </a:r>
          </a:p>
          <a:p>
            <a:endParaRPr lang="en-US" altLang="zh-CN" sz="4000" b="1" dirty="0"/>
          </a:p>
          <a:p>
            <a:r>
              <a:rPr lang="az-Cyrl-AZ" altLang="zh-CN" sz="4000" b="1" dirty="0"/>
              <a:t>Спасибо!</a:t>
            </a:r>
          </a:p>
        </p:txBody>
      </p:sp>
    </p:spTree>
    <p:extLst>
      <p:ext uri="{BB962C8B-B14F-4D97-AF65-F5344CB8AC3E}">
        <p14:creationId xmlns:p14="http://schemas.microsoft.com/office/powerpoint/2010/main" val="17728367"/>
      </p:ext>
    </p:extLst>
  </p:cSld>
  <p:clrMapOvr>
    <a:masterClrMapping/>
  </p:clrMapOvr>
</p:sld>
</file>

<file path=ppt/theme/theme1.xml><?xml version="1.0" encoding="utf-8"?>
<a:theme xmlns:a="http://schemas.openxmlformats.org/drawingml/2006/main" name="Office Theme">
  <a:themeElements>
    <a:clrScheme name="Data01_c1">
      <a:dk1>
        <a:srgbClr val="BBBBBB"/>
      </a:dk1>
      <a:lt1>
        <a:srgbClr val="000000"/>
      </a:lt1>
      <a:dk2>
        <a:srgbClr val="3F9BA8"/>
      </a:dk2>
      <a:lt2>
        <a:srgbClr val="F9F9F9"/>
      </a:lt2>
      <a:accent1>
        <a:srgbClr val="3FAA96"/>
      </a:accent1>
      <a:accent2>
        <a:srgbClr val="B7DEA5"/>
      </a:accent2>
      <a:accent3>
        <a:srgbClr val="D9C593"/>
      </a:accent3>
      <a:accent4>
        <a:srgbClr val="F2DF83"/>
      </a:accent4>
      <a:accent5>
        <a:srgbClr val="DF574B"/>
      </a:accent5>
      <a:accent6>
        <a:srgbClr val="CB483E"/>
      </a:accent6>
      <a:hlink>
        <a:srgbClr val="CB483E"/>
      </a:hlink>
      <a:folHlink>
        <a:srgbClr val="72C1C6"/>
      </a:folHlink>
    </a:clrScheme>
    <a:fontScheme name="Temp">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559</Words>
  <Application>Microsoft Office PowerPoint</Application>
  <PresentationFormat>全屏显示(16:9)</PresentationFormat>
  <Paragraphs>98</Paragraphs>
  <Slides>12</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Dotum</vt:lpstr>
      <vt:lpstr>Roboto</vt:lpstr>
      <vt:lpstr>Aharoni</vt:lpstr>
      <vt:lpstr>Arial</vt:lpstr>
      <vt:lpstr>Bauhaus 93</vt:lpstr>
      <vt:lpstr>Calibri</vt:lpstr>
      <vt:lpstr>Source Sans Pro Light</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www.51pptmoban.com</cp:keywords>
  <dc:description/>
  <cp:lastModifiedBy/>
  <cp:revision>1</cp:revision>
  <dcterms:created xsi:type="dcterms:W3CDTF">2015-10-08T06:58:35Z</dcterms:created>
  <dcterms:modified xsi:type="dcterms:W3CDTF">2020-11-21T06:53:04Z</dcterms:modified>
  <cp:category/>
</cp:coreProperties>
</file>