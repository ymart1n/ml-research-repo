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5"/>
  </p:notesMasterIdLst>
  <p:sldIdLst>
    <p:sldId id="256" r:id="rId2"/>
    <p:sldId id="257" r:id="rId3"/>
    <p:sldId id="264" r:id="rId4"/>
    <p:sldId id="258" r:id="rId5"/>
    <p:sldId id="259" r:id="rId6"/>
    <p:sldId id="260" r:id="rId7"/>
    <p:sldId id="266" r:id="rId8"/>
    <p:sldId id="261" r:id="rId9"/>
    <p:sldId id="262" r:id="rId10"/>
    <p:sldId id="263" r:id="rId11"/>
    <p:sldId id="267" r:id="rId12"/>
    <p:sldId id="265"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an, Shiyu" initials="FS" lastIdx="1" clrIdx="0">
    <p:extLst>
      <p:ext uri="{19B8F6BF-5375-455C-9EA6-DF929625EA0E}">
        <p15:presenceInfo xmlns:p15="http://schemas.microsoft.com/office/powerpoint/2012/main" userId="S::sfan47@gwu.edu::5ebfa717-d979-43f6-8fa0-b4b5f0cbd72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34"/>
    <p:restoredTop sz="87044"/>
  </p:normalViewPr>
  <p:slideViewPr>
    <p:cSldViewPr snapToGrid="0" snapToObjects="1">
      <p:cViewPr varScale="1">
        <p:scale>
          <a:sx n="129" d="100"/>
          <a:sy n="129" d="100"/>
        </p:scale>
        <p:origin x="26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3506C0-6230-44C4-8F58-B02DE0D3773E}"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E8404AF-FA1A-4EA5-8C0A-89991EB95F90}">
      <dgm:prSet custT="1"/>
      <dgm:spPr/>
      <dgm:t>
        <a:bodyPr/>
        <a:lstStyle/>
        <a:p>
          <a:r>
            <a:rPr lang="en-US" sz="2000" dirty="0"/>
            <a:t>Introducing our medical bot: </a:t>
          </a:r>
        </a:p>
      </dgm:t>
    </dgm:pt>
    <dgm:pt modelId="{2F7A7BB3-5639-4832-9724-7FEC9E5EE429}" type="parTrans" cxnId="{862AC2B6-DC4B-4290-932C-B91B678F9061}">
      <dgm:prSet/>
      <dgm:spPr/>
      <dgm:t>
        <a:bodyPr/>
        <a:lstStyle/>
        <a:p>
          <a:endParaRPr lang="en-US"/>
        </a:p>
      </dgm:t>
    </dgm:pt>
    <dgm:pt modelId="{38ECE3FA-800B-402D-94B2-1B3D935C5E6D}" type="sibTrans" cxnId="{862AC2B6-DC4B-4290-932C-B91B678F9061}">
      <dgm:prSet/>
      <dgm:spPr/>
      <dgm:t>
        <a:bodyPr/>
        <a:lstStyle/>
        <a:p>
          <a:endParaRPr lang="en-US"/>
        </a:p>
      </dgm:t>
    </dgm:pt>
    <dgm:pt modelId="{099D537C-2BC1-4603-94F9-EA727D58FF53}">
      <dgm:prSet custT="1"/>
      <dgm:spPr/>
      <dgm:t>
        <a:bodyPr/>
        <a:lstStyle/>
        <a:p>
          <a:r>
            <a:rPr lang="en-US" sz="2000" dirty="0"/>
            <a:t>Users can upload their CT/MR scan to it</a:t>
          </a:r>
        </a:p>
      </dgm:t>
    </dgm:pt>
    <dgm:pt modelId="{3AEC749F-5354-4E87-B189-E85D1A49DCC4}" type="parTrans" cxnId="{B1DCFA76-291A-4EE2-8125-72C2511A0007}">
      <dgm:prSet/>
      <dgm:spPr/>
      <dgm:t>
        <a:bodyPr/>
        <a:lstStyle/>
        <a:p>
          <a:endParaRPr lang="en-US"/>
        </a:p>
      </dgm:t>
    </dgm:pt>
    <dgm:pt modelId="{0A025027-64C7-457C-87DB-A5B1B43722F5}" type="sibTrans" cxnId="{B1DCFA76-291A-4EE2-8125-72C2511A0007}">
      <dgm:prSet/>
      <dgm:spPr/>
      <dgm:t>
        <a:bodyPr/>
        <a:lstStyle/>
        <a:p>
          <a:endParaRPr lang="en-US"/>
        </a:p>
      </dgm:t>
    </dgm:pt>
    <dgm:pt modelId="{2FD6A302-D894-4911-BC4B-5F4A4A22B270}">
      <dgm:prSet custT="1"/>
      <dgm:spPr/>
      <dgm:t>
        <a:bodyPr/>
        <a:lstStyle/>
        <a:p>
          <a:r>
            <a:rPr lang="en-US" sz="2000" dirty="0"/>
            <a:t>The bot will reply the diagnoses result to the user </a:t>
          </a:r>
        </a:p>
        <a:p>
          <a:r>
            <a:rPr lang="en-US" sz="2000" dirty="0"/>
            <a:t>(in both text and speech)</a:t>
          </a:r>
        </a:p>
      </dgm:t>
    </dgm:pt>
    <dgm:pt modelId="{844AC738-576C-4117-8293-DC462903C71B}" type="parTrans" cxnId="{9A9B497C-91BC-47F7-871B-6C3251C9D9BE}">
      <dgm:prSet/>
      <dgm:spPr/>
      <dgm:t>
        <a:bodyPr/>
        <a:lstStyle/>
        <a:p>
          <a:endParaRPr lang="en-US"/>
        </a:p>
      </dgm:t>
    </dgm:pt>
    <dgm:pt modelId="{705AA526-A671-4DB8-81AC-499B0947988C}" type="sibTrans" cxnId="{9A9B497C-91BC-47F7-871B-6C3251C9D9BE}">
      <dgm:prSet/>
      <dgm:spPr/>
      <dgm:t>
        <a:bodyPr/>
        <a:lstStyle/>
        <a:p>
          <a:endParaRPr lang="en-US"/>
        </a:p>
      </dgm:t>
    </dgm:pt>
    <dgm:pt modelId="{282982F5-7937-4F24-8EF9-30E89C5743BD}" type="pres">
      <dgm:prSet presAssocID="{B53506C0-6230-44C4-8F58-B02DE0D3773E}" presName="root" presStyleCnt="0">
        <dgm:presLayoutVars>
          <dgm:dir/>
          <dgm:resizeHandles val="exact"/>
        </dgm:presLayoutVars>
      </dgm:prSet>
      <dgm:spPr/>
    </dgm:pt>
    <dgm:pt modelId="{568A7836-AB39-4376-8B9C-1A25451D467F}" type="pres">
      <dgm:prSet presAssocID="{0E8404AF-FA1A-4EA5-8C0A-89991EB95F90}" presName="compNode" presStyleCnt="0"/>
      <dgm:spPr/>
    </dgm:pt>
    <dgm:pt modelId="{AAAB6BCB-9747-4214-8DD6-18393DBA0E82}" type="pres">
      <dgm:prSet presAssocID="{0E8404AF-FA1A-4EA5-8C0A-89991EB95F90}" presName="iconRect" presStyleLbl="node1" presStyleIdx="0" presStyleCnt="3" custScaleX="123353" custScaleY="12087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ethoscope"/>
        </a:ext>
      </dgm:extLst>
    </dgm:pt>
    <dgm:pt modelId="{4887136F-5BD9-49B0-B4C7-73A89314CF23}" type="pres">
      <dgm:prSet presAssocID="{0E8404AF-FA1A-4EA5-8C0A-89991EB95F90}" presName="spaceRect" presStyleCnt="0"/>
      <dgm:spPr/>
    </dgm:pt>
    <dgm:pt modelId="{0EF87985-7C6B-49DD-9C8F-2B0EB7C11CED}" type="pres">
      <dgm:prSet presAssocID="{0E8404AF-FA1A-4EA5-8C0A-89991EB95F90}" presName="textRect" presStyleLbl="revTx" presStyleIdx="0" presStyleCnt="3" custScaleX="124192" custLinFactNeighborX="2747" custLinFactNeighborY="4141">
        <dgm:presLayoutVars>
          <dgm:chMax val="1"/>
          <dgm:chPref val="1"/>
        </dgm:presLayoutVars>
      </dgm:prSet>
      <dgm:spPr/>
    </dgm:pt>
    <dgm:pt modelId="{3A9CA315-8EDD-4D76-9994-6C9EA4FE1FA4}" type="pres">
      <dgm:prSet presAssocID="{38ECE3FA-800B-402D-94B2-1B3D935C5E6D}" presName="sibTrans" presStyleCnt="0"/>
      <dgm:spPr/>
    </dgm:pt>
    <dgm:pt modelId="{E2EE647E-0FD9-417F-840E-FAC7A370E751}" type="pres">
      <dgm:prSet presAssocID="{099D537C-2BC1-4603-94F9-EA727D58FF53}" presName="compNode" presStyleCnt="0"/>
      <dgm:spPr/>
    </dgm:pt>
    <dgm:pt modelId="{41DC9772-225C-407D-BD19-B3147E6D9819}" type="pres">
      <dgm:prSet presAssocID="{099D537C-2BC1-4603-94F9-EA727D58FF53}" presName="iconRect" presStyleLbl="node1" presStyleIdx="1" presStyleCnt="3" custScaleX="130583" custScaleY="13003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canner"/>
        </a:ext>
      </dgm:extLst>
    </dgm:pt>
    <dgm:pt modelId="{A31E52AC-8464-4E7A-8B16-F10529D41311}" type="pres">
      <dgm:prSet presAssocID="{099D537C-2BC1-4603-94F9-EA727D58FF53}" presName="spaceRect" presStyleCnt="0"/>
      <dgm:spPr/>
    </dgm:pt>
    <dgm:pt modelId="{09AB88A7-2627-4DF0-BF52-D26CCAF33E62}" type="pres">
      <dgm:prSet presAssocID="{099D537C-2BC1-4603-94F9-EA727D58FF53}" presName="textRect" presStyleLbl="revTx" presStyleIdx="1" presStyleCnt="3">
        <dgm:presLayoutVars>
          <dgm:chMax val="1"/>
          <dgm:chPref val="1"/>
        </dgm:presLayoutVars>
      </dgm:prSet>
      <dgm:spPr/>
    </dgm:pt>
    <dgm:pt modelId="{BE9F0239-61CC-413E-9E1C-980E9B412F4B}" type="pres">
      <dgm:prSet presAssocID="{0A025027-64C7-457C-87DB-A5B1B43722F5}" presName="sibTrans" presStyleCnt="0"/>
      <dgm:spPr/>
    </dgm:pt>
    <dgm:pt modelId="{163D4425-75E5-4E1E-9A0E-4FA16A9BA576}" type="pres">
      <dgm:prSet presAssocID="{2FD6A302-D894-4911-BC4B-5F4A4A22B270}" presName="compNode" presStyleCnt="0"/>
      <dgm:spPr/>
    </dgm:pt>
    <dgm:pt modelId="{2A5F3CBE-F0D2-4432-B9D6-01B5BFC77830}" type="pres">
      <dgm:prSet presAssocID="{2FD6A302-D894-4911-BC4B-5F4A4A22B270}" presName="iconRect" presStyleLbl="node1" presStyleIdx="2" presStyleCnt="3" custScaleX="130816" custScaleY="13766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hat Bubble"/>
        </a:ext>
      </dgm:extLst>
    </dgm:pt>
    <dgm:pt modelId="{51A254ED-D23F-4A51-B05B-E6EE2A073835}" type="pres">
      <dgm:prSet presAssocID="{2FD6A302-D894-4911-BC4B-5F4A4A22B270}" presName="spaceRect" presStyleCnt="0"/>
      <dgm:spPr/>
    </dgm:pt>
    <dgm:pt modelId="{C495A633-2720-44EE-B3BF-E7DC771F4716}" type="pres">
      <dgm:prSet presAssocID="{2FD6A302-D894-4911-BC4B-5F4A4A22B270}" presName="textRect" presStyleLbl="revTx" presStyleIdx="2" presStyleCnt="3" custScaleX="147634">
        <dgm:presLayoutVars>
          <dgm:chMax val="1"/>
          <dgm:chPref val="1"/>
        </dgm:presLayoutVars>
      </dgm:prSet>
      <dgm:spPr/>
    </dgm:pt>
  </dgm:ptLst>
  <dgm:cxnLst>
    <dgm:cxn modelId="{BCF40C4A-6B81-4391-B3AF-2A06E9AA73A2}" type="presOf" srcId="{0E8404AF-FA1A-4EA5-8C0A-89991EB95F90}" destId="{0EF87985-7C6B-49DD-9C8F-2B0EB7C11CED}" srcOrd="0" destOrd="0" presId="urn:microsoft.com/office/officeart/2018/2/layout/IconLabelList"/>
    <dgm:cxn modelId="{91BDA265-2E40-49EB-81DB-CCEDED9100FB}" type="presOf" srcId="{B53506C0-6230-44C4-8F58-B02DE0D3773E}" destId="{282982F5-7937-4F24-8EF9-30E89C5743BD}" srcOrd="0" destOrd="0" presId="urn:microsoft.com/office/officeart/2018/2/layout/IconLabelList"/>
    <dgm:cxn modelId="{B1DCFA76-291A-4EE2-8125-72C2511A0007}" srcId="{B53506C0-6230-44C4-8F58-B02DE0D3773E}" destId="{099D537C-2BC1-4603-94F9-EA727D58FF53}" srcOrd="1" destOrd="0" parTransId="{3AEC749F-5354-4E87-B189-E85D1A49DCC4}" sibTransId="{0A025027-64C7-457C-87DB-A5B1B43722F5}"/>
    <dgm:cxn modelId="{EB27B978-3B0E-4007-9F93-02027FB261F7}" type="presOf" srcId="{2FD6A302-D894-4911-BC4B-5F4A4A22B270}" destId="{C495A633-2720-44EE-B3BF-E7DC771F4716}" srcOrd="0" destOrd="0" presId="urn:microsoft.com/office/officeart/2018/2/layout/IconLabelList"/>
    <dgm:cxn modelId="{9A9B497C-91BC-47F7-871B-6C3251C9D9BE}" srcId="{B53506C0-6230-44C4-8F58-B02DE0D3773E}" destId="{2FD6A302-D894-4911-BC4B-5F4A4A22B270}" srcOrd="2" destOrd="0" parTransId="{844AC738-576C-4117-8293-DC462903C71B}" sibTransId="{705AA526-A671-4DB8-81AC-499B0947988C}"/>
    <dgm:cxn modelId="{862AC2B6-DC4B-4290-932C-B91B678F9061}" srcId="{B53506C0-6230-44C4-8F58-B02DE0D3773E}" destId="{0E8404AF-FA1A-4EA5-8C0A-89991EB95F90}" srcOrd="0" destOrd="0" parTransId="{2F7A7BB3-5639-4832-9724-7FEC9E5EE429}" sibTransId="{38ECE3FA-800B-402D-94B2-1B3D935C5E6D}"/>
    <dgm:cxn modelId="{B59728D5-B83E-4C57-9017-3D284AF13C0F}" type="presOf" srcId="{099D537C-2BC1-4603-94F9-EA727D58FF53}" destId="{09AB88A7-2627-4DF0-BF52-D26CCAF33E62}" srcOrd="0" destOrd="0" presId="urn:microsoft.com/office/officeart/2018/2/layout/IconLabelList"/>
    <dgm:cxn modelId="{5FD5D7EC-DA83-4493-B3BD-12FB0EAEB957}" type="presParOf" srcId="{282982F5-7937-4F24-8EF9-30E89C5743BD}" destId="{568A7836-AB39-4376-8B9C-1A25451D467F}" srcOrd="0" destOrd="0" presId="urn:microsoft.com/office/officeart/2018/2/layout/IconLabelList"/>
    <dgm:cxn modelId="{2491EF2F-53EE-4D0D-8A1E-685849C27D5A}" type="presParOf" srcId="{568A7836-AB39-4376-8B9C-1A25451D467F}" destId="{AAAB6BCB-9747-4214-8DD6-18393DBA0E82}" srcOrd="0" destOrd="0" presId="urn:microsoft.com/office/officeart/2018/2/layout/IconLabelList"/>
    <dgm:cxn modelId="{597195FA-7E31-4011-80F8-85502BC78C4B}" type="presParOf" srcId="{568A7836-AB39-4376-8B9C-1A25451D467F}" destId="{4887136F-5BD9-49B0-B4C7-73A89314CF23}" srcOrd="1" destOrd="0" presId="urn:microsoft.com/office/officeart/2018/2/layout/IconLabelList"/>
    <dgm:cxn modelId="{1B182E14-C584-44C9-8398-CAB688160751}" type="presParOf" srcId="{568A7836-AB39-4376-8B9C-1A25451D467F}" destId="{0EF87985-7C6B-49DD-9C8F-2B0EB7C11CED}" srcOrd="2" destOrd="0" presId="urn:microsoft.com/office/officeart/2018/2/layout/IconLabelList"/>
    <dgm:cxn modelId="{F451A4C1-3A43-4FAD-B8A6-696AE675E68D}" type="presParOf" srcId="{282982F5-7937-4F24-8EF9-30E89C5743BD}" destId="{3A9CA315-8EDD-4D76-9994-6C9EA4FE1FA4}" srcOrd="1" destOrd="0" presId="urn:microsoft.com/office/officeart/2018/2/layout/IconLabelList"/>
    <dgm:cxn modelId="{850C4EAD-B83D-496C-AB53-AECA73F55DED}" type="presParOf" srcId="{282982F5-7937-4F24-8EF9-30E89C5743BD}" destId="{E2EE647E-0FD9-417F-840E-FAC7A370E751}" srcOrd="2" destOrd="0" presId="urn:microsoft.com/office/officeart/2018/2/layout/IconLabelList"/>
    <dgm:cxn modelId="{018DDEA0-759C-4AA1-86DE-38A88E71A0CF}" type="presParOf" srcId="{E2EE647E-0FD9-417F-840E-FAC7A370E751}" destId="{41DC9772-225C-407D-BD19-B3147E6D9819}" srcOrd="0" destOrd="0" presId="urn:microsoft.com/office/officeart/2018/2/layout/IconLabelList"/>
    <dgm:cxn modelId="{C3740F07-D9EA-431F-BE20-F87A43549228}" type="presParOf" srcId="{E2EE647E-0FD9-417F-840E-FAC7A370E751}" destId="{A31E52AC-8464-4E7A-8B16-F10529D41311}" srcOrd="1" destOrd="0" presId="urn:microsoft.com/office/officeart/2018/2/layout/IconLabelList"/>
    <dgm:cxn modelId="{626D7141-BC53-46FE-BAA5-A6B6BDCF07DB}" type="presParOf" srcId="{E2EE647E-0FD9-417F-840E-FAC7A370E751}" destId="{09AB88A7-2627-4DF0-BF52-D26CCAF33E62}" srcOrd="2" destOrd="0" presId="urn:microsoft.com/office/officeart/2018/2/layout/IconLabelList"/>
    <dgm:cxn modelId="{C676236B-8279-44E6-B652-E4DC516E2016}" type="presParOf" srcId="{282982F5-7937-4F24-8EF9-30E89C5743BD}" destId="{BE9F0239-61CC-413E-9E1C-980E9B412F4B}" srcOrd="3" destOrd="0" presId="urn:microsoft.com/office/officeart/2018/2/layout/IconLabelList"/>
    <dgm:cxn modelId="{8DC6ED2C-D9E0-4478-8F43-5BF34DEF3370}" type="presParOf" srcId="{282982F5-7937-4F24-8EF9-30E89C5743BD}" destId="{163D4425-75E5-4E1E-9A0E-4FA16A9BA576}" srcOrd="4" destOrd="0" presId="urn:microsoft.com/office/officeart/2018/2/layout/IconLabelList"/>
    <dgm:cxn modelId="{342659B5-5CEA-4065-B913-A442723F0D5F}" type="presParOf" srcId="{163D4425-75E5-4E1E-9A0E-4FA16A9BA576}" destId="{2A5F3CBE-F0D2-4432-B9D6-01B5BFC77830}" srcOrd="0" destOrd="0" presId="urn:microsoft.com/office/officeart/2018/2/layout/IconLabelList"/>
    <dgm:cxn modelId="{DD624C3C-DF5E-4F45-949A-795ED2CE26F6}" type="presParOf" srcId="{163D4425-75E5-4E1E-9A0E-4FA16A9BA576}" destId="{51A254ED-D23F-4A51-B05B-E6EE2A073835}" srcOrd="1" destOrd="0" presId="urn:microsoft.com/office/officeart/2018/2/layout/IconLabelList"/>
    <dgm:cxn modelId="{BFB4ADB8-1805-46F0-AF71-4B0F9D37A362}" type="presParOf" srcId="{163D4425-75E5-4E1E-9A0E-4FA16A9BA576}" destId="{C495A633-2720-44EE-B3BF-E7DC771F4716}"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8D5FAD5-1FF1-4321-810E-4999AB4770EC}" type="doc">
      <dgm:prSet loTypeId="urn:microsoft.com/office/officeart/2005/8/layout/hierarchy3" loCatId="hierarchy" qsTypeId="urn:microsoft.com/office/officeart/2005/8/quickstyle/simple4" qsCatId="simple" csTypeId="urn:microsoft.com/office/officeart/2005/8/colors/colorful1" csCatId="colorful"/>
      <dgm:spPr/>
      <dgm:t>
        <a:bodyPr/>
        <a:lstStyle/>
        <a:p>
          <a:endParaRPr lang="en-US"/>
        </a:p>
      </dgm:t>
    </dgm:pt>
    <dgm:pt modelId="{FDE6605F-F2B3-4802-A389-7BE7733DAB02}">
      <dgm:prSet/>
      <dgm:spPr/>
      <dgm:t>
        <a:bodyPr/>
        <a:lstStyle/>
        <a:p>
          <a:r>
            <a:rPr lang="en-US" dirty="0" err="1"/>
            <a:t>PySimpleGUI</a:t>
          </a:r>
          <a:endParaRPr lang="en-US" dirty="0"/>
        </a:p>
      </dgm:t>
    </dgm:pt>
    <dgm:pt modelId="{93D6A710-1875-4850-9ED2-512C8FB325CF}" type="parTrans" cxnId="{00B78965-F31C-4AC5-9082-E28B33EBACFB}">
      <dgm:prSet/>
      <dgm:spPr/>
      <dgm:t>
        <a:bodyPr/>
        <a:lstStyle/>
        <a:p>
          <a:endParaRPr lang="en-US"/>
        </a:p>
      </dgm:t>
    </dgm:pt>
    <dgm:pt modelId="{6EADA146-C9B7-4B41-AF42-A6DAA31D8CA2}" type="sibTrans" cxnId="{00B78965-F31C-4AC5-9082-E28B33EBACFB}">
      <dgm:prSet/>
      <dgm:spPr/>
      <dgm:t>
        <a:bodyPr/>
        <a:lstStyle/>
        <a:p>
          <a:endParaRPr lang="en-US"/>
        </a:p>
      </dgm:t>
    </dgm:pt>
    <dgm:pt modelId="{EA9BA5BE-8E44-4536-85C4-1F859DDAE9CF}">
      <dgm:prSet/>
      <dgm:spPr/>
      <dgm:t>
        <a:bodyPr/>
        <a:lstStyle/>
        <a:p>
          <a:r>
            <a:rPr lang="en-US" dirty="0" err="1"/>
            <a:t>gTTS</a:t>
          </a:r>
          <a:endParaRPr lang="en-US" dirty="0"/>
        </a:p>
      </dgm:t>
    </dgm:pt>
    <dgm:pt modelId="{3C48DE3C-81BF-4FBF-8535-A93DD1781B30}" type="parTrans" cxnId="{73AFFECF-E29A-4502-B08B-A5B5670AA9FF}">
      <dgm:prSet/>
      <dgm:spPr/>
      <dgm:t>
        <a:bodyPr/>
        <a:lstStyle/>
        <a:p>
          <a:endParaRPr lang="en-US"/>
        </a:p>
      </dgm:t>
    </dgm:pt>
    <dgm:pt modelId="{89906697-EBB2-4B58-84CD-133CF8631222}" type="sibTrans" cxnId="{73AFFECF-E29A-4502-B08B-A5B5670AA9FF}">
      <dgm:prSet/>
      <dgm:spPr/>
      <dgm:t>
        <a:bodyPr/>
        <a:lstStyle/>
        <a:p>
          <a:endParaRPr lang="en-US"/>
        </a:p>
      </dgm:t>
    </dgm:pt>
    <dgm:pt modelId="{0E60630F-6B51-490C-BC6A-EEAFCE4B0220}">
      <dgm:prSet/>
      <dgm:spPr/>
      <dgm:t>
        <a:bodyPr/>
        <a:lstStyle/>
        <a:p>
          <a:r>
            <a:rPr lang="en-US" dirty="0"/>
            <a:t>chatterbot</a:t>
          </a:r>
        </a:p>
      </dgm:t>
    </dgm:pt>
    <dgm:pt modelId="{ECC8160A-2952-4414-AC6D-0FFD01789B33}" type="parTrans" cxnId="{7897AA88-3325-4764-AC30-3CFF75955B33}">
      <dgm:prSet/>
      <dgm:spPr/>
      <dgm:t>
        <a:bodyPr/>
        <a:lstStyle/>
        <a:p>
          <a:endParaRPr lang="en-US"/>
        </a:p>
      </dgm:t>
    </dgm:pt>
    <dgm:pt modelId="{5B7E8D51-2441-406F-A5A5-E35181358D48}" type="sibTrans" cxnId="{7897AA88-3325-4764-AC30-3CFF75955B33}">
      <dgm:prSet/>
      <dgm:spPr/>
      <dgm:t>
        <a:bodyPr/>
        <a:lstStyle/>
        <a:p>
          <a:endParaRPr lang="en-US"/>
        </a:p>
      </dgm:t>
    </dgm:pt>
    <dgm:pt modelId="{206F9294-42D8-3C42-8422-D71AB6BA9A79}" type="pres">
      <dgm:prSet presAssocID="{A8D5FAD5-1FF1-4321-810E-4999AB4770EC}" presName="diagram" presStyleCnt="0">
        <dgm:presLayoutVars>
          <dgm:chPref val="1"/>
          <dgm:dir/>
          <dgm:animOne val="branch"/>
          <dgm:animLvl val="lvl"/>
          <dgm:resizeHandles/>
        </dgm:presLayoutVars>
      </dgm:prSet>
      <dgm:spPr/>
    </dgm:pt>
    <dgm:pt modelId="{4E400DAF-EFD7-F143-B849-C8F86CB048CC}" type="pres">
      <dgm:prSet presAssocID="{FDE6605F-F2B3-4802-A389-7BE7733DAB02}" presName="root" presStyleCnt="0"/>
      <dgm:spPr/>
    </dgm:pt>
    <dgm:pt modelId="{C5656807-FC36-FD4E-AE87-16B5739A24B9}" type="pres">
      <dgm:prSet presAssocID="{FDE6605F-F2B3-4802-A389-7BE7733DAB02}" presName="rootComposite" presStyleCnt="0"/>
      <dgm:spPr/>
    </dgm:pt>
    <dgm:pt modelId="{B91453FC-87B6-4B4F-82F0-E8F2F575735E}" type="pres">
      <dgm:prSet presAssocID="{FDE6605F-F2B3-4802-A389-7BE7733DAB02}" presName="rootText" presStyleLbl="node1" presStyleIdx="0" presStyleCnt="3" custLinFactNeighborX="-38495" custLinFactNeighborY="1667"/>
      <dgm:spPr/>
    </dgm:pt>
    <dgm:pt modelId="{DF992EEA-F19D-2C4F-AD2E-B42098B3E3AE}" type="pres">
      <dgm:prSet presAssocID="{FDE6605F-F2B3-4802-A389-7BE7733DAB02}" presName="rootConnector" presStyleLbl="node1" presStyleIdx="0" presStyleCnt="3"/>
      <dgm:spPr/>
    </dgm:pt>
    <dgm:pt modelId="{1C2BDA63-0621-1A49-AFA2-F6D6229FEB7B}" type="pres">
      <dgm:prSet presAssocID="{FDE6605F-F2B3-4802-A389-7BE7733DAB02}" presName="childShape" presStyleCnt="0"/>
      <dgm:spPr/>
    </dgm:pt>
    <dgm:pt modelId="{616D2AC5-897B-9846-8D13-EBB7176C96A4}" type="pres">
      <dgm:prSet presAssocID="{EA9BA5BE-8E44-4536-85C4-1F859DDAE9CF}" presName="root" presStyleCnt="0"/>
      <dgm:spPr/>
    </dgm:pt>
    <dgm:pt modelId="{95540C18-F952-8244-BDCF-36DC1D6C3B0E}" type="pres">
      <dgm:prSet presAssocID="{EA9BA5BE-8E44-4536-85C4-1F859DDAE9CF}" presName="rootComposite" presStyleCnt="0"/>
      <dgm:spPr/>
    </dgm:pt>
    <dgm:pt modelId="{DC436718-8B6A-5C45-9709-F8D9323A97A2}" type="pres">
      <dgm:prSet presAssocID="{EA9BA5BE-8E44-4536-85C4-1F859DDAE9CF}" presName="rootText" presStyleLbl="node1" presStyleIdx="1" presStyleCnt="3"/>
      <dgm:spPr/>
    </dgm:pt>
    <dgm:pt modelId="{376B7293-A1CB-074A-B31B-0D0834444367}" type="pres">
      <dgm:prSet presAssocID="{EA9BA5BE-8E44-4536-85C4-1F859DDAE9CF}" presName="rootConnector" presStyleLbl="node1" presStyleIdx="1" presStyleCnt="3"/>
      <dgm:spPr/>
    </dgm:pt>
    <dgm:pt modelId="{79164E51-4C14-AA4E-A41C-890BF6A0A81F}" type="pres">
      <dgm:prSet presAssocID="{EA9BA5BE-8E44-4536-85C4-1F859DDAE9CF}" presName="childShape" presStyleCnt="0"/>
      <dgm:spPr/>
    </dgm:pt>
    <dgm:pt modelId="{376EBE13-9E8B-0D4C-B802-83D1A55C1235}" type="pres">
      <dgm:prSet presAssocID="{0E60630F-6B51-490C-BC6A-EEAFCE4B0220}" presName="root" presStyleCnt="0"/>
      <dgm:spPr/>
    </dgm:pt>
    <dgm:pt modelId="{D760CCB2-97A2-714D-9FF0-8DC79216FE23}" type="pres">
      <dgm:prSet presAssocID="{0E60630F-6B51-490C-BC6A-EEAFCE4B0220}" presName="rootComposite" presStyleCnt="0"/>
      <dgm:spPr/>
    </dgm:pt>
    <dgm:pt modelId="{D891C22C-A3E8-8A46-8C4E-2B21A917AF03}" type="pres">
      <dgm:prSet presAssocID="{0E60630F-6B51-490C-BC6A-EEAFCE4B0220}" presName="rootText" presStyleLbl="node1" presStyleIdx="2" presStyleCnt="3" custLinFactNeighborX="36679" custLinFactNeighborY="1684"/>
      <dgm:spPr/>
    </dgm:pt>
    <dgm:pt modelId="{F6E23275-CC71-6C4D-BBCA-6FBB3910C453}" type="pres">
      <dgm:prSet presAssocID="{0E60630F-6B51-490C-BC6A-EEAFCE4B0220}" presName="rootConnector" presStyleLbl="node1" presStyleIdx="2" presStyleCnt="3"/>
      <dgm:spPr/>
    </dgm:pt>
    <dgm:pt modelId="{8E8AB6B3-D302-314F-BBA2-68F84A985C1E}" type="pres">
      <dgm:prSet presAssocID="{0E60630F-6B51-490C-BC6A-EEAFCE4B0220}" presName="childShape" presStyleCnt="0"/>
      <dgm:spPr/>
    </dgm:pt>
  </dgm:ptLst>
  <dgm:cxnLst>
    <dgm:cxn modelId="{997FD809-FAE7-2543-A595-FEBE120F805D}" type="presOf" srcId="{A8D5FAD5-1FF1-4321-810E-4999AB4770EC}" destId="{206F9294-42D8-3C42-8422-D71AB6BA9A79}" srcOrd="0" destOrd="0" presId="urn:microsoft.com/office/officeart/2005/8/layout/hierarchy3"/>
    <dgm:cxn modelId="{953DFC19-ECB4-CD4A-B15D-8341AB891523}" type="presOf" srcId="{EA9BA5BE-8E44-4536-85C4-1F859DDAE9CF}" destId="{DC436718-8B6A-5C45-9709-F8D9323A97A2}" srcOrd="0" destOrd="0" presId="urn:microsoft.com/office/officeart/2005/8/layout/hierarchy3"/>
    <dgm:cxn modelId="{3AFC834A-9D30-2C4D-AA59-D1C4932B3036}" type="presOf" srcId="{0E60630F-6B51-490C-BC6A-EEAFCE4B0220}" destId="{D891C22C-A3E8-8A46-8C4E-2B21A917AF03}" srcOrd="0" destOrd="0" presId="urn:microsoft.com/office/officeart/2005/8/layout/hierarchy3"/>
    <dgm:cxn modelId="{A46E5351-57E7-EF4B-A097-53C9154F1433}" type="presOf" srcId="{FDE6605F-F2B3-4802-A389-7BE7733DAB02}" destId="{B91453FC-87B6-4B4F-82F0-E8F2F575735E}" srcOrd="0" destOrd="0" presId="urn:microsoft.com/office/officeart/2005/8/layout/hierarchy3"/>
    <dgm:cxn modelId="{00B78965-F31C-4AC5-9082-E28B33EBACFB}" srcId="{A8D5FAD5-1FF1-4321-810E-4999AB4770EC}" destId="{FDE6605F-F2B3-4802-A389-7BE7733DAB02}" srcOrd="0" destOrd="0" parTransId="{93D6A710-1875-4850-9ED2-512C8FB325CF}" sibTransId="{6EADA146-C9B7-4B41-AF42-A6DAA31D8CA2}"/>
    <dgm:cxn modelId="{2812F074-2F5B-7540-9669-EF82E72A6782}" type="presOf" srcId="{EA9BA5BE-8E44-4536-85C4-1F859DDAE9CF}" destId="{376B7293-A1CB-074A-B31B-0D0834444367}" srcOrd="1" destOrd="0" presId="urn:microsoft.com/office/officeart/2005/8/layout/hierarchy3"/>
    <dgm:cxn modelId="{7897AA88-3325-4764-AC30-3CFF75955B33}" srcId="{A8D5FAD5-1FF1-4321-810E-4999AB4770EC}" destId="{0E60630F-6B51-490C-BC6A-EEAFCE4B0220}" srcOrd="2" destOrd="0" parTransId="{ECC8160A-2952-4414-AC6D-0FFD01789B33}" sibTransId="{5B7E8D51-2441-406F-A5A5-E35181358D48}"/>
    <dgm:cxn modelId="{46AD3290-646F-E041-A1C0-D1CCC264C56F}" type="presOf" srcId="{FDE6605F-F2B3-4802-A389-7BE7733DAB02}" destId="{DF992EEA-F19D-2C4F-AD2E-B42098B3E3AE}" srcOrd="1" destOrd="0" presId="urn:microsoft.com/office/officeart/2005/8/layout/hierarchy3"/>
    <dgm:cxn modelId="{B26805A5-A371-8E4E-9A16-512F26B5268A}" type="presOf" srcId="{0E60630F-6B51-490C-BC6A-EEAFCE4B0220}" destId="{F6E23275-CC71-6C4D-BBCA-6FBB3910C453}" srcOrd="1" destOrd="0" presId="urn:microsoft.com/office/officeart/2005/8/layout/hierarchy3"/>
    <dgm:cxn modelId="{73AFFECF-E29A-4502-B08B-A5B5670AA9FF}" srcId="{A8D5FAD5-1FF1-4321-810E-4999AB4770EC}" destId="{EA9BA5BE-8E44-4536-85C4-1F859DDAE9CF}" srcOrd="1" destOrd="0" parTransId="{3C48DE3C-81BF-4FBF-8535-A93DD1781B30}" sibTransId="{89906697-EBB2-4B58-84CD-133CF8631222}"/>
    <dgm:cxn modelId="{FDF20FCB-1F65-D241-B8EB-E9560AC22EC0}" type="presParOf" srcId="{206F9294-42D8-3C42-8422-D71AB6BA9A79}" destId="{4E400DAF-EFD7-F143-B849-C8F86CB048CC}" srcOrd="0" destOrd="0" presId="urn:microsoft.com/office/officeart/2005/8/layout/hierarchy3"/>
    <dgm:cxn modelId="{7BA3A4EC-2CE7-DC4D-BB9A-7D67F0596EBC}" type="presParOf" srcId="{4E400DAF-EFD7-F143-B849-C8F86CB048CC}" destId="{C5656807-FC36-FD4E-AE87-16B5739A24B9}" srcOrd="0" destOrd="0" presId="urn:microsoft.com/office/officeart/2005/8/layout/hierarchy3"/>
    <dgm:cxn modelId="{7D81AC3D-E9F9-8C40-80FE-78C61C8AB91A}" type="presParOf" srcId="{C5656807-FC36-FD4E-AE87-16B5739A24B9}" destId="{B91453FC-87B6-4B4F-82F0-E8F2F575735E}" srcOrd="0" destOrd="0" presId="urn:microsoft.com/office/officeart/2005/8/layout/hierarchy3"/>
    <dgm:cxn modelId="{01C99176-A083-5A45-8872-C0BFFBF71D38}" type="presParOf" srcId="{C5656807-FC36-FD4E-AE87-16B5739A24B9}" destId="{DF992EEA-F19D-2C4F-AD2E-B42098B3E3AE}" srcOrd="1" destOrd="0" presId="urn:microsoft.com/office/officeart/2005/8/layout/hierarchy3"/>
    <dgm:cxn modelId="{8C8C1B2C-1C6D-E349-AE67-9AB840C87E70}" type="presParOf" srcId="{4E400DAF-EFD7-F143-B849-C8F86CB048CC}" destId="{1C2BDA63-0621-1A49-AFA2-F6D6229FEB7B}" srcOrd="1" destOrd="0" presId="urn:microsoft.com/office/officeart/2005/8/layout/hierarchy3"/>
    <dgm:cxn modelId="{69A09555-3713-0147-B75B-E3098723AAFE}" type="presParOf" srcId="{206F9294-42D8-3C42-8422-D71AB6BA9A79}" destId="{616D2AC5-897B-9846-8D13-EBB7176C96A4}" srcOrd="1" destOrd="0" presId="urn:microsoft.com/office/officeart/2005/8/layout/hierarchy3"/>
    <dgm:cxn modelId="{71256235-4CEA-8C44-9CED-8F5E191DDBE1}" type="presParOf" srcId="{616D2AC5-897B-9846-8D13-EBB7176C96A4}" destId="{95540C18-F952-8244-BDCF-36DC1D6C3B0E}" srcOrd="0" destOrd="0" presId="urn:microsoft.com/office/officeart/2005/8/layout/hierarchy3"/>
    <dgm:cxn modelId="{DA0617A4-EFE7-7140-928A-7E190A7FB3BA}" type="presParOf" srcId="{95540C18-F952-8244-BDCF-36DC1D6C3B0E}" destId="{DC436718-8B6A-5C45-9709-F8D9323A97A2}" srcOrd="0" destOrd="0" presId="urn:microsoft.com/office/officeart/2005/8/layout/hierarchy3"/>
    <dgm:cxn modelId="{5E71C131-70D9-5040-B13F-3C447AF22F9F}" type="presParOf" srcId="{95540C18-F952-8244-BDCF-36DC1D6C3B0E}" destId="{376B7293-A1CB-074A-B31B-0D0834444367}" srcOrd="1" destOrd="0" presId="urn:microsoft.com/office/officeart/2005/8/layout/hierarchy3"/>
    <dgm:cxn modelId="{8B776796-C981-8B4B-8451-E4789EA6DABF}" type="presParOf" srcId="{616D2AC5-897B-9846-8D13-EBB7176C96A4}" destId="{79164E51-4C14-AA4E-A41C-890BF6A0A81F}" srcOrd="1" destOrd="0" presId="urn:microsoft.com/office/officeart/2005/8/layout/hierarchy3"/>
    <dgm:cxn modelId="{3C190079-3FB8-7F47-9468-B086C3D95BEF}" type="presParOf" srcId="{206F9294-42D8-3C42-8422-D71AB6BA9A79}" destId="{376EBE13-9E8B-0D4C-B802-83D1A55C1235}" srcOrd="2" destOrd="0" presId="urn:microsoft.com/office/officeart/2005/8/layout/hierarchy3"/>
    <dgm:cxn modelId="{04773845-A8BB-B44B-9900-5C3F527A73E2}" type="presParOf" srcId="{376EBE13-9E8B-0D4C-B802-83D1A55C1235}" destId="{D760CCB2-97A2-714D-9FF0-8DC79216FE23}" srcOrd="0" destOrd="0" presId="urn:microsoft.com/office/officeart/2005/8/layout/hierarchy3"/>
    <dgm:cxn modelId="{53FDA588-3234-534E-83FA-869C025D30EE}" type="presParOf" srcId="{D760CCB2-97A2-714D-9FF0-8DC79216FE23}" destId="{D891C22C-A3E8-8A46-8C4E-2B21A917AF03}" srcOrd="0" destOrd="0" presId="urn:microsoft.com/office/officeart/2005/8/layout/hierarchy3"/>
    <dgm:cxn modelId="{847538D6-9F49-D545-9C22-67167260316D}" type="presParOf" srcId="{D760CCB2-97A2-714D-9FF0-8DC79216FE23}" destId="{F6E23275-CC71-6C4D-BBCA-6FBB3910C453}" srcOrd="1" destOrd="0" presId="urn:microsoft.com/office/officeart/2005/8/layout/hierarchy3"/>
    <dgm:cxn modelId="{1E8D7994-14F2-404C-87EA-1089DED8FE8F}" type="presParOf" srcId="{376EBE13-9E8B-0D4C-B802-83D1A55C1235}" destId="{8E8AB6B3-D302-314F-BBA2-68F84A985C1E}"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AB6BCB-9747-4214-8DD6-18393DBA0E82}">
      <dsp:nvSpPr>
        <dsp:cNvPr id="0" name=""/>
        <dsp:cNvSpPr/>
      </dsp:nvSpPr>
      <dsp:spPr>
        <a:xfrm>
          <a:off x="1076018" y="489032"/>
          <a:ext cx="1489740" cy="14598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EF87985-7C6B-49DD-9C8F-2B0EB7C11CED}">
      <dsp:nvSpPr>
        <dsp:cNvPr id="0" name=""/>
        <dsp:cNvSpPr/>
      </dsp:nvSpPr>
      <dsp:spPr>
        <a:xfrm>
          <a:off x="228087" y="2246842"/>
          <a:ext cx="3333050" cy="96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Introducing our medical bot: </a:t>
          </a:r>
        </a:p>
      </dsp:txBody>
      <dsp:txXfrm>
        <a:off x="228087" y="2246842"/>
        <a:ext cx="3333050" cy="967500"/>
      </dsp:txXfrm>
    </dsp:sp>
    <dsp:sp modelId="{41DC9772-225C-407D-BD19-B3147E6D9819}">
      <dsp:nvSpPr>
        <dsp:cNvPr id="0" name=""/>
        <dsp:cNvSpPr/>
      </dsp:nvSpPr>
      <dsp:spPr>
        <a:xfrm>
          <a:off x="4510442" y="461381"/>
          <a:ext cx="1577057" cy="157043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9AB88A7-2627-4DF0-BF52-D26CCAF33E62}">
      <dsp:nvSpPr>
        <dsp:cNvPr id="0" name=""/>
        <dsp:cNvSpPr/>
      </dsp:nvSpPr>
      <dsp:spPr>
        <a:xfrm>
          <a:off x="3957076" y="2234428"/>
          <a:ext cx="2683788" cy="96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Users can upload their CT/MR scan to it</a:t>
          </a:r>
        </a:p>
      </dsp:txBody>
      <dsp:txXfrm>
        <a:off x="3957076" y="2234428"/>
        <a:ext cx="2683788" cy="967500"/>
      </dsp:txXfrm>
    </dsp:sp>
    <dsp:sp modelId="{2A5F3CBE-F0D2-4432-B9D6-01B5BFC77830}">
      <dsp:nvSpPr>
        <dsp:cNvPr id="0" name=""/>
        <dsp:cNvSpPr/>
      </dsp:nvSpPr>
      <dsp:spPr>
        <a:xfrm>
          <a:off x="8301684" y="438341"/>
          <a:ext cx="1579871" cy="166259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495A633-2720-44EE-B3BF-E7DC771F4716}">
      <dsp:nvSpPr>
        <dsp:cNvPr id="0" name=""/>
        <dsp:cNvSpPr/>
      </dsp:nvSpPr>
      <dsp:spPr>
        <a:xfrm>
          <a:off x="7110528" y="2257468"/>
          <a:ext cx="3962184" cy="96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pPr>
          <a:r>
            <a:rPr lang="en-US" sz="2000" kern="1200" dirty="0"/>
            <a:t>The bot will reply the diagnoses result to the user </a:t>
          </a:r>
        </a:p>
        <a:p>
          <a:pPr marL="0" lvl="0" indent="0" algn="ctr" defTabSz="889000">
            <a:lnSpc>
              <a:spcPct val="90000"/>
            </a:lnSpc>
            <a:spcBef>
              <a:spcPct val="0"/>
            </a:spcBef>
            <a:spcAft>
              <a:spcPct val="35000"/>
            </a:spcAft>
            <a:buNone/>
          </a:pPr>
          <a:r>
            <a:rPr lang="en-US" sz="2000" kern="1200" dirty="0"/>
            <a:t>(in both text and speech)</a:t>
          </a:r>
        </a:p>
      </dsp:txBody>
      <dsp:txXfrm>
        <a:off x="7110528" y="2257468"/>
        <a:ext cx="3962184" cy="9675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1453FC-87B6-4B4F-82F0-E8F2F575735E}">
      <dsp:nvSpPr>
        <dsp:cNvPr id="0" name=""/>
        <dsp:cNvSpPr/>
      </dsp:nvSpPr>
      <dsp:spPr>
        <a:xfrm>
          <a:off x="0" y="406"/>
          <a:ext cx="2384572" cy="1192286"/>
        </a:xfrm>
        <a:prstGeom prst="roundRect">
          <a:avLst>
            <a:gd name="adj" fmla="val 10000"/>
          </a:avLst>
        </a:prstGeom>
        <a:blipFill rotWithShape="1">
          <a:blip xmlns:r="http://schemas.openxmlformats.org/officeDocument/2006/relationships" r:embed="rId1">
            <a:duotone>
              <a:schemeClr val="accent2">
                <a:hueOff val="0"/>
                <a:satOff val="0"/>
                <a:lumOff val="0"/>
                <a:alphaOff val="0"/>
                <a:tint val="98000"/>
                <a:lumMod val="102000"/>
              </a:schemeClr>
              <a:schemeClr val="accent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kern="1200" dirty="0" err="1"/>
            <a:t>PySimpleGUI</a:t>
          </a:r>
          <a:endParaRPr lang="en-US" sz="2800" kern="1200" dirty="0"/>
        </a:p>
      </dsp:txBody>
      <dsp:txXfrm>
        <a:off x="34921" y="35327"/>
        <a:ext cx="2314730" cy="1122444"/>
      </dsp:txXfrm>
    </dsp:sp>
    <dsp:sp modelId="{DC436718-8B6A-5C45-9709-F8D9323A97A2}">
      <dsp:nvSpPr>
        <dsp:cNvPr id="0" name=""/>
        <dsp:cNvSpPr/>
      </dsp:nvSpPr>
      <dsp:spPr>
        <a:xfrm>
          <a:off x="3889508" y="203"/>
          <a:ext cx="2384572" cy="1192286"/>
        </a:xfrm>
        <a:prstGeom prst="roundRect">
          <a:avLst>
            <a:gd name="adj" fmla="val 10000"/>
          </a:avLst>
        </a:prstGeom>
        <a:blipFill rotWithShape="1">
          <a:blip xmlns:r="http://schemas.openxmlformats.org/officeDocument/2006/relationships" r:embed="rId1">
            <a:duotone>
              <a:schemeClr val="accent3">
                <a:hueOff val="0"/>
                <a:satOff val="0"/>
                <a:lumOff val="0"/>
                <a:alphaOff val="0"/>
                <a:tint val="98000"/>
                <a:lumMod val="102000"/>
              </a:schemeClr>
              <a:schemeClr val="accent3">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kern="1200" dirty="0" err="1"/>
            <a:t>gTTS</a:t>
          </a:r>
          <a:endParaRPr lang="en-US" sz="2800" kern="1200" dirty="0"/>
        </a:p>
      </dsp:txBody>
      <dsp:txXfrm>
        <a:off x="3924429" y="35124"/>
        <a:ext cx="2314730" cy="1122444"/>
      </dsp:txXfrm>
    </dsp:sp>
    <dsp:sp modelId="{D891C22C-A3E8-8A46-8C4E-2B21A917AF03}">
      <dsp:nvSpPr>
        <dsp:cNvPr id="0" name=""/>
        <dsp:cNvSpPr/>
      </dsp:nvSpPr>
      <dsp:spPr>
        <a:xfrm>
          <a:off x="7744861" y="406"/>
          <a:ext cx="2384572" cy="1192286"/>
        </a:xfrm>
        <a:prstGeom prst="roundRect">
          <a:avLst>
            <a:gd name="adj" fmla="val 10000"/>
          </a:avLst>
        </a:prstGeom>
        <a:blipFill rotWithShape="1">
          <a:blip xmlns:r="http://schemas.openxmlformats.org/officeDocument/2006/relationships" r:embed="rId1">
            <a:duotone>
              <a:schemeClr val="accent4">
                <a:hueOff val="0"/>
                <a:satOff val="0"/>
                <a:lumOff val="0"/>
                <a:alphaOff val="0"/>
                <a:tint val="98000"/>
                <a:lumMod val="102000"/>
              </a:schemeClr>
              <a:schemeClr val="accent4">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kern="1200" dirty="0"/>
            <a:t>chatterbot</a:t>
          </a:r>
        </a:p>
      </dsp:txBody>
      <dsp:txXfrm>
        <a:off x="7779782" y="35327"/>
        <a:ext cx="2314730" cy="1122444"/>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97CB1F-A6CF-2044-A0F4-D299934A9CBC}" type="datetimeFigureOut">
              <a:rPr lang="en-US" smtClean="0"/>
              <a:t>12/5/20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A68A31-2ACB-8646-AA53-FDEA0719138B}" type="slidenum">
              <a:rPr lang="en-US" smtClean="0"/>
              <a:t>‹#›</a:t>
            </a:fld>
            <a:endParaRPr lang="en-US"/>
          </a:p>
        </p:txBody>
      </p:sp>
    </p:spTree>
    <p:extLst>
      <p:ext uri="{BB962C8B-B14F-4D97-AF65-F5344CB8AC3E}">
        <p14:creationId xmlns:p14="http://schemas.microsoft.com/office/powerpoint/2010/main" val="1315075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CA68A31-2ACB-8646-AA53-FDEA0719138B}" type="slidenum">
              <a:rPr lang="en-US" smtClean="0"/>
              <a:t>13</a:t>
            </a:fld>
            <a:endParaRPr lang="en-US"/>
          </a:p>
        </p:txBody>
      </p:sp>
    </p:spTree>
    <p:extLst>
      <p:ext uri="{BB962C8B-B14F-4D97-AF65-F5344CB8AC3E}">
        <p14:creationId xmlns:p14="http://schemas.microsoft.com/office/powerpoint/2010/main" val="2055828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12/5/20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12/5/20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12/5/20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12/5/20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12/5/20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12/5/20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12/5/20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12/5/20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12/5/20</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12/5/20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12/5/20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12/5/20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12/5/20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12/5/20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12/5/20</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diagramLayout" Target="../diagrams/layout2.xml"/><Relationship Id="rId7" Type="http://schemas.openxmlformats.org/officeDocument/2006/relationships/image" Target="../media/image8.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8EE457FF-670E-4EC1-ACD4-1173DA9A7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useBgFill="1">
        <p:nvSpPr>
          <p:cNvPr id="10" name="Rectangle 9">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8B41BF00-0B51-9747-A77D-1BB0EA0D64BE}"/>
              </a:ext>
            </a:extLst>
          </p:cNvPr>
          <p:cNvSpPr>
            <a:spLocks noGrp="1"/>
          </p:cNvSpPr>
          <p:nvPr>
            <p:ph type="ctrTitle"/>
          </p:nvPr>
        </p:nvSpPr>
        <p:spPr>
          <a:xfrm>
            <a:off x="451515" y="1734857"/>
            <a:ext cx="4855982" cy="3388287"/>
          </a:xfrm>
        </p:spPr>
        <p:txBody>
          <a:bodyPr vert="horz" lIns="91440" tIns="45720" rIns="91440" bIns="45720" rtlCol="0" anchor="ctr">
            <a:normAutofit/>
          </a:bodyPr>
          <a:lstStyle/>
          <a:p>
            <a:r>
              <a:rPr lang="en-US" dirty="0"/>
              <a:t>Final Project Presentation </a:t>
            </a:r>
          </a:p>
        </p:txBody>
      </p:sp>
      <p:sp>
        <p:nvSpPr>
          <p:cNvPr id="3" name="Subtitle 2">
            <a:extLst>
              <a:ext uri="{FF2B5EF4-FFF2-40B4-BE49-F238E27FC236}">
                <a16:creationId xmlns:a16="http://schemas.microsoft.com/office/drawing/2014/main" id="{869F41B3-5F5F-254A-9D3F-81FDB1E4E6C6}"/>
              </a:ext>
            </a:extLst>
          </p:cNvPr>
          <p:cNvSpPr>
            <a:spLocks noGrp="1"/>
          </p:cNvSpPr>
          <p:nvPr>
            <p:ph type="subTitle" idx="1"/>
          </p:nvPr>
        </p:nvSpPr>
        <p:spPr>
          <a:xfrm>
            <a:off x="7484165" y="3696878"/>
            <a:ext cx="3740033" cy="2852531"/>
          </a:xfrm>
          <a:effectLst/>
        </p:spPr>
        <p:txBody>
          <a:bodyPr vert="horz" lIns="91440" tIns="45720" rIns="91440" bIns="45720" rtlCol="0" anchor="ctr">
            <a:normAutofit/>
          </a:bodyPr>
          <a:lstStyle/>
          <a:p>
            <a:r>
              <a:rPr lang="en-US" sz="2000" dirty="0"/>
              <a:t>Group 2: </a:t>
            </a:r>
          </a:p>
          <a:p>
            <a:pPr algn="r"/>
            <a:r>
              <a:rPr lang="en-US" sz="2000" dirty="0" err="1"/>
              <a:t>Shiyu</a:t>
            </a:r>
            <a:r>
              <a:rPr lang="en-US" sz="2000" dirty="0"/>
              <a:t> FAN</a:t>
            </a:r>
            <a:r>
              <a:rPr lang="en-US" altLang="zh-CN" sz="2000" dirty="0"/>
              <a:t> (Leo)</a:t>
            </a:r>
            <a:endParaRPr lang="en-US" sz="2000" dirty="0"/>
          </a:p>
          <a:p>
            <a:pPr algn="r"/>
            <a:r>
              <a:rPr lang="en-US" sz="2000" dirty="0" err="1"/>
              <a:t>Runhai</a:t>
            </a:r>
            <a:r>
              <a:rPr lang="en-US" sz="2000" dirty="0"/>
              <a:t> XU (James)</a:t>
            </a:r>
          </a:p>
          <a:p>
            <a:pPr algn="r"/>
            <a:r>
              <a:rPr lang="en-US" sz="2000" dirty="0" err="1"/>
              <a:t>Zhaohang</a:t>
            </a:r>
            <a:r>
              <a:rPr lang="en-US" sz="2000" dirty="0"/>
              <a:t> YAN (Martin)</a:t>
            </a:r>
          </a:p>
          <a:p>
            <a:pPr>
              <a:buFont typeface="Wingdings 2" charset="2"/>
              <a:buChar char=""/>
            </a:pPr>
            <a:endParaRPr lang="en-US" dirty="0"/>
          </a:p>
        </p:txBody>
      </p:sp>
    </p:spTree>
    <p:extLst>
      <p:ext uri="{BB962C8B-B14F-4D97-AF65-F5344CB8AC3E}">
        <p14:creationId xmlns:p14="http://schemas.microsoft.com/office/powerpoint/2010/main" val="4228174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5174D-158E-344A-917F-1D085A3719D1}"/>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4936FB81-127E-B447-88D1-BD418D607F40}"/>
              </a:ext>
            </a:extLst>
          </p:cNvPr>
          <p:cNvSpPr>
            <a:spLocks noGrp="1"/>
          </p:cNvSpPr>
          <p:nvPr>
            <p:ph idx="1"/>
          </p:nvPr>
        </p:nvSpPr>
        <p:spPr>
          <a:xfrm>
            <a:off x="818712" y="2222286"/>
            <a:ext cx="10554574" cy="4188525"/>
          </a:xfrm>
        </p:spPr>
        <p:txBody>
          <a:bodyPr>
            <a:normAutofit/>
          </a:bodyPr>
          <a:lstStyle/>
          <a:p>
            <a:endParaRPr lang="en-US" sz="2000" dirty="0"/>
          </a:p>
          <a:p>
            <a:r>
              <a:rPr lang="en-US" sz="2000" dirty="0"/>
              <a:t>Problem we focus: Diagnose Brain Tumor/ Brain Cancer</a:t>
            </a:r>
          </a:p>
          <a:p>
            <a:r>
              <a:rPr lang="en-US" sz="2000" dirty="0"/>
              <a:t>User Interface: Interactive medical chatbot</a:t>
            </a:r>
          </a:p>
          <a:p>
            <a:r>
              <a:rPr lang="en-US" sz="2000" dirty="0"/>
              <a:t>Image classification algo: YOLOv3-Fastest</a:t>
            </a:r>
            <a:endParaRPr lang="en-CA" sz="2000" dirty="0"/>
          </a:p>
          <a:p>
            <a:r>
              <a:rPr lang="en-CA" sz="2000" dirty="0"/>
              <a:t>User upload images using medical chatbot</a:t>
            </a:r>
          </a:p>
          <a:p>
            <a:r>
              <a:rPr lang="en-US" sz="2000" dirty="0"/>
              <a:t>Medical chatbot with </a:t>
            </a:r>
            <a:r>
              <a:rPr lang="en-US" sz="2000" dirty="0" err="1"/>
              <a:t>gTTS</a:t>
            </a:r>
            <a:r>
              <a:rPr lang="en-US" sz="2000" dirty="0"/>
              <a:t> can communicate the diagnoses result</a:t>
            </a:r>
          </a:p>
          <a:p>
            <a:endParaRPr lang="en-US" dirty="0"/>
          </a:p>
          <a:p>
            <a:pPr marL="0" indent="0">
              <a:buNone/>
            </a:pPr>
            <a:endParaRPr lang="en-US" dirty="0"/>
          </a:p>
        </p:txBody>
      </p:sp>
    </p:spTree>
    <p:extLst>
      <p:ext uri="{BB962C8B-B14F-4D97-AF65-F5344CB8AC3E}">
        <p14:creationId xmlns:p14="http://schemas.microsoft.com/office/powerpoint/2010/main" val="2662702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B5F73-ADC2-5B41-B65A-8CB7CC4029C8}"/>
              </a:ext>
            </a:extLst>
          </p:cNvPr>
          <p:cNvSpPr>
            <a:spLocks noGrp="1"/>
          </p:cNvSpPr>
          <p:nvPr>
            <p:ph type="title"/>
          </p:nvPr>
        </p:nvSpPr>
        <p:spPr>
          <a:xfrm>
            <a:off x="810000" y="447188"/>
            <a:ext cx="10571998" cy="970450"/>
          </a:xfrm>
        </p:spPr>
        <p:txBody>
          <a:bodyPr>
            <a:normAutofit/>
          </a:bodyPr>
          <a:lstStyle/>
          <a:p>
            <a:r>
              <a:rPr lang="en-US" dirty="0"/>
              <a:t>Diagnose</a:t>
            </a:r>
            <a:r>
              <a:rPr lang="zh-CN" altLang="en-US" dirty="0"/>
              <a:t> </a:t>
            </a:r>
            <a:r>
              <a:rPr lang="en-US" altLang="zh-CN" dirty="0"/>
              <a:t>Brain</a:t>
            </a:r>
            <a:r>
              <a:rPr lang="zh-CN" altLang="en-US" dirty="0"/>
              <a:t> </a:t>
            </a:r>
            <a:r>
              <a:rPr lang="en-US" altLang="zh-CN" dirty="0"/>
              <a:t>Tumor</a:t>
            </a:r>
            <a:endParaRPr lang="en-US" dirty="0"/>
          </a:p>
        </p:txBody>
      </p:sp>
      <p:sp>
        <p:nvSpPr>
          <p:cNvPr id="4" name="Content Placeholder 3">
            <a:extLst>
              <a:ext uri="{FF2B5EF4-FFF2-40B4-BE49-F238E27FC236}">
                <a16:creationId xmlns:a16="http://schemas.microsoft.com/office/drawing/2014/main" id="{B640634B-0261-CC43-BEBC-D88A5EDFB81E}"/>
              </a:ext>
            </a:extLst>
          </p:cNvPr>
          <p:cNvSpPr>
            <a:spLocks noGrp="1"/>
          </p:cNvSpPr>
          <p:nvPr>
            <p:ph idx="1"/>
          </p:nvPr>
        </p:nvSpPr>
        <p:spPr>
          <a:xfrm>
            <a:off x="818712" y="2222287"/>
            <a:ext cx="10554574" cy="4385903"/>
          </a:xfrm>
        </p:spPr>
        <p:txBody>
          <a:bodyPr>
            <a:normAutofit/>
          </a:bodyPr>
          <a:lstStyle/>
          <a:p>
            <a:r>
              <a:rPr lang="en-CA" dirty="0"/>
              <a:t>If it's suspected that you have a brain tumor, your doctor may recommend a number of tests and procedures, including:</a:t>
            </a:r>
          </a:p>
          <a:p>
            <a:r>
              <a:rPr lang="en-CA" b="1" dirty="0"/>
              <a:t>A neurological exam</a:t>
            </a:r>
          </a:p>
          <a:p>
            <a:r>
              <a:rPr lang="en-CA" b="1" dirty="0"/>
              <a:t>Imaging tests.</a:t>
            </a:r>
            <a:r>
              <a:rPr lang="en-CA" dirty="0"/>
              <a:t> Magnetic resonance imaging (MRI) is commonly used to help diagnose brain tumors. Sometimes other imaging tests are recommended, including computerized tomography (CT). Positron emission tomography (PET) may be used for brain imaging, but is generally not as useful for creating images of brain cancer as it is for other types of cancer.</a:t>
            </a:r>
          </a:p>
          <a:p>
            <a:r>
              <a:rPr lang="en-CA" b="1" dirty="0"/>
              <a:t>Tests to find cancer in other parts of your body.</a:t>
            </a:r>
            <a:r>
              <a:rPr lang="zh-CN" altLang="en-US" b="1" dirty="0"/>
              <a:t> </a:t>
            </a:r>
            <a:r>
              <a:rPr lang="en-CA" dirty="0"/>
              <a:t>If it's suspected that your brain tumor may be a result of cancer that has spread from another area of your body, your doctor may recommend tests and procedures to determine where the cancer originated. One example might be a CT or PET scan to look for signs of lung cancer.</a:t>
            </a:r>
            <a:endParaRPr lang="en-CA" b="1" dirty="0"/>
          </a:p>
          <a:p>
            <a:r>
              <a:rPr lang="en-CA" b="1" dirty="0"/>
              <a:t>Collecting and testing a sample of abnormal tissue (biopsy)</a:t>
            </a:r>
            <a:endParaRPr lang="en-US" dirty="0"/>
          </a:p>
        </p:txBody>
      </p:sp>
      <p:sp>
        <p:nvSpPr>
          <p:cNvPr id="6" name="Rectangle 5" descr="Stethoscope">
            <a:extLst>
              <a:ext uri="{FF2B5EF4-FFF2-40B4-BE49-F238E27FC236}">
                <a16:creationId xmlns:a16="http://schemas.microsoft.com/office/drawing/2014/main" id="{3C2418D4-7607-5C41-AA3D-3BA34E25C5F0}"/>
              </a:ext>
            </a:extLst>
          </p:cNvPr>
          <p:cNvSpPr/>
          <p:nvPr/>
        </p:nvSpPr>
        <p:spPr>
          <a:xfrm>
            <a:off x="7472161" y="265198"/>
            <a:ext cx="1489740" cy="1459837"/>
          </a:xfrm>
          <a:prstGeom prst="rect">
            <a:avLst/>
          </a:prstGeom>
          <a: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dirty="0"/>
          </a:p>
        </p:txBody>
      </p:sp>
    </p:spTree>
    <p:extLst>
      <p:ext uri="{BB962C8B-B14F-4D97-AF65-F5344CB8AC3E}">
        <p14:creationId xmlns:p14="http://schemas.microsoft.com/office/powerpoint/2010/main" val="13089145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B5F73-ADC2-5B41-B65A-8CB7CC4029C8}"/>
              </a:ext>
            </a:extLst>
          </p:cNvPr>
          <p:cNvSpPr>
            <a:spLocks noGrp="1"/>
          </p:cNvSpPr>
          <p:nvPr>
            <p:ph type="title"/>
          </p:nvPr>
        </p:nvSpPr>
        <p:spPr>
          <a:xfrm>
            <a:off x="810000" y="447188"/>
            <a:ext cx="10571998" cy="970450"/>
          </a:xfrm>
        </p:spPr>
        <p:txBody>
          <a:bodyPr>
            <a:normAutofit/>
          </a:bodyPr>
          <a:lstStyle/>
          <a:p>
            <a:r>
              <a:rPr lang="en-US"/>
              <a:t>User Interface (a medical bot)</a:t>
            </a:r>
            <a:endParaRPr lang="en-US" dirty="0"/>
          </a:p>
        </p:txBody>
      </p:sp>
      <p:graphicFrame>
        <p:nvGraphicFramePr>
          <p:cNvPr id="5" name="Content Placeholder 2">
            <a:extLst>
              <a:ext uri="{FF2B5EF4-FFF2-40B4-BE49-F238E27FC236}">
                <a16:creationId xmlns:a16="http://schemas.microsoft.com/office/drawing/2014/main" id="{2CAB91CA-A622-4C51-B575-E4543D816013}"/>
              </a:ext>
            </a:extLst>
          </p:cNvPr>
          <p:cNvGraphicFramePr>
            <a:graphicFrameLocks noGrp="1"/>
          </p:cNvGraphicFramePr>
          <p:nvPr>
            <p:ph idx="1"/>
            <p:extLst>
              <p:ext uri="{D42A27DB-BD31-4B8C-83A1-F6EECF244321}">
                <p14:modId xmlns:p14="http://schemas.microsoft.com/office/powerpoint/2010/main" val="1795403178"/>
              </p:ext>
            </p:extLst>
          </p:nvPr>
        </p:nvGraphicFramePr>
        <p:xfrm>
          <a:off x="482461" y="2389621"/>
          <a:ext cx="11227076" cy="36633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5495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E66B2-DE23-F042-9E46-01E42A5E50C9}"/>
              </a:ext>
            </a:extLst>
          </p:cNvPr>
          <p:cNvSpPr>
            <a:spLocks noGrp="1"/>
          </p:cNvSpPr>
          <p:nvPr>
            <p:ph type="title"/>
          </p:nvPr>
        </p:nvSpPr>
        <p:spPr>
          <a:xfrm>
            <a:off x="578499" y="449660"/>
            <a:ext cx="10571998" cy="970450"/>
          </a:xfrm>
        </p:spPr>
        <p:txBody>
          <a:bodyPr>
            <a:normAutofit/>
          </a:bodyPr>
          <a:lstStyle/>
          <a:p>
            <a:r>
              <a:rPr lang="en-US" dirty="0"/>
              <a:t>How the bot is built?</a:t>
            </a:r>
          </a:p>
        </p:txBody>
      </p:sp>
      <p:graphicFrame>
        <p:nvGraphicFramePr>
          <p:cNvPr id="7" name="Content Placeholder 2">
            <a:extLst>
              <a:ext uri="{FF2B5EF4-FFF2-40B4-BE49-F238E27FC236}">
                <a16:creationId xmlns:a16="http://schemas.microsoft.com/office/drawing/2014/main" id="{9D813A64-0137-44A7-A91C-4E730B32ECA4}"/>
              </a:ext>
            </a:extLst>
          </p:cNvPr>
          <p:cNvGraphicFramePr>
            <a:graphicFrameLocks noGrp="1"/>
          </p:cNvGraphicFramePr>
          <p:nvPr>
            <p:ph idx="1"/>
            <p:extLst>
              <p:ext uri="{D42A27DB-BD31-4B8C-83A1-F6EECF244321}">
                <p14:modId xmlns:p14="http://schemas.microsoft.com/office/powerpoint/2010/main" val="2569303012"/>
              </p:ext>
            </p:extLst>
          </p:nvPr>
        </p:nvGraphicFramePr>
        <p:xfrm>
          <a:off x="1086299" y="2703445"/>
          <a:ext cx="10163589" cy="11926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712FE289-E644-9743-B104-FFCF35FFD857}"/>
              </a:ext>
            </a:extLst>
          </p:cNvPr>
          <p:cNvSpPr txBox="1"/>
          <p:nvPr/>
        </p:nvSpPr>
        <p:spPr>
          <a:xfrm>
            <a:off x="4831279" y="4244007"/>
            <a:ext cx="3009487" cy="1477328"/>
          </a:xfrm>
          <a:prstGeom prst="rect">
            <a:avLst/>
          </a:prstGeom>
          <a:noFill/>
        </p:spPr>
        <p:txBody>
          <a:bodyPr wrap="square" rtlCol="0">
            <a:spAutoFit/>
          </a:bodyPr>
          <a:lstStyle/>
          <a:p>
            <a:r>
              <a:rPr lang="en-CA" b="1" dirty="0" err="1"/>
              <a:t>gTTS</a:t>
            </a:r>
            <a:r>
              <a:rPr lang="en-CA" dirty="0"/>
              <a:t> (</a:t>
            </a:r>
            <a:r>
              <a:rPr lang="en-CA" i="1" dirty="0"/>
              <a:t>Google Text-to-Speech</a:t>
            </a:r>
            <a:r>
              <a:rPr lang="en-CA" dirty="0"/>
              <a:t>), a Python library and CLI tool to interface with Google </a:t>
            </a:r>
            <a:r>
              <a:rPr lang="en-CA" dirty="0" err="1"/>
              <a:t>Translate's</a:t>
            </a:r>
            <a:r>
              <a:rPr lang="en-CA" dirty="0"/>
              <a:t> text-to-speech API. </a:t>
            </a:r>
            <a:endParaRPr lang="en-US" dirty="0"/>
          </a:p>
        </p:txBody>
      </p:sp>
      <p:sp>
        <p:nvSpPr>
          <p:cNvPr id="9" name="TextBox 8">
            <a:extLst>
              <a:ext uri="{FF2B5EF4-FFF2-40B4-BE49-F238E27FC236}">
                <a16:creationId xmlns:a16="http://schemas.microsoft.com/office/drawing/2014/main" id="{E5963736-1A6B-B942-A5F3-CF29DACB6941}"/>
              </a:ext>
            </a:extLst>
          </p:cNvPr>
          <p:cNvSpPr txBox="1"/>
          <p:nvPr/>
        </p:nvSpPr>
        <p:spPr>
          <a:xfrm>
            <a:off x="868879" y="4244007"/>
            <a:ext cx="3009487" cy="1754326"/>
          </a:xfrm>
          <a:prstGeom prst="rect">
            <a:avLst/>
          </a:prstGeom>
          <a:noFill/>
        </p:spPr>
        <p:txBody>
          <a:bodyPr wrap="square" rtlCol="0">
            <a:spAutoFit/>
          </a:bodyPr>
          <a:lstStyle/>
          <a:p>
            <a:r>
              <a:rPr lang="en-CA" b="1" dirty="0" err="1"/>
              <a:t>PySimpleGUI</a:t>
            </a:r>
            <a:r>
              <a:rPr lang="en-CA" dirty="0"/>
              <a:t> is a python package that transforms the </a:t>
            </a:r>
            <a:r>
              <a:rPr lang="en-CA" dirty="0" err="1"/>
              <a:t>tkinter</a:t>
            </a:r>
            <a:r>
              <a:rPr lang="en-CA" dirty="0"/>
              <a:t>, Qt, </a:t>
            </a:r>
            <a:r>
              <a:rPr lang="en-CA" dirty="0" err="1"/>
              <a:t>WxPython</a:t>
            </a:r>
            <a:r>
              <a:rPr lang="en-CA" dirty="0"/>
              <a:t>, and Remi (browser-based) GUI frameworks into a simpler interface. </a:t>
            </a:r>
            <a:endParaRPr lang="en-US" dirty="0"/>
          </a:p>
        </p:txBody>
      </p:sp>
      <p:sp>
        <p:nvSpPr>
          <p:cNvPr id="11" name="TextBox 10">
            <a:extLst>
              <a:ext uri="{FF2B5EF4-FFF2-40B4-BE49-F238E27FC236}">
                <a16:creationId xmlns:a16="http://schemas.microsoft.com/office/drawing/2014/main" id="{64F2EDBD-33B9-DC4A-8734-2CB357A83345}"/>
              </a:ext>
            </a:extLst>
          </p:cNvPr>
          <p:cNvSpPr txBox="1"/>
          <p:nvPr/>
        </p:nvSpPr>
        <p:spPr>
          <a:xfrm>
            <a:off x="8631342" y="4244007"/>
            <a:ext cx="2876966" cy="1477328"/>
          </a:xfrm>
          <a:prstGeom prst="rect">
            <a:avLst/>
          </a:prstGeom>
          <a:noFill/>
        </p:spPr>
        <p:txBody>
          <a:bodyPr wrap="square" rtlCol="0">
            <a:spAutoFit/>
          </a:bodyPr>
          <a:lstStyle/>
          <a:p>
            <a:r>
              <a:rPr lang="en-CA" b="1" dirty="0" err="1"/>
              <a:t>ChatterBot</a:t>
            </a:r>
            <a:r>
              <a:rPr lang="en-CA" dirty="0"/>
              <a:t> is a Python library that makes it easy to generate automated responses to a user’s input. </a:t>
            </a:r>
            <a:endParaRPr lang="en-US" dirty="0"/>
          </a:p>
        </p:txBody>
      </p:sp>
      <p:pic>
        <p:nvPicPr>
          <p:cNvPr id="1026" name="Picture 2">
            <a:extLst>
              <a:ext uri="{FF2B5EF4-FFF2-40B4-BE49-F238E27FC236}">
                <a16:creationId xmlns:a16="http://schemas.microsoft.com/office/drawing/2014/main" id="{EE0A25D8-04EE-9045-967E-8FB5DDEFB35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64192" y="488702"/>
            <a:ext cx="3728415" cy="9704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ySimpleGUI">
            <a:extLst>
              <a:ext uri="{FF2B5EF4-FFF2-40B4-BE49-F238E27FC236}">
                <a16:creationId xmlns:a16="http://schemas.microsoft.com/office/drawing/2014/main" id="{E83A966B-CBAF-C04A-9597-EACBF9638EF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75655" y="-1"/>
            <a:ext cx="2499694" cy="1869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3015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B69A7-2958-9A48-9078-EDD1E4B5B4EB}"/>
              </a:ext>
            </a:extLst>
          </p:cNvPr>
          <p:cNvSpPr>
            <a:spLocks noGrp="1"/>
          </p:cNvSpPr>
          <p:nvPr>
            <p:ph type="title"/>
          </p:nvPr>
        </p:nvSpPr>
        <p:spPr/>
        <p:txBody>
          <a:bodyPr/>
          <a:lstStyle/>
          <a:p>
            <a:r>
              <a:rPr lang="en-US" dirty="0"/>
              <a:t>How we made the bot talk:</a:t>
            </a:r>
          </a:p>
        </p:txBody>
      </p:sp>
      <p:sp>
        <p:nvSpPr>
          <p:cNvPr id="3" name="Content Placeholder 2">
            <a:extLst>
              <a:ext uri="{FF2B5EF4-FFF2-40B4-BE49-F238E27FC236}">
                <a16:creationId xmlns:a16="http://schemas.microsoft.com/office/drawing/2014/main" id="{663D91F5-10D1-E94D-92D4-B1E7BA2D67C8}"/>
              </a:ext>
            </a:extLst>
          </p:cNvPr>
          <p:cNvSpPr>
            <a:spLocks noGrp="1"/>
          </p:cNvSpPr>
          <p:nvPr>
            <p:ph idx="1"/>
          </p:nvPr>
        </p:nvSpPr>
        <p:spPr>
          <a:xfrm>
            <a:off x="810000" y="2388947"/>
            <a:ext cx="5582088" cy="3636511"/>
          </a:xfrm>
        </p:spPr>
        <p:txBody>
          <a:bodyPr/>
          <a:lstStyle/>
          <a:p>
            <a:r>
              <a:rPr lang="en-US" dirty="0" err="1"/>
              <a:t>gTTS</a:t>
            </a:r>
            <a:endParaRPr lang="en-US" dirty="0"/>
          </a:p>
          <a:p>
            <a:pPr>
              <a:lnSpc>
                <a:spcPct val="150000"/>
              </a:lnSpc>
            </a:pPr>
            <a:r>
              <a:rPr lang="en-US" dirty="0"/>
              <a:t>Defined the speak function, pass in the response that is generated by chatterbot, </a:t>
            </a:r>
            <a:r>
              <a:rPr lang="en-US" dirty="0" err="1"/>
              <a:t>gTTS</a:t>
            </a:r>
            <a:r>
              <a:rPr lang="en-US" dirty="0"/>
              <a:t> will take care of it.</a:t>
            </a:r>
          </a:p>
          <a:p>
            <a:endParaRPr lang="en-US" dirty="0"/>
          </a:p>
        </p:txBody>
      </p:sp>
      <p:pic>
        <p:nvPicPr>
          <p:cNvPr id="4" name="Picture 3">
            <a:extLst>
              <a:ext uri="{FF2B5EF4-FFF2-40B4-BE49-F238E27FC236}">
                <a16:creationId xmlns:a16="http://schemas.microsoft.com/office/drawing/2014/main" id="{794AFCC7-D376-EA4C-8CD4-11A839269678}"/>
              </a:ext>
            </a:extLst>
          </p:cNvPr>
          <p:cNvPicPr>
            <a:picLocks noChangeAspect="1"/>
          </p:cNvPicPr>
          <p:nvPr/>
        </p:nvPicPr>
        <p:blipFill>
          <a:blip r:embed="rId2"/>
          <a:stretch>
            <a:fillRect/>
          </a:stretch>
        </p:blipFill>
        <p:spPr>
          <a:xfrm>
            <a:off x="6531576" y="2222287"/>
            <a:ext cx="5194300" cy="3111500"/>
          </a:xfrm>
          <a:prstGeom prst="rect">
            <a:avLst/>
          </a:prstGeom>
        </p:spPr>
      </p:pic>
      <p:pic>
        <p:nvPicPr>
          <p:cNvPr id="5" name="Picture 4">
            <a:extLst>
              <a:ext uri="{FF2B5EF4-FFF2-40B4-BE49-F238E27FC236}">
                <a16:creationId xmlns:a16="http://schemas.microsoft.com/office/drawing/2014/main" id="{2B1832A5-08C3-5F4A-97CB-BB39EC70E4BB}"/>
              </a:ext>
            </a:extLst>
          </p:cNvPr>
          <p:cNvPicPr>
            <a:picLocks noChangeAspect="1"/>
          </p:cNvPicPr>
          <p:nvPr/>
        </p:nvPicPr>
        <p:blipFill>
          <a:blip r:embed="rId3"/>
          <a:stretch>
            <a:fillRect/>
          </a:stretch>
        </p:blipFill>
        <p:spPr>
          <a:xfrm>
            <a:off x="6531576" y="5509112"/>
            <a:ext cx="5194300" cy="901700"/>
          </a:xfrm>
          <a:prstGeom prst="rect">
            <a:avLst/>
          </a:prstGeom>
        </p:spPr>
      </p:pic>
    </p:spTree>
    <p:extLst>
      <p:ext uri="{BB962C8B-B14F-4D97-AF65-F5344CB8AC3E}">
        <p14:creationId xmlns:p14="http://schemas.microsoft.com/office/powerpoint/2010/main" val="515373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898D4-D5E1-0D42-8D3B-283568A1CD09}"/>
              </a:ext>
            </a:extLst>
          </p:cNvPr>
          <p:cNvSpPr>
            <a:spLocks noGrp="1"/>
          </p:cNvSpPr>
          <p:nvPr>
            <p:ph type="title"/>
          </p:nvPr>
        </p:nvSpPr>
        <p:spPr/>
        <p:txBody>
          <a:bodyPr/>
          <a:lstStyle/>
          <a:p>
            <a:r>
              <a:rPr lang="en-US" dirty="0"/>
              <a:t>Which is better? RCNN? SSD? YOLO?</a:t>
            </a:r>
          </a:p>
        </p:txBody>
      </p:sp>
      <p:sp>
        <p:nvSpPr>
          <p:cNvPr id="3" name="Content Placeholder 2">
            <a:extLst>
              <a:ext uri="{FF2B5EF4-FFF2-40B4-BE49-F238E27FC236}">
                <a16:creationId xmlns:a16="http://schemas.microsoft.com/office/drawing/2014/main" id="{D9B10CE3-FF01-5643-B5FB-C54F61ABE681}"/>
              </a:ext>
            </a:extLst>
          </p:cNvPr>
          <p:cNvSpPr>
            <a:spLocks noGrp="1"/>
          </p:cNvSpPr>
          <p:nvPr>
            <p:ph idx="1"/>
          </p:nvPr>
        </p:nvSpPr>
        <p:spPr>
          <a:xfrm>
            <a:off x="810000" y="1661532"/>
            <a:ext cx="10151649" cy="3751217"/>
          </a:xfrm>
        </p:spPr>
        <p:txBody>
          <a:bodyPr/>
          <a:lstStyle/>
          <a:p>
            <a:endParaRPr lang="en-US" dirty="0"/>
          </a:p>
          <a:p>
            <a:endParaRPr lang="en-US" dirty="0"/>
          </a:p>
        </p:txBody>
      </p:sp>
      <p:sp>
        <p:nvSpPr>
          <p:cNvPr id="4" name="文本框 3">
            <a:extLst>
              <a:ext uri="{FF2B5EF4-FFF2-40B4-BE49-F238E27FC236}">
                <a16:creationId xmlns:a16="http://schemas.microsoft.com/office/drawing/2014/main" id="{8E9BA6C6-EFC5-1849-8038-E4B94406E1AB}"/>
              </a:ext>
            </a:extLst>
          </p:cNvPr>
          <p:cNvSpPr txBox="1"/>
          <p:nvPr/>
        </p:nvSpPr>
        <p:spPr>
          <a:xfrm>
            <a:off x="2576397" y="2073677"/>
            <a:ext cx="2676020" cy="2123658"/>
          </a:xfrm>
          <a:prstGeom prst="rect">
            <a:avLst/>
          </a:prstGeom>
          <a:noFill/>
        </p:spPr>
        <p:txBody>
          <a:bodyPr wrap="square" rtlCol="0">
            <a:spAutoFit/>
          </a:bodyPr>
          <a:lstStyle/>
          <a:p>
            <a:r>
              <a:rPr kumimoji="1" lang="en-US" altLang="zh-CN" sz="2400" b="1" dirty="0"/>
              <a:t>Faster R-CNN</a:t>
            </a:r>
            <a:r>
              <a:rPr kumimoji="1" lang="zh-CN" altLang="en-US" sz="2400" b="1" dirty="0"/>
              <a:t>：</a:t>
            </a:r>
            <a:endParaRPr kumimoji="1" lang="en-US" altLang="zh-CN" sz="2400" b="1"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zh-CN" altLang="en-US" dirty="0"/>
          </a:p>
        </p:txBody>
      </p:sp>
      <p:sp>
        <p:nvSpPr>
          <p:cNvPr id="5" name="文本框 4">
            <a:extLst>
              <a:ext uri="{FF2B5EF4-FFF2-40B4-BE49-F238E27FC236}">
                <a16:creationId xmlns:a16="http://schemas.microsoft.com/office/drawing/2014/main" id="{3795BDB1-7D4F-6F40-BE45-C39FD9BDD540}"/>
              </a:ext>
            </a:extLst>
          </p:cNvPr>
          <p:cNvSpPr txBox="1"/>
          <p:nvPr/>
        </p:nvSpPr>
        <p:spPr>
          <a:xfrm>
            <a:off x="5988045" y="2073677"/>
            <a:ext cx="1427356" cy="2123658"/>
          </a:xfrm>
          <a:prstGeom prst="rect">
            <a:avLst/>
          </a:prstGeom>
          <a:noFill/>
        </p:spPr>
        <p:txBody>
          <a:bodyPr wrap="square" rtlCol="0">
            <a:spAutoFit/>
          </a:bodyPr>
          <a:lstStyle/>
          <a:p>
            <a:r>
              <a:rPr kumimoji="1" lang="en-US" altLang="zh-CN" sz="2400" b="1" dirty="0"/>
              <a:t>SSD</a:t>
            </a:r>
            <a:r>
              <a:rPr kumimoji="1" lang="zh-CN" altLang="en-US" sz="2400" b="1" dirty="0"/>
              <a:t>：</a:t>
            </a:r>
            <a:endParaRPr kumimoji="1" lang="en-US" altLang="zh-CN" sz="2400" b="1" dirty="0"/>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zh-CN" altLang="en-US" dirty="0"/>
          </a:p>
        </p:txBody>
      </p:sp>
      <p:sp>
        <p:nvSpPr>
          <p:cNvPr id="6" name="文本框 5">
            <a:extLst>
              <a:ext uri="{FF2B5EF4-FFF2-40B4-BE49-F238E27FC236}">
                <a16:creationId xmlns:a16="http://schemas.microsoft.com/office/drawing/2014/main" id="{82921BDD-0CB6-204B-AC7A-FC274F65D684}"/>
              </a:ext>
            </a:extLst>
          </p:cNvPr>
          <p:cNvSpPr txBox="1"/>
          <p:nvPr/>
        </p:nvSpPr>
        <p:spPr>
          <a:xfrm>
            <a:off x="9127277" y="2135232"/>
            <a:ext cx="1427356" cy="2123658"/>
          </a:xfrm>
          <a:prstGeom prst="rect">
            <a:avLst/>
          </a:prstGeom>
          <a:noFill/>
        </p:spPr>
        <p:txBody>
          <a:bodyPr wrap="square" rtlCol="0">
            <a:spAutoFit/>
          </a:bodyPr>
          <a:lstStyle/>
          <a:p>
            <a:r>
              <a:rPr kumimoji="1" lang="en-US" altLang="zh-CN" sz="2400" b="1" dirty="0"/>
              <a:t>YOLOv3</a:t>
            </a:r>
            <a:r>
              <a:rPr kumimoji="1" lang="en-US" altLang="zh-CN" sz="2000" b="1" dirty="0"/>
              <a:t>:</a:t>
            </a:r>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zh-CN" altLang="en-US" dirty="0"/>
          </a:p>
        </p:txBody>
      </p:sp>
      <p:graphicFrame>
        <p:nvGraphicFramePr>
          <p:cNvPr id="7" name="表格 7">
            <a:extLst>
              <a:ext uri="{FF2B5EF4-FFF2-40B4-BE49-F238E27FC236}">
                <a16:creationId xmlns:a16="http://schemas.microsoft.com/office/drawing/2014/main" id="{48FFD937-3DE5-F140-84F7-F76878BCD8A1}"/>
              </a:ext>
            </a:extLst>
          </p:cNvPr>
          <p:cNvGraphicFramePr>
            <a:graphicFrameLocks noGrp="1"/>
          </p:cNvGraphicFramePr>
          <p:nvPr>
            <p:extLst>
              <p:ext uri="{D42A27DB-BD31-4B8C-83A1-F6EECF244321}">
                <p14:modId xmlns:p14="http://schemas.microsoft.com/office/powerpoint/2010/main" val="2298532057"/>
              </p:ext>
            </p:extLst>
          </p:nvPr>
        </p:nvGraphicFramePr>
        <p:xfrm>
          <a:off x="810001" y="2571068"/>
          <a:ext cx="10356089" cy="2625399"/>
        </p:xfrm>
        <a:graphic>
          <a:graphicData uri="http://schemas.openxmlformats.org/drawingml/2006/table">
            <a:tbl>
              <a:tblPr firstRow="1" bandRow="1">
                <a:tableStyleId>{5C22544A-7EE6-4342-B048-85BDC9FD1C3A}</a:tableStyleId>
              </a:tblPr>
              <a:tblGrid>
                <a:gridCol w="1363972">
                  <a:extLst>
                    <a:ext uri="{9D8B030D-6E8A-4147-A177-3AD203B41FA5}">
                      <a16:colId xmlns:a16="http://schemas.microsoft.com/office/drawing/2014/main" val="1939046577"/>
                    </a:ext>
                  </a:extLst>
                </a:gridCol>
                <a:gridCol w="2676807">
                  <a:extLst>
                    <a:ext uri="{9D8B030D-6E8A-4147-A177-3AD203B41FA5}">
                      <a16:colId xmlns:a16="http://schemas.microsoft.com/office/drawing/2014/main" val="501270138"/>
                    </a:ext>
                  </a:extLst>
                </a:gridCol>
                <a:gridCol w="3304783">
                  <a:extLst>
                    <a:ext uri="{9D8B030D-6E8A-4147-A177-3AD203B41FA5}">
                      <a16:colId xmlns:a16="http://schemas.microsoft.com/office/drawing/2014/main" val="696138877"/>
                    </a:ext>
                  </a:extLst>
                </a:gridCol>
                <a:gridCol w="3010527">
                  <a:extLst>
                    <a:ext uri="{9D8B030D-6E8A-4147-A177-3AD203B41FA5}">
                      <a16:colId xmlns:a16="http://schemas.microsoft.com/office/drawing/2014/main" val="3116535916"/>
                    </a:ext>
                  </a:extLst>
                </a:gridCol>
              </a:tblGrid>
              <a:tr h="875133">
                <a:tc>
                  <a:txBody>
                    <a:bodyPr/>
                    <a:lstStyle/>
                    <a:p>
                      <a:pPr algn="ctr">
                        <a:lnSpc>
                          <a:spcPct val="200000"/>
                        </a:lnSpc>
                      </a:pPr>
                      <a:r>
                        <a:rPr lang="en-US" altLang="zh-CN" sz="2400" dirty="0">
                          <a:solidFill>
                            <a:schemeClr val="bg2">
                              <a:lumMod val="50000"/>
                              <a:lumOff val="50000"/>
                            </a:schemeClr>
                          </a:solidFill>
                        </a:rPr>
                        <a:t>Loss</a:t>
                      </a:r>
                      <a:endParaRPr lang="zh-CN" altLang="en-US" sz="2400" dirty="0">
                        <a:solidFill>
                          <a:schemeClr val="bg2">
                            <a:lumMod val="50000"/>
                            <a:lumOff val="50000"/>
                          </a:schemeClr>
                        </a:solidFill>
                      </a:endParaRPr>
                    </a:p>
                  </a:txBody>
                  <a:tcPr>
                    <a:solidFill>
                      <a:schemeClr val="accent3">
                        <a:lumMod val="60000"/>
                        <a:lumOff val="40000"/>
                      </a:schemeClr>
                    </a:solidFill>
                  </a:tcPr>
                </a:tc>
                <a:tc>
                  <a:txBody>
                    <a:bodyPr/>
                    <a:lstStyle/>
                    <a:p>
                      <a:pPr algn="ctr">
                        <a:lnSpc>
                          <a:spcPct val="200000"/>
                        </a:lnSpc>
                      </a:pPr>
                      <a:r>
                        <a:rPr lang="en-US" altLang="zh-CN" sz="2000" dirty="0">
                          <a:solidFill>
                            <a:schemeClr val="bg2">
                              <a:lumMod val="50000"/>
                              <a:lumOff val="50000"/>
                            </a:schemeClr>
                          </a:solidFill>
                        </a:rPr>
                        <a:t>SoftMax </a:t>
                      </a:r>
                      <a:endParaRPr lang="zh-CN" altLang="en-US" sz="2000" dirty="0">
                        <a:solidFill>
                          <a:schemeClr val="bg2">
                            <a:lumMod val="50000"/>
                            <a:lumOff val="50000"/>
                          </a:schemeClr>
                        </a:solidFill>
                      </a:endParaRPr>
                    </a:p>
                  </a:txBody>
                  <a:tcPr>
                    <a:solidFill>
                      <a:schemeClr val="accent3">
                        <a:lumMod val="60000"/>
                        <a:lumOff val="40000"/>
                      </a:schemeClr>
                    </a:solidFill>
                  </a:tcPr>
                </a:tc>
                <a:tc>
                  <a:txBody>
                    <a:bodyPr/>
                    <a:lstStyle/>
                    <a:p>
                      <a:pPr algn="ctr">
                        <a:lnSpc>
                          <a:spcPct val="200000"/>
                        </a:lnSpc>
                      </a:pPr>
                      <a:r>
                        <a:rPr lang="en-US" altLang="zh-CN" sz="2000" dirty="0">
                          <a:solidFill>
                            <a:schemeClr val="bg2">
                              <a:lumMod val="50000"/>
                              <a:lumOff val="50000"/>
                            </a:schemeClr>
                          </a:solidFill>
                        </a:rPr>
                        <a:t>SoftMax Loss</a:t>
                      </a:r>
                      <a:endParaRPr lang="zh-CN" altLang="en-US" sz="2000" dirty="0">
                        <a:solidFill>
                          <a:schemeClr val="bg2">
                            <a:lumMod val="50000"/>
                            <a:lumOff val="50000"/>
                          </a:schemeClr>
                        </a:solidFill>
                      </a:endParaRPr>
                    </a:p>
                  </a:txBody>
                  <a:tcPr>
                    <a:solidFill>
                      <a:schemeClr val="accent3">
                        <a:lumMod val="60000"/>
                        <a:lumOff val="40000"/>
                      </a:schemeClr>
                    </a:solidFill>
                  </a:tcPr>
                </a:tc>
                <a:tc>
                  <a:txBody>
                    <a:bodyPr/>
                    <a:lstStyle/>
                    <a:p>
                      <a:pPr marL="0" marR="0" indent="0" algn="ctr" defTabSz="457200" rtl="0" eaLnBrk="1" fontAlgn="auto" latinLnBrk="0" hangingPunct="1">
                        <a:lnSpc>
                          <a:spcPct val="200000"/>
                        </a:lnSpc>
                        <a:spcBef>
                          <a:spcPts val="0"/>
                        </a:spcBef>
                        <a:spcAft>
                          <a:spcPts val="0"/>
                        </a:spcAft>
                        <a:buClrTx/>
                        <a:buSzTx/>
                        <a:buFontTx/>
                        <a:buNone/>
                        <a:tabLst/>
                        <a:defRPr/>
                      </a:pPr>
                      <a:r>
                        <a:rPr lang="en" altLang="zh-CN" sz="2000" dirty="0">
                          <a:solidFill>
                            <a:schemeClr val="bg2">
                              <a:lumMod val="50000"/>
                              <a:lumOff val="50000"/>
                            </a:schemeClr>
                          </a:solidFill>
                        </a:rPr>
                        <a:t>Logistic loss</a:t>
                      </a:r>
                      <a:endParaRPr lang="zh-CN" altLang="en-US" sz="2000" dirty="0">
                        <a:solidFill>
                          <a:schemeClr val="bg2">
                            <a:lumMod val="50000"/>
                            <a:lumOff val="50000"/>
                          </a:schemeClr>
                        </a:solidFill>
                      </a:endParaRPr>
                    </a:p>
                  </a:txBody>
                  <a:tcPr>
                    <a:solidFill>
                      <a:schemeClr val="accent3">
                        <a:lumMod val="60000"/>
                        <a:lumOff val="40000"/>
                      </a:schemeClr>
                    </a:solidFill>
                  </a:tcPr>
                </a:tc>
                <a:extLst>
                  <a:ext uri="{0D108BD9-81ED-4DB2-BD59-A6C34878D82A}">
                    <a16:rowId xmlns:a16="http://schemas.microsoft.com/office/drawing/2014/main" val="1314211455"/>
                  </a:ext>
                </a:extLst>
              </a:tr>
              <a:tr h="875133">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 altLang="zh-CN" sz="2000" b="1" dirty="0">
                          <a:solidFill>
                            <a:schemeClr val="bg2">
                              <a:lumMod val="50000"/>
                              <a:lumOff val="50000"/>
                            </a:schemeClr>
                          </a:solidFill>
                        </a:rPr>
                        <a:t>Feature extractor</a:t>
                      </a:r>
                      <a:endParaRPr lang="zh-CN" altLang="en-US" sz="2000" b="1" dirty="0">
                        <a:solidFill>
                          <a:schemeClr val="bg2">
                            <a:lumMod val="50000"/>
                            <a:lumOff val="50000"/>
                          </a:schemeClr>
                        </a:solidFill>
                      </a:endParaRPr>
                    </a:p>
                  </a:txBody>
                  <a:tcPr>
                    <a:solidFill>
                      <a:schemeClr val="accent3">
                        <a:lumMod val="60000"/>
                        <a:lumOff val="40000"/>
                      </a:schemeClr>
                    </a:solidFill>
                  </a:tcPr>
                </a:tc>
                <a:tc>
                  <a:txBody>
                    <a:bodyPr/>
                    <a:lstStyle/>
                    <a:p>
                      <a:pPr algn="ctr">
                        <a:lnSpc>
                          <a:spcPct val="200000"/>
                        </a:lnSpc>
                      </a:pPr>
                      <a:r>
                        <a:rPr lang="en" altLang="zh-CN" sz="2000" b="1" i="0" kern="1200" dirty="0">
                          <a:solidFill>
                            <a:schemeClr val="bg2">
                              <a:lumMod val="50000"/>
                              <a:lumOff val="50000"/>
                            </a:schemeClr>
                          </a:solidFill>
                          <a:effectLst/>
                          <a:latin typeface="+mn-lt"/>
                          <a:ea typeface="+mn-ea"/>
                          <a:cs typeface="+mn-cs"/>
                        </a:rPr>
                        <a:t>Inception-Resnet</a:t>
                      </a:r>
                      <a:endParaRPr lang="zh-CN" altLang="en-US" sz="2000" b="1" dirty="0">
                        <a:solidFill>
                          <a:schemeClr val="bg2">
                            <a:lumMod val="50000"/>
                            <a:lumOff val="50000"/>
                          </a:schemeClr>
                        </a:solidFill>
                      </a:endParaRPr>
                    </a:p>
                  </a:txBody>
                  <a:tcPr>
                    <a:solidFill>
                      <a:schemeClr val="accent3">
                        <a:lumMod val="60000"/>
                        <a:lumOff val="40000"/>
                      </a:schemeClr>
                    </a:solidFill>
                  </a:tcPr>
                </a:tc>
                <a:tc>
                  <a:txBody>
                    <a:bodyPr/>
                    <a:lstStyle/>
                    <a:p>
                      <a:pPr algn="l">
                        <a:lnSpc>
                          <a:spcPct val="200000"/>
                        </a:lnSpc>
                      </a:pPr>
                      <a:r>
                        <a:rPr lang="en-US" altLang="zh-CN" dirty="0"/>
                        <a:t>              </a:t>
                      </a:r>
                      <a:r>
                        <a:rPr lang="en-US" altLang="zh-CN" sz="2000" b="1" dirty="0">
                          <a:solidFill>
                            <a:schemeClr val="bg2">
                              <a:lumMod val="50000"/>
                              <a:lumOff val="50000"/>
                            </a:schemeClr>
                          </a:solidFill>
                        </a:rPr>
                        <a:t>VGG-19</a:t>
                      </a:r>
                      <a:endParaRPr lang="zh-CN" altLang="en-US" sz="2000" b="1" dirty="0">
                        <a:solidFill>
                          <a:schemeClr val="bg2">
                            <a:lumMod val="50000"/>
                            <a:lumOff val="50000"/>
                          </a:schemeClr>
                        </a:solidFill>
                      </a:endParaRPr>
                    </a:p>
                  </a:txBody>
                  <a:tcPr>
                    <a:solidFill>
                      <a:schemeClr val="accent3">
                        <a:lumMod val="60000"/>
                        <a:lumOff val="40000"/>
                      </a:schemeClr>
                    </a:solidFill>
                  </a:tcPr>
                </a:tc>
                <a:tc>
                  <a:txBody>
                    <a:bodyPr/>
                    <a:lstStyle/>
                    <a:p>
                      <a:pPr algn="ctr">
                        <a:lnSpc>
                          <a:spcPct val="200000"/>
                        </a:lnSpc>
                      </a:pPr>
                      <a:r>
                        <a:rPr lang="en-US" altLang="zh-CN" sz="2000" b="1" dirty="0">
                          <a:solidFill>
                            <a:schemeClr val="bg2">
                              <a:lumMod val="50000"/>
                              <a:lumOff val="50000"/>
                            </a:schemeClr>
                          </a:solidFill>
                        </a:rPr>
                        <a:t>Darknet-53</a:t>
                      </a:r>
                      <a:endParaRPr lang="zh-CN" altLang="en-US" sz="2000" b="1" dirty="0">
                        <a:solidFill>
                          <a:schemeClr val="bg2">
                            <a:lumMod val="50000"/>
                            <a:lumOff val="50000"/>
                          </a:schemeClr>
                        </a:solidFill>
                      </a:endParaRPr>
                    </a:p>
                  </a:txBody>
                  <a:tcPr>
                    <a:solidFill>
                      <a:schemeClr val="accent3">
                        <a:lumMod val="60000"/>
                        <a:lumOff val="40000"/>
                      </a:schemeClr>
                    </a:solidFill>
                  </a:tcPr>
                </a:tc>
                <a:extLst>
                  <a:ext uri="{0D108BD9-81ED-4DB2-BD59-A6C34878D82A}">
                    <a16:rowId xmlns:a16="http://schemas.microsoft.com/office/drawing/2014/main" val="4243661901"/>
                  </a:ext>
                </a:extLst>
              </a:tr>
              <a:tr h="875133">
                <a:tc>
                  <a:txBody>
                    <a:bodyPr/>
                    <a:lstStyle/>
                    <a:p>
                      <a:pPr algn="ctr">
                        <a:lnSpc>
                          <a:spcPct val="200000"/>
                        </a:lnSpc>
                      </a:pPr>
                      <a:r>
                        <a:rPr lang="en-US" altLang="zh-CN" sz="2000" b="1" dirty="0" err="1">
                          <a:solidFill>
                            <a:schemeClr val="bg2">
                              <a:lumMod val="50000"/>
                              <a:lumOff val="50000"/>
                            </a:schemeClr>
                          </a:solidFill>
                        </a:rPr>
                        <a:t>mAP</a:t>
                      </a:r>
                      <a:endParaRPr lang="zh-CN" altLang="en-US" sz="2000" b="1" dirty="0">
                        <a:solidFill>
                          <a:schemeClr val="bg2">
                            <a:lumMod val="50000"/>
                            <a:lumOff val="50000"/>
                          </a:schemeClr>
                        </a:solidFill>
                      </a:endParaRPr>
                    </a:p>
                  </a:txBody>
                  <a:tcPr>
                    <a:solidFill>
                      <a:schemeClr val="accent3">
                        <a:lumMod val="60000"/>
                        <a:lumOff val="40000"/>
                      </a:schemeClr>
                    </a:solidFill>
                  </a:tcPr>
                </a:tc>
                <a:tc>
                  <a:txBody>
                    <a:bodyPr/>
                    <a:lstStyle/>
                    <a:p>
                      <a:pPr algn="ctr">
                        <a:lnSpc>
                          <a:spcPct val="200000"/>
                        </a:lnSpc>
                      </a:pPr>
                      <a:r>
                        <a:rPr lang="en-US" altLang="zh-CN" sz="2000" b="1" dirty="0">
                          <a:solidFill>
                            <a:schemeClr val="bg2">
                              <a:lumMod val="50000"/>
                              <a:lumOff val="50000"/>
                            </a:schemeClr>
                          </a:solidFill>
                        </a:rPr>
                        <a:t>34.9</a:t>
                      </a:r>
                      <a:endParaRPr lang="zh-CN" altLang="en-US" sz="2000" b="1" dirty="0">
                        <a:solidFill>
                          <a:schemeClr val="bg2">
                            <a:lumMod val="50000"/>
                            <a:lumOff val="50000"/>
                          </a:schemeClr>
                        </a:solidFill>
                      </a:endParaRPr>
                    </a:p>
                  </a:txBody>
                  <a:tcPr>
                    <a:solidFill>
                      <a:schemeClr val="accent3">
                        <a:lumMod val="60000"/>
                        <a:lumOff val="40000"/>
                      </a:schemeClr>
                    </a:solidFill>
                  </a:tcPr>
                </a:tc>
                <a:tc>
                  <a:txBody>
                    <a:bodyPr/>
                    <a:lstStyle/>
                    <a:p>
                      <a:pPr algn="ctr">
                        <a:lnSpc>
                          <a:spcPct val="200000"/>
                        </a:lnSpc>
                      </a:pPr>
                      <a:r>
                        <a:rPr lang="en-US" altLang="zh-CN" sz="2000" b="1" dirty="0">
                          <a:solidFill>
                            <a:schemeClr val="bg2">
                              <a:lumMod val="50000"/>
                              <a:lumOff val="50000"/>
                            </a:schemeClr>
                          </a:solidFill>
                        </a:rPr>
                        <a:t>26.8 (SSD512)</a:t>
                      </a:r>
                      <a:endParaRPr lang="zh-CN" altLang="en-US" sz="2000" b="1" dirty="0">
                        <a:solidFill>
                          <a:schemeClr val="bg2">
                            <a:lumMod val="50000"/>
                            <a:lumOff val="50000"/>
                          </a:schemeClr>
                        </a:solidFill>
                      </a:endParaRPr>
                    </a:p>
                  </a:txBody>
                  <a:tcPr>
                    <a:solidFill>
                      <a:schemeClr val="accent3">
                        <a:lumMod val="60000"/>
                        <a:lumOff val="40000"/>
                      </a:schemeClr>
                    </a:solidFill>
                  </a:tcPr>
                </a:tc>
                <a:tc>
                  <a:txBody>
                    <a:bodyPr/>
                    <a:lstStyle/>
                    <a:p>
                      <a:pPr algn="ctr">
                        <a:lnSpc>
                          <a:spcPct val="200000"/>
                        </a:lnSpc>
                      </a:pPr>
                      <a:r>
                        <a:rPr lang="en-US" altLang="zh-CN" sz="2000" b="1" dirty="0">
                          <a:solidFill>
                            <a:schemeClr val="bg2">
                              <a:lumMod val="50000"/>
                              <a:lumOff val="50000"/>
                            </a:schemeClr>
                          </a:solidFill>
                        </a:rPr>
                        <a:t>33 (Yolov3 608)</a:t>
                      </a:r>
                      <a:endParaRPr lang="zh-CN" altLang="en-US" sz="2000" b="1" dirty="0">
                        <a:solidFill>
                          <a:schemeClr val="bg2">
                            <a:lumMod val="50000"/>
                            <a:lumOff val="50000"/>
                          </a:schemeClr>
                        </a:solidFill>
                      </a:endParaRPr>
                    </a:p>
                  </a:txBody>
                  <a:tcPr>
                    <a:solidFill>
                      <a:schemeClr val="accent3">
                        <a:lumMod val="60000"/>
                        <a:lumOff val="40000"/>
                      </a:schemeClr>
                    </a:solidFill>
                  </a:tcPr>
                </a:tc>
                <a:extLst>
                  <a:ext uri="{0D108BD9-81ED-4DB2-BD59-A6C34878D82A}">
                    <a16:rowId xmlns:a16="http://schemas.microsoft.com/office/drawing/2014/main" val="2817845021"/>
                  </a:ext>
                </a:extLst>
              </a:tr>
            </a:tbl>
          </a:graphicData>
        </a:graphic>
      </p:graphicFrame>
      <p:sp>
        <p:nvSpPr>
          <p:cNvPr id="8" name="文本框 7">
            <a:extLst>
              <a:ext uri="{FF2B5EF4-FFF2-40B4-BE49-F238E27FC236}">
                <a16:creationId xmlns:a16="http://schemas.microsoft.com/office/drawing/2014/main" id="{32F9C8B6-0EB0-F34A-B39D-24A1397651AD}"/>
              </a:ext>
            </a:extLst>
          </p:cNvPr>
          <p:cNvSpPr txBox="1"/>
          <p:nvPr/>
        </p:nvSpPr>
        <p:spPr>
          <a:xfrm>
            <a:off x="810000" y="5543550"/>
            <a:ext cx="9030955" cy="646331"/>
          </a:xfrm>
          <a:prstGeom prst="rect">
            <a:avLst/>
          </a:prstGeom>
          <a:noFill/>
        </p:spPr>
        <p:txBody>
          <a:bodyPr wrap="square" rtlCol="0">
            <a:spAutoFit/>
          </a:bodyPr>
          <a:lstStyle/>
          <a:p>
            <a:r>
              <a:rPr kumimoji="1" lang="en-US" altLang="zh-CN" dirty="0"/>
              <a:t>Overall, RCNN select SVM as feature</a:t>
            </a:r>
            <a:r>
              <a:rPr kumimoji="1" lang="zh-CN" altLang="en-US" dirty="0"/>
              <a:t> </a:t>
            </a:r>
            <a:r>
              <a:rPr kumimoji="1" lang="en-US" altLang="zh-CN" dirty="0"/>
              <a:t>classifier</a:t>
            </a:r>
            <a:r>
              <a:rPr kumimoji="1" lang="zh-CN" altLang="en-US" dirty="0"/>
              <a:t> </a:t>
            </a:r>
            <a:r>
              <a:rPr kumimoji="1" lang="en-US" altLang="zh-CN" dirty="0"/>
              <a:t>however</a:t>
            </a:r>
            <a:r>
              <a:rPr kumimoji="1" lang="zh-CN" altLang="en-US" dirty="0"/>
              <a:t> </a:t>
            </a:r>
            <a:r>
              <a:rPr kumimoji="1" lang="en-US" altLang="zh-CN" dirty="0"/>
              <a:t>SSD</a:t>
            </a:r>
            <a:r>
              <a:rPr kumimoji="1" lang="zh-CN" altLang="en-US" dirty="0"/>
              <a:t> </a:t>
            </a:r>
            <a:r>
              <a:rPr kumimoji="1" lang="en-US" altLang="zh-CN" dirty="0"/>
              <a:t>and</a:t>
            </a:r>
            <a:r>
              <a:rPr kumimoji="1" lang="zh-CN" altLang="en-US" dirty="0"/>
              <a:t> </a:t>
            </a:r>
            <a:r>
              <a:rPr kumimoji="1" lang="en-US" altLang="zh-CN" dirty="0"/>
              <a:t>Yolo</a:t>
            </a:r>
            <a:r>
              <a:rPr kumimoji="1" lang="zh-CN" altLang="en-US" dirty="0"/>
              <a:t> </a:t>
            </a:r>
            <a:r>
              <a:rPr kumimoji="1" lang="en-US" altLang="zh-CN" dirty="0"/>
              <a:t>choose</a:t>
            </a:r>
            <a:r>
              <a:rPr kumimoji="1" lang="zh-CN" altLang="en-US" dirty="0"/>
              <a:t>  </a:t>
            </a:r>
            <a:r>
              <a:rPr kumimoji="1" lang="en-US" altLang="zh-CN" dirty="0"/>
              <a:t>SoftMax. SSD is faster but Yolo achieves a good balances.</a:t>
            </a:r>
            <a:endParaRPr kumimoji="1" lang="zh-CN" altLang="en-US" dirty="0"/>
          </a:p>
        </p:txBody>
      </p:sp>
    </p:spTree>
    <p:extLst>
      <p:ext uri="{BB962C8B-B14F-4D97-AF65-F5344CB8AC3E}">
        <p14:creationId xmlns:p14="http://schemas.microsoft.com/office/powerpoint/2010/main" val="850596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898D4-D5E1-0D42-8D3B-283568A1CD09}"/>
              </a:ext>
            </a:extLst>
          </p:cNvPr>
          <p:cNvSpPr>
            <a:spLocks noGrp="1"/>
          </p:cNvSpPr>
          <p:nvPr>
            <p:ph type="title"/>
          </p:nvPr>
        </p:nvSpPr>
        <p:spPr/>
        <p:txBody>
          <a:bodyPr/>
          <a:lstStyle/>
          <a:p>
            <a:r>
              <a:rPr lang="en-US" altLang="zh-CN" dirty="0"/>
              <a:t>YOLOv3</a:t>
            </a:r>
            <a:r>
              <a:rPr lang="zh-CN" altLang="en-US" dirty="0"/>
              <a:t> </a:t>
            </a:r>
            <a:r>
              <a:rPr lang="en-US" altLang="zh-CN" dirty="0"/>
              <a:t>and</a:t>
            </a:r>
            <a:r>
              <a:rPr lang="zh-CN" altLang="en-US" dirty="0"/>
              <a:t> </a:t>
            </a:r>
            <a:r>
              <a:rPr lang="en-US" altLang="zh-CN" dirty="0"/>
              <a:t>YOLO-Fastest</a:t>
            </a:r>
            <a:endParaRPr lang="en-US" dirty="0"/>
          </a:p>
        </p:txBody>
      </p:sp>
      <p:sp>
        <p:nvSpPr>
          <p:cNvPr id="3" name="Content Placeholder 2">
            <a:extLst>
              <a:ext uri="{FF2B5EF4-FFF2-40B4-BE49-F238E27FC236}">
                <a16:creationId xmlns:a16="http://schemas.microsoft.com/office/drawing/2014/main" id="{D9B10CE3-FF01-5643-B5FB-C54F61ABE681}"/>
              </a:ext>
            </a:extLst>
          </p:cNvPr>
          <p:cNvSpPr>
            <a:spLocks noGrp="1"/>
          </p:cNvSpPr>
          <p:nvPr>
            <p:ph idx="1"/>
          </p:nvPr>
        </p:nvSpPr>
        <p:spPr>
          <a:xfrm>
            <a:off x="810000" y="1661532"/>
            <a:ext cx="10151649" cy="3751217"/>
          </a:xfrm>
        </p:spPr>
        <p:txBody>
          <a:bodyPr/>
          <a:lstStyle/>
          <a:p>
            <a:endParaRPr lang="en-US" dirty="0"/>
          </a:p>
          <a:p>
            <a:endParaRPr lang="en-US" dirty="0"/>
          </a:p>
        </p:txBody>
      </p:sp>
      <p:sp>
        <p:nvSpPr>
          <p:cNvPr id="4" name="文本框 3">
            <a:extLst>
              <a:ext uri="{FF2B5EF4-FFF2-40B4-BE49-F238E27FC236}">
                <a16:creationId xmlns:a16="http://schemas.microsoft.com/office/drawing/2014/main" id="{8E9BA6C6-EFC5-1849-8038-E4B94406E1AB}"/>
              </a:ext>
            </a:extLst>
          </p:cNvPr>
          <p:cNvSpPr txBox="1"/>
          <p:nvPr/>
        </p:nvSpPr>
        <p:spPr>
          <a:xfrm>
            <a:off x="724403" y="1983136"/>
            <a:ext cx="4047893" cy="4339650"/>
          </a:xfrm>
          <a:prstGeom prst="rect">
            <a:avLst/>
          </a:prstGeom>
          <a:noFill/>
        </p:spPr>
        <p:txBody>
          <a:bodyPr wrap="square" rtlCol="0">
            <a:spAutoFit/>
          </a:bodyPr>
          <a:lstStyle/>
          <a:p>
            <a:r>
              <a:rPr kumimoji="1" lang="en-US" altLang="zh-CN" sz="2400" dirty="0"/>
              <a:t>YOLOv3:</a:t>
            </a:r>
          </a:p>
          <a:p>
            <a:endParaRPr kumimoji="1" lang="en-US" altLang="zh-CN" dirty="0"/>
          </a:p>
          <a:p>
            <a:r>
              <a:rPr kumimoji="1" lang="en-US" altLang="zh-CN" dirty="0"/>
              <a:t>From Darknet-53</a:t>
            </a:r>
          </a:p>
          <a:p>
            <a:endParaRPr kumimoji="1" lang="en-US" altLang="zh-CN" dirty="0"/>
          </a:p>
          <a:p>
            <a:r>
              <a:rPr kumimoji="1" lang="en-US" altLang="zh-CN" dirty="0"/>
              <a:t>3</a:t>
            </a:r>
            <a:r>
              <a:rPr kumimoji="1" lang="zh-CN" altLang="en-US" dirty="0"/>
              <a:t> </a:t>
            </a:r>
            <a:r>
              <a:rPr kumimoji="1" lang="en-US" altLang="zh-CN" dirty="0"/>
              <a:t>Yolo</a:t>
            </a:r>
            <a:r>
              <a:rPr kumimoji="1" lang="zh-CN" altLang="en-US" dirty="0"/>
              <a:t> </a:t>
            </a:r>
            <a:r>
              <a:rPr kumimoji="1" lang="en-US" altLang="zh-CN" dirty="0"/>
              <a:t>Layers</a:t>
            </a:r>
          </a:p>
          <a:p>
            <a:endParaRPr kumimoji="1" lang="en-US" altLang="zh-CN" dirty="0"/>
          </a:p>
          <a:p>
            <a:r>
              <a:rPr kumimoji="1" lang="en-US" altLang="zh-CN" dirty="0"/>
              <a:t>200Mb Weights</a:t>
            </a:r>
          </a:p>
          <a:p>
            <a:endParaRPr kumimoji="1" lang="en-US" altLang="zh-CN" dirty="0"/>
          </a:p>
          <a:p>
            <a:r>
              <a:rPr kumimoji="1" lang="en-US" altLang="zh-CN" dirty="0"/>
              <a:t>66Bflops</a:t>
            </a:r>
          </a:p>
          <a:p>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zh-CN" altLang="en-US" dirty="0"/>
          </a:p>
        </p:txBody>
      </p:sp>
      <p:sp>
        <p:nvSpPr>
          <p:cNvPr id="5" name="文本框 4">
            <a:extLst>
              <a:ext uri="{FF2B5EF4-FFF2-40B4-BE49-F238E27FC236}">
                <a16:creationId xmlns:a16="http://schemas.microsoft.com/office/drawing/2014/main" id="{73FEC633-A8BB-1049-AA8C-ED123CD266CE}"/>
              </a:ext>
            </a:extLst>
          </p:cNvPr>
          <p:cNvSpPr txBox="1"/>
          <p:nvPr/>
        </p:nvSpPr>
        <p:spPr>
          <a:xfrm>
            <a:off x="6878772" y="1983136"/>
            <a:ext cx="4851826" cy="3785652"/>
          </a:xfrm>
          <a:prstGeom prst="rect">
            <a:avLst/>
          </a:prstGeom>
          <a:noFill/>
        </p:spPr>
        <p:txBody>
          <a:bodyPr wrap="square" rtlCol="0">
            <a:spAutoFit/>
          </a:bodyPr>
          <a:lstStyle/>
          <a:p>
            <a:r>
              <a:rPr kumimoji="1" lang="en-US" altLang="zh-CN" sz="2400" dirty="0"/>
              <a:t>YOLO-Fastest</a:t>
            </a:r>
            <a:r>
              <a:rPr kumimoji="1" lang="en-US" altLang="zh-CN" dirty="0"/>
              <a:t>:</a:t>
            </a:r>
          </a:p>
          <a:p>
            <a:endParaRPr kumimoji="1" lang="en-US" altLang="zh-CN" dirty="0"/>
          </a:p>
          <a:p>
            <a:r>
              <a:rPr kumimoji="1" lang="en-US" altLang="zh-CN" dirty="0"/>
              <a:t>One of the smallest Yolo model</a:t>
            </a:r>
          </a:p>
          <a:p>
            <a:endParaRPr kumimoji="1" lang="en-US" altLang="zh-CN" dirty="0"/>
          </a:p>
          <a:p>
            <a:r>
              <a:rPr kumimoji="1" lang="en-US" altLang="zh-CN" dirty="0"/>
              <a:t>2</a:t>
            </a:r>
            <a:r>
              <a:rPr kumimoji="1" lang="zh-CN" altLang="en-US" dirty="0"/>
              <a:t> </a:t>
            </a:r>
            <a:r>
              <a:rPr kumimoji="1" lang="en-US" altLang="zh-CN" dirty="0"/>
              <a:t>Yolo</a:t>
            </a:r>
            <a:r>
              <a:rPr kumimoji="1" lang="zh-CN" altLang="en-US" dirty="0"/>
              <a:t> </a:t>
            </a:r>
            <a:r>
              <a:rPr kumimoji="1" lang="en-US" altLang="zh-CN" dirty="0"/>
              <a:t>Layers</a:t>
            </a:r>
          </a:p>
          <a:p>
            <a:endParaRPr kumimoji="1" lang="en-US" altLang="zh-CN" dirty="0"/>
          </a:p>
          <a:p>
            <a:r>
              <a:rPr lang="en" altLang="zh-CN" dirty="0" err="1"/>
              <a:t>EfficientNet</a:t>
            </a:r>
            <a:r>
              <a:rPr lang="en" altLang="zh-CN" dirty="0"/>
              <a:t>-lite</a:t>
            </a:r>
          </a:p>
          <a:p>
            <a:endParaRPr lang="en" altLang="zh-CN" dirty="0"/>
          </a:p>
          <a:p>
            <a:r>
              <a:rPr kumimoji="1" lang="en-US" altLang="zh-CN" dirty="0"/>
              <a:t>1.3</a:t>
            </a:r>
            <a:r>
              <a:rPr kumimoji="1" lang="en" altLang="zh-CN" dirty="0"/>
              <a:t>Mb</a:t>
            </a:r>
            <a:r>
              <a:rPr kumimoji="1" lang="zh-CN" altLang="en-US" dirty="0"/>
              <a:t> </a:t>
            </a:r>
            <a:r>
              <a:rPr kumimoji="1" lang="en-US" altLang="zh-CN" dirty="0"/>
              <a:t>Weights</a:t>
            </a:r>
          </a:p>
          <a:p>
            <a:endParaRPr kumimoji="1" lang="en-US" altLang="zh-CN" dirty="0"/>
          </a:p>
          <a:p>
            <a:r>
              <a:rPr lang="en" altLang="zh-CN" dirty="0"/>
              <a:t>0.23Bflops</a:t>
            </a:r>
            <a:endParaRPr kumimoji="1" lang="en-US" altLang="zh-CN" dirty="0"/>
          </a:p>
          <a:p>
            <a:endParaRPr kumimoji="1" lang="en-US" altLang="zh-CN" dirty="0"/>
          </a:p>
          <a:p>
            <a:endParaRPr kumimoji="1" lang="zh-CN" altLang="en-US" dirty="0"/>
          </a:p>
        </p:txBody>
      </p:sp>
      <p:pic>
        <p:nvPicPr>
          <p:cNvPr id="6" name="图片 5">
            <a:extLst>
              <a:ext uri="{FF2B5EF4-FFF2-40B4-BE49-F238E27FC236}">
                <a16:creationId xmlns:a16="http://schemas.microsoft.com/office/drawing/2014/main" id="{A356E105-07C7-461C-A8B3-1DCB341DD77E}"/>
              </a:ext>
            </a:extLst>
          </p:cNvPr>
          <p:cNvPicPr>
            <a:picLocks noChangeAspect="1"/>
          </p:cNvPicPr>
          <p:nvPr/>
        </p:nvPicPr>
        <p:blipFill>
          <a:blip r:embed="rId2"/>
          <a:stretch>
            <a:fillRect/>
          </a:stretch>
        </p:blipFill>
        <p:spPr>
          <a:xfrm>
            <a:off x="810000" y="4671389"/>
            <a:ext cx="5299823" cy="197050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6004107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898D4-D5E1-0D42-8D3B-283568A1CD09}"/>
              </a:ext>
            </a:extLst>
          </p:cNvPr>
          <p:cNvSpPr>
            <a:spLocks noGrp="1"/>
          </p:cNvSpPr>
          <p:nvPr>
            <p:ph type="title"/>
          </p:nvPr>
        </p:nvSpPr>
        <p:spPr/>
        <p:txBody>
          <a:bodyPr/>
          <a:lstStyle/>
          <a:p>
            <a:r>
              <a:rPr lang="en-US" dirty="0"/>
              <a:t>Training</a:t>
            </a:r>
            <a:r>
              <a:rPr lang="zh-CN" altLang="en-US" dirty="0"/>
              <a:t> </a:t>
            </a:r>
            <a:r>
              <a:rPr lang="en-US" altLang="zh-CN" dirty="0"/>
              <a:t>YOLO-Fastest</a:t>
            </a:r>
            <a:r>
              <a:rPr lang="zh-CN" altLang="en-US" dirty="0"/>
              <a:t> </a:t>
            </a:r>
            <a:r>
              <a:rPr lang="en-US" altLang="zh-CN" dirty="0"/>
              <a:t>Model</a:t>
            </a:r>
            <a:r>
              <a:rPr lang="zh-CN" altLang="en-US" dirty="0"/>
              <a:t> </a:t>
            </a:r>
            <a:r>
              <a:rPr lang="en-US" altLang="zh-CN" dirty="0"/>
              <a:t>via</a:t>
            </a:r>
            <a:r>
              <a:rPr lang="zh-CN" altLang="en-US" dirty="0"/>
              <a:t> </a:t>
            </a:r>
            <a:r>
              <a:rPr lang="en-US" altLang="zh-CN" dirty="0"/>
              <a:t>Darknet</a:t>
            </a:r>
            <a:endParaRPr lang="en-US" dirty="0"/>
          </a:p>
        </p:txBody>
      </p:sp>
      <p:sp>
        <p:nvSpPr>
          <p:cNvPr id="3" name="Content Placeholder 2">
            <a:extLst>
              <a:ext uri="{FF2B5EF4-FFF2-40B4-BE49-F238E27FC236}">
                <a16:creationId xmlns:a16="http://schemas.microsoft.com/office/drawing/2014/main" id="{D9B10CE3-FF01-5643-B5FB-C54F61ABE681}"/>
              </a:ext>
            </a:extLst>
          </p:cNvPr>
          <p:cNvSpPr>
            <a:spLocks noGrp="1"/>
          </p:cNvSpPr>
          <p:nvPr>
            <p:ph idx="1"/>
          </p:nvPr>
        </p:nvSpPr>
        <p:spPr>
          <a:xfrm>
            <a:off x="810000" y="1661532"/>
            <a:ext cx="10151649" cy="3751217"/>
          </a:xfrm>
        </p:spPr>
        <p:txBody>
          <a:bodyPr/>
          <a:lstStyle/>
          <a:p>
            <a:endParaRPr lang="en-US" dirty="0"/>
          </a:p>
          <a:p>
            <a:endParaRPr lang="en-US" dirty="0"/>
          </a:p>
        </p:txBody>
      </p:sp>
      <p:sp>
        <p:nvSpPr>
          <p:cNvPr id="4" name="文本框 3">
            <a:extLst>
              <a:ext uri="{FF2B5EF4-FFF2-40B4-BE49-F238E27FC236}">
                <a16:creationId xmlns:a16="http://schemas.microsoft.com/office/drawing/2014/main" id="{8E9BA6C6-EFC5-1849-8038-E4B94406E1AB}"/>
              </a:ext>
            </a:extLst>
          </p:cNvPr>
          <p:cNvSpPr txBox="1"/>
          <p:nvPr/>
        </p:nvSpPr>
        <p:spPr>
          <a:xfrm>
            <a:off x="1027012" y="2177276"/>
            <a:ext cx="7960926" cy="3416320"/>
          </a:xfrm>
          <a:prstGeom prst="rect">
            <a:avLst/>
          </a:prstGeom>
          <a:noFill/>
        </p:spPr>
        <p:txBody>
          <a:bodyPr wrap="square" rtlCol="0">
            <a:spAutoFit/>
          </a:bodyPr>
          <a:lstStyle/>
          <a:p>
            <a:pPr marL="342900" indent="-342900">
              <a:buAutoNum type="arabicPeriod"/>
            </a:pPr>
            <a:r>
              <a:rPr kumimoji="1" lang="en-US" altLang="zh-CN" dirty="0"/>
              <a:t>Make</a:t>
            </a:r>
            <a:r>
              <a:rPr kumimoji="1" lang="zh-CN" altLang="en-US" dirty="0"/>
              <a:t> </a:t>
            </a:r>
            <a:r>
              <a:rPr kumimoji="1" lang="en-US" altLang="zh-CN" dirty="0"/>
              <a:t>Darknet</a:t>
            </a:r>
            <a:r>
              <a:rPr kumimoji="1" lang="zh-CN" altLang="en-US" dirty="0"/>
              <a:t> </a:t>
            </a:r>
            <a:r>
              <a:rPr kumimoji="1" lang="en-US" altLang="zh-CN" dirty="0"/>
              <a:t>with</a:t>
            </a:r>
            <a:r>
              <a:rPr kumimoji="1" lang="zh-CN" altLang="en-US" dirty="0"/>
              <a:t> </a:t>
            </a:r>
            <a:r>
              <a:rPr kumimoji="1" lang="en-US" altLang="zh-CN" dirty="0"/>
              <a:t>CUDA</a:t>
            </a:r>
            <a:r>
              <a:rPr kumimoji="1" lang="zh-CN" altLang="en-US" dirty="0"/>
              <a:t> </a:t>
            </a:r>
            <a:r>
              <a:rPr kumimoji="1" lang="en-US" altLang="zh-CN" dirty="0"/>
              <a:t>CUDNN</a:t>
            </a:r>
            <a:r>
              <a:rPr kumimoji="1" lang="zh-CN" altLang="en-US" dirty="0"/>
              <a:t> </a:t>
            </a:r>
            <a:r>
              <a:rPr kumimoji="1" lang="en-US" altLang="zh-CN" dirty="0"/>
              <a:t>off</a:t>
            </a:r>
          </a:p>
          <a:p>
            <a:pPr marL="342900" indent="-342900">
              <a:buAutoNum type="arabicPeriod"/>
            </a:pPr>
            <a:r>
              <a:rPr kumimoji="1" lang="en-US" altLang="zh-CN" dirty="0"/>
              <a:t>Label</a:t>
            </a:r>
            <a:r>
              <a:rPr kumimoji="1" lang="zh-CN" altLang="en-US" dirty="0"/>
              <a:t> </a:t>
            </a:r>
            <a:r>
              <a:rPr kumimoji="1" lang="en-US" altLang="zh-CN" dirty="0"/>
              <a:t>the</a:t>
            </a:r>
            <a:r>
              <a:rPr kumimoji="1" lang="zh-CN" altLang="en-US" dirty="0"/>
              <a:t> </a:t>
            </a:r>
            <a:r>
              <a:rPr kumimoji="1" lang="en-US" altLang="zh-CN" dirty="0"/>
              <a:t>dataset</a:t>
            </a:r>
            <a:r>
              <a:rPr kumimoji="1" lang="zh-CN" altLang="en-US" dirty="0"/>
              <a:t> </a:t>
            </a:r>
            <a:r>
              <a:rPr kumimoji="1" lang="en-US" altLang="zh-CN" dirty="0"/>
              <a:t>image</a:t>
            </a:r>
            <a:r>
              <a:rPr kumimoji="1" lang="zh-CN" altLang="en-US" dirty="0"/>
              <a:t> </a:t>
            </a:r>
            <a:r>
              <a:rPr kumimoji="1" lang="en-US" altLang="zh-CN" dirty="0"/>
              <a:t>by</a:t>
            </a:r>
            <a:r>
              <a:rPr kumimoji="1" lang="zh-CN" altLang="en-US" dirty="0"/>
              <a:t> </a:t>
            </a:r>
            <a:r>
              <a:rPr kumimoji="1" lang="en-US" altLang="zh-CN" dirty="0"/>
              <a:t>YOLO-Mark</a:t>
            </a:r>
          </a:p>
          <a:p>
            <a:r>
              <a:rPr kumimoji="1" lang="zh-CN" altLang="en-US" dirty="0"/>
              <a:t>      </a:t>
            </a:r>
            <a:r>
              <a:rPr kumimoji="1" lang="en-US" altLang="zh-CN" dirty="0"/>
              <a:t>The</a:t>
            </a:r>
            <a:r>
              <a:rPr kumimoji="1" lang="zh-CN" altLang="en-US" dirty="0"/>
              <a:t> </a:t>
            </a:r>
            <a:r>
              <a:rPr kumimoji="1" lang="en-US" altLang="zh-CN" dirty="0"/>
              <a:t>data</a:t>
            </a:r>
            <a:r>
              <a:rPr kumimoji="1" lang="zh-CN" altLang="en-US" dirty="0"/>
              <a:t> </a:t>
            </a:r>
            <a:r>
              <a:rPr kumimoji="1" lang="en-US" altLang="zh-CN" dirty="0"/>
              <a:t>and</a:t>
            </a:r>
            <a:r>
              <a:rPr kumimoji="1" lang="zh-CN" altLang="en-US" dirty="0"/>
              <a:t> </a:t>
            </a:r>
            <a:r>
              <a:rPr kumimoji="1" lang="en-US" altLang="zh-CN" dirty="0"/>
              <a:t>boxes-info</a:t>
            </a:r>
            <a:r>
              <a:rPr kumimoji="1" lang="zh-CN" altLang="en-US" dirty="0"/>
              <a:t> </a:t>
            </a:r>
            <a:r>
              <a:rPr kumimoji="1" lang="en-US" altLang="zh-CN" dirty="0"/>
              <a:t>files</a:t>
            </a:r>
            <a:r>
              <a:rPr kumimoji="1" lang="zh-CN" altLang="en-US" dirty="0"/>
              <a:t> </a:t>
            </a:r>
            <a:r>
              <a:rPr kumimoji="1" lang="en-US" altLang="zh-CN" dirty="0"/>
              <a:t>will</a:t>
            </a:r>
            <a:r>
              <a:rPr kumimoji="1" lang="zh-CN" altLang="en-US" dirty="0"/>
              <a:t> </a:t>
            </a:r>
            <a:r>
              <a:rPr kumimoji="1" lang="en-US" altLang="zh-CN" dirty="0"/>
              <a:t>be</a:t>
            </a:r>
            <a:r>
              <a:rPr kumimoji="1" lang="zh-CN" altLang="en-US" dirty="0"/>
              <a:t> </a:t>
            </a:r>
            <a:r>
              <a:rPr kumimoji="1" lang="en-US" altLang="zh-CN" dirty="0"/>
              <a:t>generated</a:t>
            </a:r>
            <a:r>
              <a:rPr kumimoji="1" lang="zh-CN" altLang="en-US" dirty="0"/>
              <a:t> </a:t>
            </a:r>
            <a:r>
              <a:rPr kumimoji="1" lang="en-US" altLang="zh-CN" dirty="0"/>
              <a:t>automatically</a:t>
            </a:r>
          </a:p>
          <a:p>
            <a:pPr marL="342900" indent="-342900">
              <a:buAutoNum type="arabicPeriod" startAt="3"/>
            </a:pPr>
            <a:r>
              <a:rPr kumimoji="1" lang="en-US" altLang="zh-CN" dirty="0"/>
              <a:t>Modify the yolo configuration</a:t>
            </a:r>
          </a:p>
          <a:p>
            <a:pPr marL="342900" indent="-342900">
              <a:buAutoNum type="arabicPeriod" startAt="3"/>
            </a:pPr>
            <a:r>
              <a:rPr kumimoji="1" lang="en-US" altLang="zh-CN" dirty="0"/>
              <a:t>Start training by “./darknet detector train .data .</a:t>
            </a:r>
            <a:r>
              <a:rPr kumimoji="1" lang="en-US" altLang="zh-CN" dirty="0" err="1"/>
              <a:t>cfg</a:t>
            </a:r>
            <a:r>
              <a:rPr kumimoji="1" lang="en-US" altLang="zh-CN" dirty="0"/>
              <a:t>  .conv”</a:t>
            </a:r>
          </a:p>
          <a:p>
            <a:pPr marL="342900" indent="-342900">
              <a:buAutoNum type="arabicPeriod"/>
            </a:pPr>
            <a:endParaRPr kumimoji="1" lang="en-US" altLang="zh-CN" dirty="0"/>
          </a:p>
          <a:p>
            <a:pPr marL="342900" indent="-342900">
              <a:buAutoNum type="arabicPeriod"/>
            </a:pPr>
            <a:endParaRPr kumimoji="1" lang="en-US" altLang="zh-CN" dirty="0"/>
          </a:p>
          <a:p>
            <a:endParaRPr kumimoji="1" lang="en-US" altLang="zh-CN" dirty="0"/>
          </a:p>
          <a:p>
            <a:endParaRPr kumimoji="1" lang="en-US" altLang="zh-CN" dirty="0"/>
          </a:p>
          <a:p>
            <a:endParaRPr kumimoji="1" lang="en-US" altLang="zh-CN" dirty="0"/>
          </a:p>
          <a:p>
            <a:endParaRPr kumimoji="1" lang="en-US" altLang="zh-CN" dirty="0"/>
          </a:p>
          <a:p>
            <a:endParaRPr kumimoji="1" lang="zh-CN" altLang="en-US" dirty="0"/>
          </a:p>
        </p:txBody>
      </p:sp>
      <p:sp>
        <p:nvSpPr>
          <p:cNvPr id="5" name="文本框 4">
            <a:extLst>
              <a:ext uri="{FF2B5EF4-FFF2-40B4-BE49-F238E27FC236}">
                <a16:creationId xmlns:a16="http://schemas.microsoft.com/office/drawing/2014/main" id="{EA82F64C-7C8C-5C43-B2B0-EA002D1801F8}"/>
              </a:ext>
            </a:extLst>
          </p:cNvPr>
          <p:cNvSpPr txBox="1"/>
          <p:nvPr/>
        </p:nvSpPr>
        <p:spPr>
          <a:xfrm>
            <a:off x="1027012" y="3671484"/>
            <a:ext cx="6962400" cy="3970318"/>
          </a:xfrm>
          <a:prstGeom prst="rect">
            <a:avLst/>
          </a:prstGeom>
          <a:noFill/>
        </p:spPr>
        <p:txBody>
          <a:bodyPr wrap="square" rtlCol="0">
            <a:spAutoFit/>
          </a:bodyPr>
          <a:lstStyle/>
          <a:p>
            <a:r>
              <a:rPr kumimoji="1" lang="en-US" altLang="zh-CN" dirty="0"/>
              <a:t>Settings:</a:t>
            </a:r>
          </a:p>
          <a:p>
            <a:r>
              <a:rPr kumimoji="1" lang="zh-CN" altLang="en-US" dirty="0"/>
              <a:t>    </a:t>
            </a:r>
            <a:r>
              <a:rPr kumimoji="1" lang="en-US" altLang="zh-CN" dirty="0"/>
              <a:t>Datasets: 250 pics</a:t>
            </a:r>
          </a:p>
          <a:p>
            <a:r>
              <a:rPr kumimoji="1" lang="en-US" altLang="zh-CN" dirty="0"/>
              <a:t>    Classes: 1</a:t>
            </a:r>
          </a:p>
          <a:p>
            <a:r>
              <a:rPr kumimoji="1" lang="en-US" altLang="zh-CN" dirty="0"/>
              <a:t>    Filters: 18</a:t>
            </a:r>
          </a:p>
          <a:p>
            <a:r>
              <a:rPr kumimoji="1" lang="en-US" altLang="zh-CN" dirty="0"/>
              <a:t>    Batch: 64</a:t>
            </a:r>
          </a:p>
          <a:p>
            <a:r>
              <a:rPr kumimoji="1" lang="en-US" altLang="zh-CN" dirty="0"/>
              <a:t>    Subdivisions: 32  </a:t>
            </a:r>
          </a:p>
          <a:p>
            <a:r>
              <a:rPr kumimoji="1" lang="en-US" altLang="zh-CN" dirty="0"/>
              <a:t>    max-batches: 6000</a:t>
            </a:r>
          </a:p>
          <a:p>
            <a:r>
              <a:rPr kumimoji="1" lang="en-US" altLang="zh-CN" dirty="0"/>
              <a:t>    steps:4800, 5400</a:t>
            </a:r>
          </a:p>
          <a:p>
            <a:r>
              <a:rPr kumimoji="1" lang="en-US" altLang="zh-CN" dirty="0"/>
              <a:t>    Learning Rate: 0.008</a:t>
            </a:r>
          </a:p>
          <a:p>
            <a:r>
              <a:rPr kumimoji="1" lang="en-US" altLang="zh-CN" dirty="0"/>
              <a:t>    Epochs: 4</a:t>
            </a:r>
          </a:p>
          <a:p>
            <a:r>
              <a:rPr kumimoji="1" lang="en-US" altLang="zh-CN" dirty="0"/>
              <a:t>    Times: 8H 40Min</a:t>
            </a:r>
          </a:p>
          <a:p>
            <a:endParaRPr kumimoji="1" lang="en-US" altLang="zh-CN" dirty="0"/>
          </a:p>
          <a:p>
            <a:endParaRPr kumimoji="1" lang="en-US" altLang="zh-CN" dirty="0"/>
          </a:p>
          <a:p>
            <a:r>
              <a:rPr kumimoji="1" lang="en-US" altLang="zh-CN" dirty="0"/>
              <a:t>  </a:t>
            </a:r>
            <a:endParaRPr kumimoji="1" lang="zh-CN" altLang="en-US" dirty="0"/>
          </a:p>
        </p:txBody>
      </p:sp>
      <p:pic>
        <p:nvPicPr>
          <p:cNvPr id="6" name="图片 5">
            <a:extLst>
              <a:ext uri="{FF2B5EF4-FFF2-40B4-BE49-F238E27FC236}">
                <a16:creationId xmlns:a16="http://schemas.microsoft.com/office/drawing/2014/main" id="{D7B9C5FC-AE2A-45F7-8B07-15042802710A}"/>
              </a:ext>
            </a:extLst>
          </p:cNvPr>
          <p:cNvPicPr>
            <a:picLocks noChangeAspect="1"/>
          </p:cNvPicPr>
          <p:nvPr/>
        </p:nvPicPr>
        <p:blipFill>
          <a:blip r:embed="rId2"/>
          <a:stretch>
            <a:fillRect/>
          </a:stretch>
        </p:blipFill>
        <p:spPr>
          <a:xfrm>
            <a:off x="6095999" y="4604258"/>
            <a:ext cx="6043547" cy="222196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图片 7">
            <a:extLst>
              <a:ext uri="{FF2B5EF4-FFF2-40B4-BE49-F238E27FC236}">
                <a16:creationId xmlns:a16="http://schemas.microsoft.com/office/drawing/2014/main" id="{AA9E46CE-9F11-46F8-AABB-344E38F9861C}"/>
              </a:ext>
            </a:extLst>
          </p:cNvPr>
          <p:cNvPicPr>
            <a:picLocks noChangeAspect="1"/>
          </p:cNvPicPr>
          <p:nvPr/>
        </p:nvPicPr>
        <p:blipFill>
          <a:blip r:embed="rId3"/>
          <a:stretch>
            <a:fillRect/>
          </a:stretch>
        </p:blipFill>
        <p:spPr>
          <a:xfrm>
            <a:off x="8682087" y="1348033"/>
            <a:ext cx="3265928" cy="3256226"/>
          </a:xfrm>
          <a:prstGeom prst="rect">
            <a:avLst/>
          </a:prstGeom>
          <a:ln>
            <a:noFill/>
          </a:ln>
          <a:effectLst>
            <a:softEdge rad="112500"/>
          </a:effectLst>
        </p:spPr>
      </p:pic>
    </p:spTree>
    <p:extLst>
      <p:ext uri="{BB962C8B-B14F-4D97-AF65-F5344CB8AC3E}">
        <p14:creationId xmlns:p14="http://schemas.microsoft.com/office/powerpoint/2010/main" val="2761842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898D4-D5E1-0D42-8D3B-283568A1CD09}"/>
              </a:ext>
            </a:extLst>
          </p:cNvPr>
          <p:cNvSpPr>
            <a:spLocks noGrp="1"/>
          </p:cNvSpPr>
          <p:nvPr>
            <p:ph type="title"/>
          </p:nvPr>
        </p:nvSpPr>
        <p:spPr/>
        <p:txBody>
          <a:bodyPr/>
          <a:lstStyle/>
          <a:p>
            <a:r>
              <a:rPr lang="en-US" dirty="0"/>
              <a:t>Import</a:t>
            </a:r>
            <a:r>
              <a:rPr lang="zh-CN" altLang="en-US" dirty="0"/>
              <a:t> </a:t>
            </a:r>
            <a:r>
              <a:rPr lang="en-US" altLang="zh-CN" dirty="0"/>
              <a:t>pre-trained</a:t>
            </a:r>
            <a:r>
              <a:rPr lang="zh-CN" altLang="en-US" dirty="0"/>
              <a:t> </a:t>
            </a:r>
            <a:r>
              <a:rPr lang="en-US" altLang="zh-CN" dirty="0"/>
              <a:t>model</a:t>
            </a:r>
            <a:r>
              <a:rPr lang="zh-CN" altLang="en-US" dirty="0"/>
              <a:t> </a:t>
            </a:r>
            <a:r>
              <a:rPr lang="en-US" altLang="zh-CN" dirty="0"/>
              <a:t>into</a:t>
            </a:r>
            <a:r>
              <a:rPr lang="zh-CN" altLang="en-US" dirty="0"/>
              <a:t> </a:t>
            </a:r>
            <a:r>
              <a:rPr lang="en-US" altLang="zh-CN" dirty="0"/>
              <a:t>project</a:t>
            </a:r>
            <a:endParaRPr lang="en-US" dirty="0"/>
          </a:p>
        </p:txBody>
      </p:sp>
      <p:sp>
        <p:nvSpPr>
          <p:cNvPr id="3" name="Content Placeholder 2">
            <a:extLst>
              <a:ext uri="{FF2B5EF4-FFF2-40B4-BE49-F238E27FC236}">
                <a16:creationId xmlns:a16="http://schemas.microsoft.com/office/drawing/2014/main" id="{D9B10CE3-FF01-5643-B5FB-C54F61ABE681}"/>
              </a:ext>
            </a:extLst>
          </p:cNvPr>
          <p:cNvSpPr>
            <a:spLocks noGrp="1"/>
          </p:cNvSpPr>
          <p:nvPr>
            <p:ph idx="1"/>
          </p:nvPr>
        </p:nvSpPr>
        <p:spPr>
          <a:xfrm>
            <a:off x="810000" y="1661532"/>
            <a:ext cx="10151649" cy="3751217"/>
          </a:xfrm>
        </p:spPr>
        <p:txBody>
          <a:bodyPr/>
          <a:lstStyle/>
          <a:p>
            <a:endParaRPr lang="en-US" dirty="0"/>
          </a:p>
          <a:p>
            <a:endParaRPr lang="en-US" dirty="0"/>
          </a:p>
        </p:txBody>
      </p:sp>
      <p:sp>
        <p:nvSpPr>
          <p:cNvPr id="4" name="文本框 3">
            <a:extLst>
              <a:ext uri="{FF2B5EF4-FFF2-40B4-BE49-F238E27FC236}">
                <a16:creationId xmlns:a16="http://schemas.microsoft.com/office/drawing/2014/main" id="{8E9BA6C6-EFC5-1849-8038-E4B94406E1AB}"/>
              </a:ext>
            </a:extLst>
          </p:cNvPr>
          <p:cNvSpPr txBox="1"/>
          <p:nvPr/>
        </p:nvSpPr>
        <p:spPr>
          <a:xfrm>
            <a:off x="1048213" y="2543650"/>
            <a:ext cx="9277816" cy="3416320"/>
          </a:xfrm>
          <a:prstGeom prst="rect">
            <a:avLst/>
          </a:prstGeom>
          <a:noFill/>
        </p:spPr>
        <p:txBody>
          <a:bodyPr wrap="square" rtlCol="0">
            <a:spAutoFit/>
          </a:bodyPr>
          <a:lstStyle/>
          <a:p>
            <a:r>
              <a:rPr kumimoji="1" lang="en-US" altLang="zh-CN" dirty="0"/>
              <a:t>After several hour’s training, we have the Yolo Weights Files. Let’s rebuild the net from configuration and weights files.</a:t>
            </a:r>
          </a:p>
          <a:p>
            <a:endParaRPr kumimoji="1" lang="en-US" altLang="zh-CN" dirty="0"/>
          </a:p>
          <a:p>
            <a:pPr marL="342900" indent="-342900">
              <a:buAutoNum type="arabicPeriod"/>
            </a:pPr>
            <a:r>
              <a:rPr kumimoji="1" lang="en-US" altLang="zh-CN" dirty="0"/>
              <a:t>Rebuild net</a:t>
            </a:r>
          </a:p>
          <a:p>
            <a:pPr marL="342900" indent="-342900">
              <a:buAutoNum type="arabicPeriod"/>
            </a:pPr>
            <a:r>
              <a:rPr kumimoji="1" lang="en-US" altLang="zh-CN" dirty="0"/>
              <a:t>Resize image and get blob</a:t>
            </a:r>
          </a:p>
          <a:p>
            <a:pPr marL="342900" indent="-342900">
              <a:buAutoNum type="arabicPeriod"/>
            </a:pPr>
            <a:r>
              <a:rPr kumimoji="1" lang="en-US" altLang="zh-CN" dirty="0" err="1"/>
              <a:t>SetInput</a:t>
            </a:r>
            <a:r>
              <a:rPr kumimoji="1" lang="en-US" altLang="zh-CN" dirty="0"/>
              <a:t> and Make Forward</a:t>
            </a:r>
          </a:p>
          <a:p>
            <a:pPr marL="342900" indent="-342900">
              <a:buAutoNum type="arabicPeriod" startAt="4"/>
            </a:pPr>
            <a:r>
              <a:rPr kumimoji="1" lang="en-US" altLang="zh-CN" dirty="0"/>
              <a:t>Get the output mats</a:t>
            </a:r>
          </a:p>
          <a:p>
            <a:pPr marL="342900" indent="-342900">
              <a:buAutoNum type="arabicPeriod" startAt="4"/>
            </a:pPr>
            <a:r>
              <a:rPr kumimoji="1" lang="en-US" altLang="zh-CN" dirty="0" err="1"/>
              <a:t>NMSBox</a:t>
            </a:r>
            <a:endParaRPr kumimoji="1" lang="en-US" altLang="zh-CN" dirty="0"/>
          </a:p>
          <a:p>
            <a:endParaRPr kumimoji="1" lang="en-US" altLang="zh-CN" dirty="0"/>
          </a:p>
          <a:p>
            <a:endParaRPr kumimoji="1" lang="en-US" altLang="zh-CN" dirty="0"/>
          </a:p>
          <a:p>
            <a:endParaRPr kumimoji="1" lang="en-US" altLang="zh-CN" dirty="0"/>
          </a:p>
          <a:p>
            <a:endParaRPr kumimoji="1" lang="zh-CN" altLang="en-US" dirty="0"/>
          </a:p>
        </p:txBody>
      </p:sp>
      <p:sp>
        <p:nvSpPr>
          <p:cNvPr id="5" name="文本框 4">
            <a:extLst>
              <a:ext uri="{FF2B5EF4-FFF2-40B4-BE49-F238E27FC236}">
                <a16:creationId xmlns:a16="http://schemas.microsoft.com/office/drawing/2014/main" id="{666143D6-DEAC-A342-A5C3-BE953D56158A}"/>
              </a:ext>
            </a:extLst>
          </p:cNvPr>
          <p:cNvSpPr txBox="1"/>
          <p:nvPr/>
        </p:nvSpPr>
        <p:spPr>
          <a:xfrm>
            <a:off x="1048213" y="2152146"/>
            <a:ext cx="4560849" cy="369332"/>
          </a:xfrm>
          <a:prstGeom prst="rect">
            <a:avLst/>
          </a:prstGeom>
          <a:noFill/>
        </p:spPr>
        <p:txBody>
          <a:bodyPr wrap="square" rtlCol="0">
            <a:spAutoFit/>
          </a:bodyPr>
          <a:lstStyle/>
          <a:p>
            <a:r>
              <a:rPr kumimoji="1" lang="en-US" altLang="zh-CN" b="1" dirty="0" err="1"/>
              <a:t>OpenCV.DNN</a:t>
            </a:r>
            <a:endParaRPr kumimoji="1" lang="zh-CN" altLang="en-US" b="1" dirty="0"/>
          </a:p>
        </p:txBody>
      </p:sp>
      <p:pic>
        <p:nvPicPr>
          <p:cNvPr id="6" name="图片 5">
            <a:extLst>
              <a:ext uri="{FF2B5EF4-FFF2-40B4-BE49-F238E27FC236}">
                <a16:creationId xmlns:a16="http://schemas.microsoft.com/office/drawing/2014/main" id="{403DAA8E-F440-49EE-9764-06FD8BF096B9}"/>
              </a:ext>
            </a:extLst>
          </p:cNvPr>
          <p:cNvPicPr>
            <a:picLocks noChangeAspect="1"/>
          </p:cNvPicPr>
          <p:nvPr/>
        </p:nvPicPr>
        <p:blipFill>
          <a:blip r:embed="rId2"/>
          <a:stretch>
            <a:fillRect/>
          </a:stretch>
        </p:blipFill>
        <p:spPr>
          <a:xfrm>
            <a:off x="5213490" y="3149799"/>
            <a:ext cx="6761391" cy="3019425"/>
          </a:xfrm>
          <a:prstGeom prst="rect">
            <a:avLst/>
          </a:prstGeom>
        </p:spPr>
      </p:pic>
      <p:pic>
        <p:nvPicPr>
          <p:cNvPr id="7" name="图片 6">
            <a:extLst>
              <a:ext uri="{FF2B5EF4-FFF2-40B4-BE49-F238E27FC236}">
                <a16:creationId xmlns:a16="http://schemas.microsoft.com/office/drawing/2014/main" id="{E010A5B6-5839-4E7E-A394-96AA7248F028}"/>
              </a:ext>
            </a:extLst>
          </p:cNvPr>
          <p:cNvPicPr>
            <a:picLocks noChangeAspect="1"/>
          </p:cNvPicPr>
          <p:nvPr/>
        </p:nvPicPr>
        <p:blipFill rotWithShape="1">
          <a:blip r:embed="rId3"/>
          <a:srcRect t="1" r="21945" b="3501"/>
          <a:stretch/>
        </p:blipFill>
        <p:spPr>
          <a:xfrm>
            <a:off x="810000" y="5144062"/>
            <a:ext cx="4403490" cy="1025162"/>
          </a:xfrm>
          <a:prstGeom prst="rect">
            <a:avLst/>
          </a:prstGeom>
        </p:spPr>
      </p:pic>
    </p:spTree>
    <p:extLst>
      <p:ext uri="{BB962C8B-B14F-4D97-AF65-F5344CB8AC3E}">
        <p14:creationId xmlns:p14="http://schemas.microsoft.com/office/powerpoint/2010/main" val="1620279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898D4-D5E1-0D42-8D3B-283568A1CD09}"/>
              </a:ext>
            </a:extLst>
          </p:cNvPr>
          <p:cNvSpPr>
            <a:spLocks noGrp="1"/>
          </p:cNvSpPr>
          <p:nvPr>
            <p:ph type="title"/>
          </p:nvPr>
        </p:nvSpPr>
        <p:spPr/>
        <p:txBody>
          <a:bodyPr/>
          <a:lstStyle/>
          <a:p>
            <a:r>
              <a:rPr lang="en-US" altLang="zh-CN" dirty="0"/>
              <a:t>Some Problems</a:t>
            </a:r>
            <a:endParaRPr lang="en-US" dirty="0"/>
          </a:p>
        </p:txBody>
      </p:sp>
      <p:sp>
        <p:nvSpPr>
          <p:cNvPr id="4" name="文本框 3">
            <a:extLst>
              <a:ext uri="{FF2B5EF4-FFF2-40B4-BE49-F238E27FC236}">
                <a16:creationId xmlns:a16="http://schemas.microsoft.com/office/drawing/2014/main" id="{8E9BA6C6-EFC5-1849-8038-E4B94406E1AB}"/>
              </a:ext>
            </a:extLst>
          </p:cNvPr>
          <p:cNvSpPr txBox="1"/>
          <p:nvPr/>
        </p:nvSpPr>
        <p:spPr>
          <a:xfrm>
            <a:off x="738281" y="2431369"/>
            <a:ext cx="9714565" cy="3328988"/>
          </a:xfrm>
          <a:prstGeom prst="rect">
            <a:avLst/>
          </a:prstGeom>
          <a:noFill/>
        </p:spPr>
        <p:txBody>
          <a:bodyPr wrap="square" rtlCol="0">
            <a:spAutoFit/>
          </a:bodyPr>
          <a:lstStyle/>
          <a:p>
            <a:pPr marL="342900" indent="-342900">
              <a:lnSpc>
                <a:spcPct val="200000"/>
              </a:lnSpc>
              <a:buAutoNum type="arabicPeriod"/>
            </a:pPr>
            <a:r>
              <a:rPr kumimoji="1" lang="en-US" altLang="zh-CN" dirty="0"/>
              <a:t>This model size is too small, and the parameters are insufficient</a:t>
            </a:r>
          </a:p>
          <a:p>
            <a:pPr marL="342900" indent="-342900">
              <a:lnSpc>
                <a:spcPct val="200000"/>
              </a:lnSpc>
              <a:buAutoNum type="arabicPeriod"/>
            </a:pPr>
            <a:r>
              <a:rPr kumimoji="1" lang="en-US" altLang="zh-CN" dirty="0"/>
              <a:t>Few training batches </a:t>
            </a:r>
          </a:p>
          <a:p>
            <a:pPr marL="342900" indent="-342900">
              <a:lnSpc>
                <a:spcPct val="200000"/>
              </a:lnSpc>
              <a:buAutoNum type="arabicPeriod"/>
            </a:pPr>
            <a:r>
              <a:rPr kumimoji="1" lang="en-US" altLang="zh-CN" dirty="0"/>
              <a:t>The Yolo model lacks an attention module</a:t>
            </a:r>
          </a:p>
          <a:p>
            <a:pPr marL="342900" indent="-342900">
              <a:lnSpc>
                <a:spcPct val="200000"/>
              </a:lnSpc>
              <a:buAutoNum type="arabicPeriod"/>
            </a:pPr>
            <a:r>
              <a:rPr kumimoji="1" lang="en-US" altLang="zh-CN" dirty="0"/>
              <a:t>Tumor targets have blurred edges and lack of details</a:t>
            </a:r>
          </a:p>
          <a:p>
            <a:pPr marL="342900" indent="-342900">
              <a:lnSpc>
                <a:spcPct val="200000"/>
              </a:lnSpc>
              <a:buAutoNum type="arabicPeriod"/>
            </a:pPr>
            <a:r>
              <a:rPr kumimoji="1" lang="en-US" altLang="zh-CN" dirty="0"/>
              <a:t>Lack of other features</a:t>
            </a:r>
          </a:p>
          <a:p>
            <a:pPr marL="342900" indent="-342900">
              <a:lnSpc>
                <a:spcPct val="200000"/>
              </a:lnSpc>
              <a:buAutoNum type="arabicPeriod"/>
            </a:pPr>
            <a:r>
              <a:rPr kumimoji="1" lang="en-US" altLang="zh-CN" dirty="0"/>
              <a:t>No enough time</a:t>
            </a:r>
          </a:p>
        </p:txBody>
      </p:sp>
    </p:spTree>
    <p:extLst>
      <p:ext uri="{BB962C8B-B14F-4D97-AF65-F5344CB8AC3E}">
        <p14:creationId xmlns:p14="http://schemas.microsoft.com/office/powerpoint/2010/main" val="787672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898D4-D5E1-0D42-8D3B-283568A1CD09}"/>
              </a:ext>
            </a:extLst>
          </p:cNvPr>
          <p:cNvSpPr>
            <a:spLocks noGrp="1"/>
          </p:cNvSpPr>
          <p:nvPr>
            <p:ph type="title"/>
          </p:nvPr>
        </p:nvSpPr>
        <p:spPr/>
        <p:txBody>
          <a:bodyPr/>
          <a:lstStyle/>
          <a:p>
            <a:r>
              <a:rPr lang="en-US" altLang="zh-CN" dirty="0"/>
              <a:t>Demo Present</a:t>
            </a:r>
            <a:endParaRPr lang="en-US" dirty="0"/>
          </a:p>
        </p:txBody>
      </p:sp>
      <p:sp>
        <p:nvSpPr>
          <p:cNvPr id="3" name="Content Placeholder 2">
            <a:extLst>
              <a:ext uri="{FF2B5EF4-FFF2-40B4-BE49-F238E27FC236}">
                <a16:creationId xmlns:a16="http://schemas.microsoft.com/office/drawing/2014/main" id="{D9B10CE3-FF01-5643-B5FB-C54F61ABE681}"/>
              </a:ext>
            </a:extLst>
          </p:cNvPr>
          <p:cNvSpPr>
            <a:spLocks noGrp="1"/>
          </p:cNvSpPr>
          <p:nvPr>
            <p:ph idx="1"/>
          </p:nvPr>
        </p:nvSpPr>
        <p:spPr>
          <a:xfrm>
            <a:off x="810000" y="1661532"/>
            <a:ext cx="10151649" cy="3751217"/>
          </a:xfrm>
        </p:spPr>
        <p:txBody>
          <a:bodyPr/>
          <a:lstStyle/>
          <a:p>
            <a:endParaRPr lang="en-US" dirty="0"/>
          </a:p>
          <a:p>
            <a:endParaRPr lang="en-US" dirty="0"/>
          </a:p>
        </p:txBody>
      </p:sp>
      <p:pic>
        <p:nvPicPr>
          <p:cNvPr id="4" name="Picture 3">
            <a:extLst>
              <a:ext uri="{FF2B5EF4-FFF2-40B4-BE49-F238E27FC236}">
                <a16:creationId xmlns:a16="http://schemas.microsoft.com/office/drawing/2014/main" id="{2CA011BF-2889-774D-B31C-D10EF64F293A}"/>
              </a:ext>
            </a:extLst>
          </p:cNvPr>
          <p:cNvPicPr>
            <a:picLocks noChangeAspect="1"/>
          </p:cNvPicPr>
          <p:nvPr/>
        </p:nvPicPr>
        <p:blipFill>
          <a:blip r:embed="rId2"/>
          <a:stretch>
            <a:fillRect/>
          </a:stretch>
        </p:blipFill>
        <p:spPr>
          <a:xfrm>
            <a:off x="2359263" y="2437063"/>
            <a:ext cx="7473472" cy="4055726"/>
          </a:xfrm>
          <a:prstGeom prst="rect">
            <a:avLst/>
          </a:prstGeom>
        </p:spPr>
      </p:pic>
    </p:spTree>
    <p:extLst>
      <p:ext uri="{BB962C8B-B14F-4D97-AF65-F5344CB8AC3E}">
        <p14:creationId xmlns:p14="http://schemas.microsoft.com/office/powerpoint/2010/main" val="6878858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E446B7E6-8568-417F-959E-DB3D1E70F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6E1474D4-6687-0E4F-94FC-3861C4291552}"/>
              </a:ext>
            </a:extLst>
          </p:cNvPr>
          <p:cNvSpPr>
            <a:spLocks noGrp="1"/>
          </p:cNvSpPr>
          <p:nvPr>
            <p:ph type="title"/>
          </p:nvPr>
        </p:nvSpPr>
        <p:spPr>
          <a:xfrm>
            <a:off x="285008" y="639097"/>
            <a:ext cx="5486528" cy="3781101"/>
          </a:xfrm>
        </p:spPr>
        <p:txBody>
          <a:bodyPr vert="horz" lIns="91440" tIns="45720" rIns="91440" bIns="45720" rtlCol="0" anchor="b">
            <a:normAutofit/>
          </a:bodyPr>
          <a:lstStyle/>
          <a:p>
            <a:r>
              <a:rPr lang="en-US" sz="5400" dirty="0"/>
              <a:t>THANK YOU ALL</a:t>
            </a:r>
          </a:p>
        </p:txBody>
      </p:sp>
      <p:pic>
        <p:nvPicPr>
          <p:cNvPr id="5" name="Picture 4">
            <a:extLst>
              <a:ext uri="{FF2B5EF4-FFF2-40B4-BE49-F238E27FC236}">
                <a16:creationId xmlns:a16="http://schemas.microsoft.com/office/drawing/2014/main" id="{134DC000-C466-46BE-AD87-3EE09C27C48B}"/>
              </a:ext>
            </a:extLst>
          </p:cNvPr>
          <p:cNvPicPr>
            <a:picLocks noChangeAspect="1"/>
          </p:cNvPicPr>
          <p:nvPr/>
        </p:nvPicPr>
        <p:blipFill rotWithShape="1">
          <a:blip r:embed="rId3"/>
          <a:srcRect l="20811" r="19902" b="-1"/>
          <a:stretch/>
        </p:blipFill>
        <p:spPr>
          <a:xfrm>
            <a:off x="6100916" y="10"/>
            <a:ext cx="6091084" cy="6857990"/>
          </a:xfrm>
          <a:prstGeom prst="rect">
            <a:avLst/>
          </a:prstGeom>
        </p:spPr>
      </p:pic>
    </p:spTree>
    <p:extLst>
      <p:ext uri="{BB962C8B-B14F-4D97-AF65-F5344CB8AC3E}">
        <p14:creationId xmlns:p14="http://schemas.microsoft.com/office/powerpoint/2010/main" val="5479486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648</Words>
  <Application>Microsoft Macintosh PowerPoint</Application>
  <PresentationFormat>Widescreen</PresentationFormat>
  <Paragraphs>133</Paragraphs>
  <Slides>13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Calibri</vt:lpstr>
      <vt:lpstr>Century Gothic</vt:lpstr>
      <vt:lpstr>Wingdings 2</vt:lpstr>
      <vt:lpstr>Quotable</vt:lpstr>
      <vt:lpstr>Final Project Presentation </vt:lpstr>
      <vt:lpstr>Overview</vt:lpstr>
      <vt:lpstr>Diagnose Brain Tumor</vt:lpstr>
      <vt:lpstr>User Interface (a medical bot)</vt:lpstr>
      <vt:lpstr>How the bot is built?</vt:lpstr>
      <vt:lpstr>How we made the bot talk:</vt:lpstr>
      <vt:lpstr>Which is better? RCNN? SSD? YOLO?</vt:lpstr>
      <vt:lpstr>YOLOv3 and YOLO-Fastest</vt:lpstr>
      <vt:lpstr>Training YOLO-Fastest Model via Darknet</vt:lpstr>
      <vt:lpstr>Import pre-trained model into project</vt:lpstr>
      <vt:lpstr>Some Problems</vt:lpstr>
      <vt:lpstr>Demo Present</vt:lpstr>
      <vt:lpstr>THANK YOU ALL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Final Project Presentation </dc:title>
  <dc:creator>Zhaohang Yan</dc:creator>
  <cp:lastModifiedBy>Zhaohang Yan</cp:lastModifiedBy>
  <cp:revision>7</cp:revision>
  <dcterms:created xsi:type="dcterms:W3CDTF">2020-12-05T06:27:07Z</dcterms:created>
  <dcterms:modified xsi:type="dcterms:W3CDTF">2020-12-05T08:27:59Z</dcterms:modified>
</cp:coreProperties>
</file>