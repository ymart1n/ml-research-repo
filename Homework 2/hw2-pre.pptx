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notesMasterIdLst>
    <p:notesMasterId r:id="rId10"/>
  </p:notesMasterIdLst>
  <p:sldIdLst>
    <p:sldId id="256" r:id="rId2"/>
    <p:sldId id="258" r:id="rId3"/>
    <p:sldId id="257" r:id="rId4"/>
    <p:sldId id="260" r:id="rId5"/>
    <p:sldId id="259" r:id="rId6"/>
    <p:sldId id="262" r:id="rId7"/>
    <p:sldId id="261" r:id="rId8"/>
    <p:sldId id="263"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0727" autoAdjust="0"/>
  </p:normalViewPr>
  <p:slideViewPr>
    <p:cSldViewPr snapToGrid="0">
      <p:cViewPr varScale="1">
        <p:scale>
          <a:sx n="116" d="100"/>
          <a:sy n="116" d="100"/>
        </p:scale>
        <p:origin x="138" y="3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CEF1EF-909D-414B-956F-6A81FE36FE25}" type="datetimeFigureOut">
              <a:rPr lang="en-CA" smtClean="0"/>
              <a:t>2020-11-06</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CDB4095-D3B1-428F-B161-03F77D37B078}" type="slidenum">
              <a:rPr lang="en-CA" smtClean="0"/>
              <a:t>‹#›</a:t>
            </a:fld>
            <a:endParaRPr lang="en-CA"/>
          </a:p>
        </p:txBody>
      </p:sp>
    </p:spTree>
    <p:extLst>
      <p:ext uri="{BB962C8B-B14F-4D97-AF65-F5344CB8AC3E}">
        <p14:creationId xmlns:p14="http://schemas.microsoft.com/office/powerpoint/2010/main" val="35476247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Good afternoon everyone. I‘m Martin from Group 2. </a:t>
            </a:r>
            <a:r>
              <a:rPr lang="en-US" altLang="zh-CN" dirty="0"/>
              <a:t>Today </a:t>
            </a:r>
            <a:r>
              <a:rPr lang="en-US" dirty="0"/>
              <a:t>I’m going to share the results </a:t>
            </a:r>
            <a:r>
              <a:rPr lang="en-CA" dirty="0"/>
              <a:t>we</a:t>
            </a:r>
            <a:r>
              <a:rPr lang="en-US" dirty="0"/>
              <a:t> obtained while we exploring the web scraping </a:t>
            </a:r>
            <a:r>
              <a:rPr lang="en-CA" altLang="zh-CN" dirty="0"/>
              <a:t>this week</a:t>
            </a:r>
            <a:r>
              <a:rPr lang="en-US" dirty="0"/>
              <a:t>.</a:t>
            </a:r>
          </a:p>
          <a:p>
            <a:endParaRPr lang="en-CA" dirty="0"/>
          </a:p>
        </p:txBody>
      </p:sp>
      <p:sp>
        <p:nvSpPr>
          <p:cNvPr id="4" name="Slide Number Placeholder 3"/>
          <p:cNvSpPr>
            <a:spLocks noGrp="1"/>
          </p:cNvSpPr>
          <p:nvPr>
            <p:ph type="sldNum" sz="quarter" idx="5"/>
          </p:nvPr>
        </p:nvSpPr>
        <p:spPr/>
        <p:txBody>
          <a:bodyPr/>
          <a:lstStyle/>
          <a:p>
            <a:fld id="{3CDB4095-D3B1-428F-B161-03F77D37B078}" type="slidenum">
              <a:rPr lang="en-CA" smtClean="0"/>
              <a:t>1</a:t>
            </a:fld>
            <a:endParaRPr lang="en-CA"/>
          </a:p>
        </p:txBody>
      </p:sp>
    </p:spTree>
    <p:extLst>
      <p:ext uri="{BB962C8B-B14F-4D97-AF65-F5344CB8AC3E}">
        <p14:creationId xmlns:p14="http://schemas.microsoft.com/office/powerpoint/2010/main" val="26468481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So this is the function we wrote to obtain the data of a single movie. As you can see, we have a variable named </a:t>
            </a:r>
            <a:r>
              <a:rPr lang="en-CA" dirty="0" err="1"/>
              <a:t>movie_soup</a:t>
            </a:r>
            <a:r>
              <a:rPr lang="en-CA" dirty="0"/>
              <a:t>. We then do a series of steps to get the data we want. Then we store the data in a python dictionary.</a:t>
            </a:r>
          </a:p>
        </p:txBody>
      </p:sp>
      <p:sp>
        <p:nvSpPr>
          <p:cNvPr id="4" name="Slide Number Placeholder 3"/>
          <p:cNvSpPr>
            <a:spLocks noGrp="1"/>
          </p:cNvSpPr>
          <p:nvPr>
            <p:ph type="sldNum" sz="quarter" idx="5"/>
          </p:nvPr>
        </p:nvSpPr>
        <p:spPr/>
        <p:txBody>
          <a:bodyPr/>
          <a:lstStyle/>
          <a:p>
            <a:fld id="{3CDB4095-D3B1-428F-B161-03F77D37B078}" type="slidenum">
              <a:rPr lang="en-CA" smtClean="0"/>
              <a:t>3</a:t>
            </a:fld>
            <a:endParaRPr lang="en-CA"/>
          </a:p>
        </p:txBody>
      </p:sp>
    </p:spTree>
    <p:extLst>
      <p:ext uri="{BB962C8B-B14F-4D97-AF65-F5344CB8AC3E}">
        <p14:creationId xmlns:p14="http://schemas.microsoft.com/office/powerpoint/2010/main" val="22982754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We creates Movie class to define a single Movie object that is going to be stored in the database. The function </a:t>
            </a:r>
            <a:r>
              <a:rPr lang="en-CA" dirty="0" err="1"/>
              <a:t>from_dict_to_movie</a:t>
            </a:r>
            <a:r>
              <a:rPr lang="en-CA" dirty="0"/>
              <a:t> converts python dictionary object to a Movie object we declared before so that we can store it into our MongoDB. Here’s the documentation of our </a:t>
            </a:r>
            <a:r>
              <a:rPr lang="en-CA" dirty="0" err="1"/>
              <a:t>movie_data</a:t>
            </a:r>
            <a:r>
              <a:rPr lang="en-CA" dirty="0"/>
              <a:t>. So each Movie object has a unique id. It has name, released or not. The year of release, the rating score, the number of ratings, and the director of the movie. </a:t>
            </a:r>
            <a:r>
              <a:rPr lang="en-US" altLang="zh-CN" dirty="0"/>
              <a:t>This is how we interact with our database and store each Movie object </a:t>
            </a:r>
            <a:r>
              <a:rPr lang="en-US" altLang="zh-CN"/>
              <a:t>to it.</a:t>
            </a:r>
            <a:endParaRPr lang="en-CA" dirty="0"/>
          </a:p>
        </p:txBody>
      </p:sp>
      <p:sp>
        <p:nvSpPr>
          <p:cNvPr id="4" name="Slide Number Placeholder 3"/>
          <p:cNvSpPr>
            <a:spLocks noGrp="1"/>
          </p:cNvSpPr>
          <p:nvPr>
            <p:ph type="sldNum" sz="quarter" idx="5"/>
          </p:nvPr>
        </p:nvSpPr>
        <p:spPr/>
        <p:txBody>
          <a:bodyPr/>
          <a:lstStyle/>
          <a:p>
            <a:fld id="{3CDB4095-D3B1-428F-B161-03F77D37B078}" type="slidenum">
              <a:rPr lang="en-CA" smtClean="0"/>
              <a:t>5</a:t>
            </a:fld>
            <a:endParaRPr lang="en-CA"/>
          </a:p>
        </p:txBody>
      </p:sp>
    </p:spTree>
    <p:extLst>
      <p:ext uri="{BB962C8B-B14F-4D97-AF65-F5344CB8AC3E}">
        <p14:creationId xmlns:p14="http://schemas.microsoft.com/office/powerpoint/2010/main" val="34632951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Here’s a peek of the information of our MongoDB database. …………….. We use MongoDB Compass to interact with the database</a:t>
            </a:r>
            <a:r>
              <a:rPr lang="en-CA" altLang="zh-CN" dirty="0"/>
              <a:t>.</a:t>
            </a:r>
            <a:r>
              <a:rPr lang="zh-CN" altLang="en-US" dirty="0"/>
              <a:t> </a:t>
            </a:r>
            <a:r>
              <a:rPr lang="en-CA" altLang="zh-CN" dirty="0"/>
              <a:t>It</a:t>
            </a:r>
            <a:r>
              <a:rPr lang="zh-CN" altLang="en-US" dirty="0"/>
              <a:t> </a:t>
            </a:r>
            <a:r>
              <a:rPr lang="en-CA" altLang="zh-CN" dirty="0"/>
              <a:t>provides a graphical user interface (GUI) so that it will be easier to do the database operations.</a:t>
            </a:r>
            <a:endParaRPr lang="en-CA" dirty="0"/>
          </a:p>
        </p:txBody>
      </p:sp>
      <p:sp>
        <p:nvSpPr>
          <p:cNvPr id="4" name="Slide Number Placeholder 3"/>
          <p:cNvSpPr>
            <a:spLocks noGrp="1"/>
          </p:cNvSpPr>
          <p:nvPr>
            <p:ph type="sldNum" sz="quarter" idx="5"/>
          </p:nvPr>
        </p:nvSpPr>
        <p:spPr/>
        <p:txBody>
          <a:bodyPr/>
          <a:lstStyle/>
          <a:p>
            <a:fld id="{3CDB4095-D3B1-428F-B161-03F77D37B078}" type="slidenum">
              <a:rPr lang="en-CA" smtClean="0"/>
              <a:t>6</a:t>
            </a:fld>
            <a:endParaRPr lang="en-CA"/>
          </a:p>
        </p:txBody>
      </p:sp>
    </p:spTree>
    <p:extLst>
      <p:ext uri="{BB962C8B-B14F-4D97-AF65-F5344CB8AC3E}">
        <p14:creationId xmlns:p14="http://schemas.microsoft.com/office/powerpoint/2010/main" val="19811052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Moving on to the data visualization. The first graph on the left shows the general distribution of the movie scores. Most of the comedy movies in our database are distributed between 5.5 points and 8 points. There are about 300,000 of them. The graph on the upper right corner shows that the number of ratings for most of the movies are under 200,000. The purple section in the last graph shows that the majority of movies released between 1980 and 2020 have scores from 5 to 8.</a:t>
            </a:r>
          </a:p>
        </p:txBody>
      </p:sp>
      <p:sp>
        <p:nvSpPr>
          <p:cNvPr id="4" name="Slide Number Placeholder 3"/>
          <p:cNvSpPr>
            <a:spLocks noGrp="1"/>
          </p:cNvSpPr>
          <p:nvPr>
            <p:ph type="sldNum" sz="quarter" idx="5"/>
          </p:nvPr>
        </p:nvSpPr>
        <p:spPr/>
        <p:txBody>
          <a:bodyPr/>
          <a:lstStyle/>
          <a:p>
            <a:fld id="{3CDB4095-D3B1-428F-B161-03F77D37B078}" type="slidenum">
              <a:rPr lang="en-CA" smtClean="0"/>
              <a:t>7</a:t>
            </a:fld>
            <a:endParaRPr lang="en-CA"/>
          </a:p>
        </p:txBody>
      </p:sp>
    </p:spTree>
    <p:extLst>
      <p:ext uri="{BB962C8B-B14F-4D97-AF65-F5344CB8AC3E}">
        <p14:creationId xmlns:p14="http://schemas.microsoft.com/office/powerpoint/2010/main" val="412101857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242851"/>
            <a:ext cx="8968084" cy="275942"/>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11716" y="4243845"/>
            <a:ext cx="3077108" cy="276940"/>
          </a:xfrm>
          <a:prstGeom prst="rect">
            <a:avLst/>
          </a:prstGeom>
        </p:spPr>
      </p:pic>
      <p:sp>
        <p:nvSpPr>
          <p:cNvPr id="9" name="Rectangle 8"/>
          <p:cNvSpPr/>
          <p:nvPr/>
        </p:nvSpPr>
        <p:spPr bwMode="ltGray">
          <a:xfrm>
            <a:off x="0" y="2590078"/>
            <a:ext cx="8968085" cy="1660332"/>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9111715" y="2590078"/>
            <a:ext cx="3077109" cy="16603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680322" y="2733709"/>
            <a:ext cx="8144134" cy="1373070"/>
          </a:xfrm>
        </p:spPr>
        <p:txBody>
          <a:bodyPr anchor="b">
            <a:noAutofit/>
          </a:bodyPr>
          <a:lstStyle>
            <a:lvl1pPr algn="r">
              <a:defRPr sz="5400"/>
            </a:lvl1pPr>
          </a:lstStyle>
          <a:p>
            <a:r>
              <a:rPr lang="en-US"/>
              <a:t>Click to edit Master title style</a:t>
            </a:r>
            <a:endParaRPr lang="en-US" dirty="0"/>
          </a:p>
        </p:txBody>
      </p:sp>
      <p:sp>
        <p:nvSpPr>
          <p:cNvPr id="3" name="Subtitle 2"/>
          <p:cNvSpPr>
            <a:spLocks noGrp="1"/>
          </p:cNvSpPr>
          <p:nvPr>
            <p:ph type="subTitle" idx="1"/>
          </p:nvPr>
        </p:nvSpPr>
        <p:spPr>
          <a:xfrm>
            <a:off x="680322" y="4394039"/>
            <a:ext cx="8144134" cy="1117687"/>
          </a:xfrm>
        </p:spPr>
        <p:txBody>
          <a:bodyPr>
            <a:normAutofit/>
          </a:bodyPr>
          <a:lstStyle>
            <a:lvl1pPr marL="0" indent="0" algn="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372BB4F-0E8D-4BE5-A3CF-D81A39B506F9}" type="datetimeFigureOut">
              <a:rPr lang="en-CA" smtClean="0"/>
              <a:t>2020-11-06</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a:xfrm>
            <a:off x="9255346" y="2750337"/>
            <a:ext cx="1171888" cy="1356442"/>
          </a:xfrm>
        </p:spPr>
        <p:txBody>
          <a:bodyPr/>
          <a:lstStyle/>
          <a:p>
            <a:fld id="{FBB28B50-BDCB-4F0E-A753-E0CFF39BC2C4}" type="slidenum">
              <a:rPr lang="en-CA" smtClean="0"/>
              <a:t>‹#›</a:t>
            </a:fld>
            <a:endParaRPr lang="en-CA"/>
          </a:p>
        </p:txBody>
      </p:sp>
    </p:spTree>
    <p:extLst>
      <p:ext uri="{BB962C8B-B14F-4D97-AF65-F5344CB8AC3E}">
        <p14:creationId xmlns:p14="http://schemas.microsoft.com/office/powerpoint/2010/main" val="29686136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372BB4F-0E8D-4BE5-A3CF-D81A39B506F9}" type="datetimeFigureOut">
              <a:rPr lang="en-CA" smtClean="0"/>
              <a:t>2020-11-06</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FBB28B50-BDCB-4F0E-A753-E0CFF39BC2C4}" type="slidenum">
              <a:rPr lang="en-CA" smtClean="0"/>
              <a:t>‹#›</a:t>
            </a:fld>
            <a:endParaRPr lang="en-CA"/>
          </a:p>
        </p:txBody>
      </p:sp>
    </p:spTree>
    <p:extLst>
      <p:ext uri="{BB962C8B-B14F-4D97-AF65-F5344CB8AC3E}">
        <p14:creationId xmlns:p14="http://schemas.microsoft.com/office/powerpoint/2010/main" val="36908974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086907"/>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4" y="4087901"/>
            <a:ext cx="1602997" cy="144270"/>
          </a:xfrm>
          <a:prstGeom prst="rect">
            <a:avLst/>
          </a:prstGeom>
        </p:spPr>
      </p:pic>
      <p:sp>
        <p:nvSpPr>
          <p:cNvPr id="9" name="Rectangle 8"/>
          <p:cNvSpPr/>
          <p:nvPr/>
        </p:nvSpPr>
        <p:spPr bwMode="ltGray">
          <a:xfrm>
            <a:off x="-2" y="2726267"/>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5" y="2726267"/>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2869895"/>
            <a:ext cx="9613860" cy="1090788"/>
          </a:xfrm>
        </p:spPr>
        <p:txBody>
          <a:bodyPr anchor="ctr">
            <a:normAutofit/>
          </a:bodyPr>
          <a:lstStyle>
            <a:lvl1pPr algn="r">
              <a:defRPr sz="3600"/>
            </a:lvl1pPr>
          </a:lstStyle>
          <a:p>
            <a:r>
              <a:rPr lang="en-US"/>
              <a:t>Click to edit Master title style</a:t>
            </a:r>
            <a:endParaRPr lang="en-US" dirty="0"/>
          </a:p>
        </p:txBody>
      </p:sp>
      <p:sp>
        <p:nvSpPr>
          <p:cNvPr id="3" name="Text Placeholder 2"/>
          <p:cNvSpPr>
            <a:spLocks noGrp="1"/>
          </p:cNvSpPr>
          <p:nvPr>
            <p:ph type="body" idx="1"/>
          </p:nvPr>
        </p:nvSpPr>
        <p:spPr>
          <a:xfrm>
            <a:off x="680322" y="4232171"/>
            <a:ext cx="9613860" cy="1704017"/>
          </a:xfrm>
        </p:spPr>
        <p:txBody>
          <a:bodyPr>
            <a:normAutofit/>
          </a:bodyPr>
          <a:lstStyle>
            <a:lvl1pPr marL="0" indent="0" algn="r">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372BB4F-0E8D-4BE5-A3CF-D81A39B506F9}" type="datetimeFigureOut">
              <a:rPr lang="en-CA" smtClean="0"/>
              <a:t>2020-11-06</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a:xfrm>
            <a:off x="10729455" y="2869895"/>
            <a:ext cx="1154151" cy="1090789"/>
          </a:xfrm>
        </p:spPr>
        <p:txBody>
          <a:bodyPr/>
          <a:lstStyle/>
          <a:p>
            <a:fld id="{FBB28B50-BDCB-4F0E-A753-E0CFF39BC2C4}" type="slidenum">
              <a:rPr lang="en-CA" smtClean="0"/>
              <a:t>‹#›</a:t>
            </a:fld>
            <a:endParaRPr lang="en-CA"/>
          </a:p>
        </p:txBody>
      </p:sp>
    </p:spTree>
    <p:extLst>
      <p:ext uri="{BB962C8B-B14F-4D97-AF65-F5344CB8AC3E}">
        <p14:creationId xmlns:p14="http://schemas.microsoft.com/office/powerpoint/2010/main" val="7696199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0320" y="2336873"/>
            <a:ext cx="4698358" cy="35993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594123" y="2336873"/>
            <a:ext cx="4700058" cy="35993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372BB4F-0E8D-4BE5-A3CF-D81A39B506F9}" type="datetimeFigureOut">
              <a:rPr lang="en-CA" smtClean="0"/>
              <a:t>2020-11-06</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FBB28B50-BDCB-4F0E-A753-E0CFF39BC2C4}" type="slidenum">
              <a:rPr lang="en-CA" smtClean="0"/>
              <a:t>‹#›</a:t>
            </a:fld>
            <a:endParaRPr lang="en-CA"/>
          </a:p>
        </p:txBody>
      </p:sp>
    </p:spTree>
    <p:extLst>
      <p:ext uri="{BB962C8B-B14F-4D97-AF65-F5344CB8AC3E}">
        <p14:creationId xmlns:p14="http://schemas.microsoft.com/office/powerpoint/2010/main" val="17196946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0" name="Picture 9"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1" name="Picture 10"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2" name="Rectangle 11"/>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753229"/>
            <a:ext cx="9613863" cy="1080937"/>
          </a:xfrm>
        </p:spPr>
        <p:txBody>
          <a:bodyPr/>
          <a:lstStyle/>
          <a:p>
            <a:r>
              <a:rPr lang="en-US"/>
              <a:t>Click to edit Master title style</a:t>
            </a:r>
            <a:endParaRPr lang="en-US" dirty="0"/>
          </a:p>
        </p:txBody>
      </p:sp>
      <p:sp>
        <p:nvSpPr>
          <p:cNvPr id="3" name="Text Placeholder 2"/>
          <p:cNvSpPr>
            <a:spLocks noGrp="1"/>
          </p:cNvSpPr>
          <p:nvPr>
            <p:ph type="body" idx="1"/>
          </p:nvPr>
        </p:nvSpPr>
        <p:spPr>
          <a:xfrm>
            <a:off x="906350" y="2336873"/>
            <a:ext cx="4472327" cy="69313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0322" y="3030008"/>
            <a:ext cx="4698355" cy="2906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820154" y="2336873"/>
            <a:ext cx="4474028" cy="69207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594123" y="3030008"/>
            <a:ext cx="4700059" cy="2906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372BB4F-0E8D-4BE5-A3CF-D81A39B506F9}" type="datetimeFigureOut">
              <a:rPr lang="en-CA" smtClean="0"/>
              <a:t>2020-11-06</a:t>
            </a:fld>
            <a:endParaRPr lang="en-CA"/>
          </a:p>
        </p:txBody>
      </p:sp>
      <p:sp>
        <p:nvSpPr>
          <p:cNvPr id="8" name="Footer Placeholder 7"/>
          <p:cNvSpPr>
            <a:spLocks noGrp="1"/>
          </p:cNvSpPr>
          <p:nvPr>
            <p:ph type="ftr" sz="quarter" idx="11"/>
          </p:nvPr>
        </p:nvSpPr>
        <p:spPr/>
        <p:txBody>
          <a:bodyPr/>
          <a:lstStyle/>
          <a:p>
            <a:endParaRPr lang="en-CA"/>
          </a:p>
        </p:txBody>
      </p:sp>
      <p:sp>
        <p:nvSpPr>
          <p:cNvPr id="9" name="Slide Number Placeholder 8"/>
          <p:cNvSpPr>
            <a:spLocks noGrp="1"/>
          </p:cNvSpPr>
          <p:nvPr>
            <p:ph type="sldNum" sz="quarter" idx="12"/>
          </p:nvPr>
        </p:nvSpPr>
        <p:spPr/>
        <p:txBody>
          <a:bodyPr/>
          <a:lstStyle/>
          <a:p>
            <a:fld id="{FBB28B50-BDCB-4F0E-A753-E0CFF39BC2C4}" type="slidenum">
              <a:rPr lang="en-CA" smtClean="0"/>
              <a:t>‹#›</a:t>
            </a:fld>
            <a:endParaRPr lang="en-CA"/>
          </a:p>
        </p:txBody>
      </p:sp>
    </p:spTree>
    <p:extLst>
      <p:ext uri="{BB962C8B-B14F-4D97-AF65-F5344CB8AC3E}">
        <p14:creationId xmlns:p14="http://schemas.microsoft.com/office/powerpoint/2010/main" val="4775259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7" name="Picture 6"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8" name="Rectangle 7"/>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372BB4F-0E8D-4BE5-A3CF-D81A39B506F9}" type="datetimeFigureOut">
              <a:rPr lang="en-CA" smtClean="0"/>
              <a:t>2020-11-06</a:t>
            </a:fld>
            <a:endParaRPr lang="en-CA"/>
          </a:p>
        </p:txBody>
      </p:sp>
      <p:sp>
        <p:nvSpPr>
          <p:cNvPr id="4" name="Footer Placeholder 3"/>
          <p:cNvSpPr>
            <a:spLocks noGrp="1"/>
          </p:cNvSpPr>
          <p:nvPr>
            <p:ph type="ftr" sz="quarter" idx="11"/>
          </p:nvPr>
        </p:nvSpPr>
        <p:spPr/>
        <p:txBody>
          <a:bodyPr/>
          <a:lstStyle/>
          <a:p>
            <a:endParaRPr lang="en-CA"/>
          </a:p>
        </p:txBody>
      </p:sp>
      <p:sp>
        <p:nvSpPr>
          <p:cNvPr id="5" name="Slide Number Placeholder 4"/>
          <p:cNvSpPr>
            <a:spLocks noGrp="1"/>
          </p:cNvSpPr>
          <p:nvPr>
            <p:ph type="sldNum" sz="quarter" idx="12"/>
          </p:nvPr>
        </p:nvSpPr>
        <p:spPr/>
        <p:txBody>
          <a:bodyPr/>
          <a:lstStyle/>
          <a:p>
            <a:fld id="{FBB28B50-BDCB-4F0E-A753-E0CFF39BC2C4}" type="slidenum">
              <a:rPr lang="en-CA" smtClean="0"/>
              <a:t>‹#›</a:t>
            </a:fld>
            <a:endParaRPr lang="en-CA"/>
          </a:p>
        </p:txBody>
      </p:sp>
    </p:spTree>
    <p:extLst>
      <p:ext uri="{BB962C8B-B14F-4D97-AF65-F5344CB8AC3E}">
        <p14:creationId xmlns:p14="http://schemas.microsoft.com/office/powerpoint/2010/main" val="12740787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HD-ShadowShor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6" name="Rectangle 5"/>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3372BB4F-0E8D-4BE5-A3CF-D81A39B506F9}" type="datetimeFigureOut">
              <a:rPr lang="en-CA" smtClean="0"/>
              <a:t>2020-11-06</a:t>
            </a:fld>
            <a:endParaRPr lang="en-CA"/>
          </a:p>
        </p:txBody>
      </p:sp>
      <p:sp>
        <p:nvSpPr>
          <p:cNvPr id="3" name="Footer Placeholder 2"/>
          <p:cNvSpPr>
            <a:spLocks noGrp="1"/>
          </p:cNvSpPr>
          <p:nvPr>
            <p:ph type="ftr" sz="quarter" idx="11"/>
          </p:nvPr>
        </p:nvSpPr>
        <p:spPr/>
        <p:txBody>
          <a:bodyPr/>
          <a:lstStyle/>
          <a:p>
            <a:endParaRPr lang="en-CA"/>
          </a:p>
        </p:txBody>
      </p:sp>
      <p:sp>
        <p:nvSpPr>
          <p:cNvPr id="4" name="Slide Number Placeholder 3"/>
          <p:cNvSpPr>
            <a:spLocks noGrp="1"/>
          </p:cNvSpPr>
          <p:nvPr>
            <p:ph type="sldNum" sz="quarter" idx="12"/>
          </p:nvPr>
        </p:nvSpPr>
        <p:spPr/>
        <p:txBody>
          <a:bodyPr/>
          <a:lstStyle/>
          <a:p>
            <a:fld id="{FBB28B50-BDCB-4F0E-A753-E0CFF39BC2C4}" type="slidenum">
              <a:rPr lang="en-CA" smtClean="0"/>
              <a:t>‹#›</a:t>
            </a:fld>
            <a:endParaRPr lang="en-CA"/>
          </a:p>
        </p:txBody>
      </p:sp>
    </p:spTree>
    <p:extLst>
      <p:ext uri="{BB962C8B-B14F-4D97-AF65-F5344CB8AC3E}">
        <p14:creationId xmlns:p14="http://schemas.microsoft.com/office/powerpoint/2010/main" val="24385309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1" y="753227"/>
            <a:ext cx="9613859" cy="1080940"/>
          </a:xfrm>
        </p:spPr>
        <p:txBody>
          <a:bodyPr anchor="ct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a:xfrm>
            <a:off x="4685846" y="2336873"/>
            <a:ext cx="5608336" cy="35993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0322" y="2336872"/>
            <a:ext cx="3790078" cy="359931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372BB4F-0E8D-4BE5-A3CF-D81A39B506F9}" type="datetimeFigureOut">
              <a:rPr lang="en-CA" smtClean="0"/>
              <a:t>2020-11-06</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FBB28B50-BDCB-4F0E-A753-E0CFF39BC2C4}" type="slidenum">
              <a:rPr lang="en-CA" smtClean="0"/>
              <a:t>‹#›</a:t>
            </a:fld>
            <a:endParaRPr lang="en-CA"/>
          </a:p>
        </p:txBody>
      </p:sp>
    </p:spTree>
    <p:extLst>
      <p:ext uri="{BB962C8B-B14F-4D97-AF65-F5344CB8AC3E}">
        <p14:creationId xmlns:p14="http://schemas.microsoft.com/office/powerpoint/2010/main" val="6783725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3" y="753228"/>
            <a:ext cx="9613857" cy="1080938"/>
          </a:xfrm>
        </p:spPr>
        <p:txBody>
          <a:bodyPr anchor="ctr">
            <a:normAutofit/>
          </a:bodyPr>
          <a:lstStyle>
            <a:lvl1pPr>
              <a:defRPr sz="36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868333" y="2336874"/>
            <a:ext cx="5425849" cy="3599312"/>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0323" y="2336873"/>
            <a:ext cx="3876256" cy="3599315"/>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372BB4F-0E8D-4BE5-A3CF-D81A39B506F9}" type="datetimeFigureOut">
              <a:rPr lang="en-CA" smtClean="0"/>
              <a:t>2020-11-06</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FBB28B50-BDCB-4F0E-A753-E0CFF39BC2C4}" type="slidenum">
              <a:rPr lang="en-CA" smtClean="0"/>
              <a:t>‹#›</a:t>
            </a:fld>
            <a:endParaRPr lang="en-CA"/>
          </a:p>
        </p:txBody>
      </p:sp>
    </p:spTree>
    <p:extLst>
      <p:ext uri="{BB962C8B-B14F-4D97-AF65-F5344CB8AC3E}">
        <p14:creationId xmlns:p14="http://schemas.microsoft.com/office/powerpoint/2010/main" val="25732894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4711616"/>
            <a:ext cx="9613859" cy="453051"/>
          </a:xfrm>
        </p:spPr>
        <p:txBody>
          <a:bodyPr anchor="b">
            <a:normAutofit/>
          </a:bodyPr>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0322" y="609597"/>
            <a:ext cx="9613859" cy="3589575"/>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0319" y="5169583"/>
            <a:ext cx="9613862" cy="62297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372BB4F-0E8D-4BE5-A3CF-D81A39B506F9}" type="datetimeFigureOut">
              <a:rPr lang="en-CA" smtClean="0"/>
              <a:t>2020-11-06</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a:xfrm>
            <a:off x="10729455" y="4711309"/>
            <a:ext cx="1154151" cy="1090789"/>
          </a:xfrm>
        </p:spPr>
        <p:txBody>
          <a:bodyPr/>
          <a:lstStyle/>
          <a:p>
            <a:fld id="{FBB28B50-BDCB-4F0E-A753-E0CFF39BC2C4}" type="slidenum">
              <a:rPr lang="en-CA" smtClean="0"/>
              <a:t>‹#›</a:t>
            </a:fld>
            <a:endParaRPr lang="en-CA"/>
          </a:p>
        </p:txBody>
      </p:sp>
    </p:spTree>
    <p:extLst>
      <p:ext uri="{BB962C8B-B14F-4D97-AF65-F5344CB8AC3E}">
        <p14:creationId xmlns:p14="http://schemas.microsoft.com/office/powerpoint/2010/main" val="2358025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609597"/>
            <a:ext cx="9613858" cy="3592750"/>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0322" y="4711615"/>
            <a:ext cx="9613859" cy="1090789"/>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372BB4F-0E8D-4BE5-A3CF-D81A39B506F9}" type="datetimeFigureOut">
              <a:rPr lang="en-CA" smtClean="0"/>
              <a:t>2020-11-06</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a:xfrm>
            <a:off x="10729455" y="4711615"/>
            <a:ext cx="1154151" cy="1090789"/>
          </a:xfrm>
        </p:spPr>
        <p:txBody>
          <a:bodyPr/>
          <a:lstStyle/>
          <a:p>
            <a:fld id="{FBB28B50-BDCB-4F0E-A753-E0CFF39BC2C4}" type="slidenum">
              <a:rPr lang="en-CA" smtClean="0"/>
              <a:t>‹#›</a:t>
            </a:fld>
            <a:endParaRPr lang="en-CA"/>
          </a:p>
        </p:txBody>
      </p:sp>
    </p:spTree>
    <p:extLst>
      <p:ext uri="{BB962C8B-B14F-4D97-AF65-F5344CB8AC3E}">
        <p14:creationId xmlns:p14="http://schemas.microsoft.com/office/powerpoint/2010/main" val="14261930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3" name="Picture 12"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4" name="Rectangle 13"/>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127856" y="609598"/>
            <a:ext cx="8718877" cy="3036061"/>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402288" y="3653379"/>
            <a:ext cx="815657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680322" y="4711615"/>
            <a:ext cx="9613859" cy="1090789"/>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372BB4F-0E8D-4BE5-A3CF-D81A39B506F9}" type="datetimeFigureOut">
              <a:rPr lang="en-CA" smtClean="0"/>
              <a:t>2020-11-06</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a:xfrm>
            <a:off x="10729455" y="4709925"/>
            <a:ext cx="1154151" cy="1090789"/>
          </a:xfrm>
        </p:spPr>
        <p:txBody>
          <a:bodyPr/>
          <a:lstStyle/>
          <a:p>
            <a:fld id="{FBB28B50-BDCB-4F0E-A753-E0CFF39BC2C4}" type="slidenum">
              <a:rPr lang="en-CA" smtClean="0"/>
              <a:t>‹#›</a:t>
            </a:fld>
            <a:endParaRPr lang="en-CA"/>
          </a:p>
        </p:txBody>
      </p:sp>
      <p:sp>
        <p:nvSpPr>
          <p:cNvPr id="16" name="TextBox 15"/>
          <p:cNvSpPr txBox="1"/>
          <p:nvPr/>
        </p:nvSpPr>
        <p:spPr>
          <a:xfrm>
            <a:off x="583572" y="74811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7200" dirty="0">
                <a:solidFill>
                  <a:schemeClr val="tx1"/>
                </a:solidFill>
                <a:effectLst/>
              </a:rPr>
              <a:t>“</a:t>
            </a:r>
          </a:p>
        </p:txBody>
      </p:sp>
      <p:sp>
        <p:nvSpPr>
          <p:cNvPr id="17" name="TextBox 16"/>
          <p:cNvSpPr txBox="1"/>
          <p:nvPr/>
        </p:nvSpPr>
        <p:spPr>
          <a:xfrm>
            <a:off x="9662809" y="30335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7200" dirty="0">
                <a:solidFill>
                  <a:schemeClr val="tx1"/>
                </a:solidFill>
                <a:effectLst/>
              </a:rPr>
              <a:t>”</a:t>
            </a:r>
          </a:p>
        </p:txBody>
      </p:sp>
    </p:spTree>
    <p:extLst>
      <p:ext uri="{BB962C8B-B14F-4D97-AF65-F5344CB8AC3E}">
        <p14:creationId xmlns:p14="http://schemas.microsoft.com/office/powerpoint/2010/main" val="45254293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9" name="Picture 8"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0" name="Picture 9"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1" name="Rectangle 10"/>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4711615"/>
            <a:ext cx="9613862" cy="5885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0320" y="5300149"/>
            <a:ext cx="9613862" cy="50225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372BB4F-0E8D-4BE5-A3CF-D81A39B506F9}" type="datetimeFigureOut">
              <a:rPr lang="en-CA" smtClean="0"/>
              <a:t>2020-11-06</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a:xfrm>
            <a:off x="10729455" y="4709925"/>
            <a:ext cx="1154151" cy="1090789"/>
          </a:xfrm>
        </p:spPr>
        <p:txBody>
          <a:bodyPr/>
          <a:lstStyle/>
          <a:p>
            <a:fld id="{FBB28B50-BDCB-4F0E-A753-E0CFF39BC2C4}" type="slidenum">
              <a:rPr lang="en-CA" smtClean="0"/>
              <a:t>‹#›</a:t>
            </a:fld>
            <a:endParaRPr lang="en-CA"/>
          </a:p>
        </p:txBody>
      </p:sp>
    </p:spTree>
    <p:extLst>
      <p:ext uri="{BB962C8B-B14F-4D97-AF65-F5344CB8AC3E}">
        <p14:creationId xmlns:p14="http://schemas.microsoft.com/office/powerpoint/2010/main" val="205376163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4" name="Picture 13"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6" name="Rectangle 15"/>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Rectangle 16"/>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Title 1"/>
          <p:cNvSpPr>
            <a:spLocks noGrp="1"/>
          </p:cNvSpPr>
          <p:nvPr>
            <p:ph type="title"/>
          </p:nvPr>
        </p:nvSpPr>
        <p:spPr>
          <a:xfrm>
            <a:off x="669222" y="753228"/>
            <a:ext cx="9624960" cy="1080938"/>
          </a:xfrm>
        </p:spPr>
        <p:txBody>
          <a:bodyPr/>
          <a:lstStyle/>
          <a:p>
            <a:r>
              <a:rPr lang="en-US"/>
              <a:t>Click to edit Master title style</a:t>
            </a:r>
            <a:endParaRPr lang="en-US" dirty="0"/>
          </a:p>
        </p:txBody>
      </p:sp>
      <p:sp>
        <p:nvSpPr>
          <p:cNvPr id="7" name="Text Placeholder 2"/>
          <p:cNvSpPr>
            <a:spLocks noGrp="1"/>
          </p:cNvSpPr>
          <p:nvPr>
            <p:ph type="body" idx="1"/>
          </p:nvPr>
        </p:nvSpPr>
        <p:spPr>
          <a:xfrm>
            <a:off x="660946" y="2336873"/>
            <a:ext cx="3070034"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0322" y="3022673"/>
            <a:ext cx="3049702"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3956025" y="233687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3945470" y="3022673"/>
            <a:ext cx="3063240"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224156" y="2336873"/>
            <a:ext cx="307002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224156" y="3022673"/>
            <a:ext cx="3070025"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3372BB4F-0E8D-4BE5-A3CF-D81A39B506F9}" type="datetimeFigureOut">
              <a:rPr lang="en-CA" smtClean="0"/>
              <a:t>2020-11-06</a:t>
            </a:fld>
            <a:endParaRPr lang="en-CA"/>
          </a:p>
        </p:txBody>
      </p:sp>
      <p:sp>
        <p:nvSpPr>
          <p:cNvPr id="4" name="Footer Placeholder 3"/>
          <p:cNvSpPr>
            <a:spLocks noGrp="1"/>
          </p:cNvSpPr>
          <p:nvPr>
            <p:ph type="ftr" sz="quarter" idx="11"/>
          </p:nvPr>
        </p:nvSpPr>
        <p:spPr/>
        <p:txBody>
          <a:bodyPr/>
          <a:lstStyle/>
          <a:p>
            <a:endParaRPr lang="en-CA"/>
          </a:p>
        </p:txBody>
      </p:sp>
      <p:sp>
        <p:nvSpPr>
          <p:cNvPr id="5" name="Slide Number Placeholder 4"/>
          <p:cNvSpPr>
            <a:spLocks noGrp="1"/>
          </p:cNvSpPr>
          <p:nvPr>
            <p:ph type="sldNum" sz="quarter" idx="12"/>
          </p:nvPr>
        </p:nvSpPr>
        <p:spPr/>
        <p:txBody>
          <a:bodyPr/>
          <a:lstStyle/>
          <a:p>
            <a:fld id="{FBB28B50-BDCB-4F0E-A753-E0CFF39BC2C4}" type="slidenum">
              <a:rPr lang="en-CA" smtClean="0"/>
              <a:t>‹#›</a:t>
            </a:fld>
            <a:endParaRPr lang="en-CA"/>
          </a:p>
        </p:txBody>
      </p:sp>
    </p:spTree>
    <p:extLst>
      <p:ext uri="{BB962C8B-B14F-4D97-AF65-F5344CB8AC3E}">
        <p14:creationId xmlns:p14="http://schemas.microsoft.com/office/powerpoint/2010/main" val="91593739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Title 1"/>
          <p:cNvSpPr>
            <a:spLocks noGrp="1"/>
          </p:cNvSpPr>
          <p:nvPr>
            <p:ph type="title"/>
          </p:nvPr>
        </p:nvSpPr>
        <p:spPr>
          <a:xfrm>
            <a:off x="680322" y="753228"/>
            <a:ext cx="9613860" cy="1080938"/>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0318" y="4297503"/>
            <a:ext cx="30497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0318" y="2336873"/>
            <a:ext cx="30497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0318" y="4873765"/>
            <a:ext cx="3049705"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3945471" y="429750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3945470" y="2336873"/>
            <a:ext cx="3063240"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944117" y="4873764"/>
            <a:ext cx="3067297"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230678" y="4297503"/>
            <a:ext cx="30635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230677" y="2336873"/>
            <a:ext cx="30635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230553" y="4873762"/>
            <a:ext cx="3067563"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3372BB4F-0E8D-4BE5-A3CF-D81A39B506F9}" type="datetimeFigureOut">
              <a:rPr lang="en-CA" smtClean="0"/>
              <a:t>2020-11-06</a:t>
            </a:fld>
            <a:endParaRPr lang="en-CA"/>
          </a:p>
        </p:txBody>
      </p:sp>
      <p:sp>
        <p:nvSpPr>
          <p:cNvPr id="4" name="Footer Placeholder 3"/>
          <p:cNvSpPr>
            <a:spLocks noGrp="1"/>
          </p:cNvSpPr>
          <p:nvPr>
            <p:ph type="ftr" sz="quarter" idx="11"/>
          </p:nvPr>
        </p:nvSpPr>
        <p:spPr/>
        <p:txBody>
          <a:bodyPr/>
          <a:lstStyle/>
          <a:p>
            <a:endParaRPr lang="en-CA"/>
          </a:p>
        </p:txBody>
      </p:sp>
      <p:sp>
        <p:nvSpPr>
          <p:cNvPr id="5" name="Slide Number Placeholder 4"/>
          <p:cNvSpPr>
            <a:spLocks noGrp="1"/>
          </p:cNvSpPr>
          <p:nvPr>
            <p:ph type="sldNum" sz="quarter" idx="12"/>
          </p:nvPr>
        </p:nvSpPr>
        <p:spPr/>
        <p:txBody>
          <a:bodyPr/>
          <a:lstStyle/>
          <a:p>
            <a:fld id="{FBB28B50-BDCB-4F0E-A753-E0CFF39BC2C4}" type="slidenum">
              <a:rPr lang="en-CA" smtClean="0"/>
              <a:t>‹#›</a:t>
            </a:fld>
            <a:endParaRPr lang="en-CA"/>
          </a:p>
        </p:txBody>
      </p:sp>
    </p:spTree>
    <p:extLst>
      <p:ext uri="{BB962C8B-B14F-4D97-AF65-F5344CB8AC3E}">
        <p14:creationId xmlns:p14="http://schemas.microsoft.com/office/powerpoint/2010/main" val="98608459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9" name="Rectangle 8"/>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lvl1pPr algn="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372BB4F-0E8D-4BE5-A3CF-D81A39B506F9}" type="datetimeFigureOut">
              <a:rPr lang="en-CA" smtClean="0"/>
              <a:t>2020-11-06</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FBB28B50-BDCB-4F0E-A753-E0CFF39BC2C4}" type="slidenum">
              <a:rPr lang="en-CA" smtClean="0"/>
              <a:t>‹#›</a:t>
            </a:fld>
            <a:endParaRPr lang="en-CA"/>
          </a:p>
        </p:txBody>
      </p:sp>
    </p:spTree>
    <p:extLst>
      <p:ext uri="{BB962C8B-B14F-4D97-AF65-F5344CB8AC3E}">
        <p14:creationId xmlns:p14="http://schemas.microsoft.com/office/powerpoint/2010/main" val="235595394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bwMode="ltGray">
          <a:xfrm rot="5400000">
            <a:off x="8116207" y="1869395"/>
            <a:ext cx="5106988"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rot="5400000">
            <a:off x="9868202" y="5372403"/>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10129231" y="609597"/>
            <a:ext cx="1073802" cy="435376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0322" y="609597"/>
            <a:ext cx="8870004" cy="53265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807126" y="5936187"/>
            <a:ext cx="2743200" cy="365125"/>
          </a:xfrm>
        </p:spPr>
        <p:txBody>
          <a:bodyPr/>
          <a:lstStyle/>
          <a:p>
            <a:fld id="{3372BB4F-0E8D-4BE5-A3CF-D81A39B506F9}" type="datetimeFigureOut">
              <a:rPr lang="en-CA" smtClean="0"/>
              <a:t>2020-11-06</a:t>
            </a:fld>
            <a:endParaRPr lang="en-CA"/>
          </a:p>
        </p:txBody>
      </p:sp>
      <p:sp>
        <p:nvSpPr>
          <p:cNvPr id="5" name="Footer Placeholder 4"/>
          <p:cNvSpPr>
            <a:spLocks noGrp="1"/>
          </p:cNvSpPr>
          <p:nvPr>
            <p:ph type="ftr" sz="quarter" idx="11"/>
          </p:nvPr>
        </p:nvSpPr>
        <p:spPr>
          <a:xfrm>
            <a:off x="680321" y="5936188"/>
            <a:ext cx="6126805" cy="365125"/>
          </a:xfrm>
        </p:spPr>
        <p:txBody>
          <a:bodyPr/>
          <a:lstStyle/>
          <a:p>
            <a:endParaRPr lang="en-CA"/>
          </a:p>
        </p:txBody>
      </p:sp>
      <p:sp>
        <p:nvSpPr>
          <p:cNvPr id="6" name="Slide Number Placeholder 5"/>
          <p:cNvSpPr>
            <a:spLocks noGrp="1"/>
          </p:cNvSpPr>
          <p:nvPr>
            <p:ph type="sldNum" sz="quarter" idx="12"/>
          </p:nvPr>
        </p:nvSpPr>
        <p:spPr>
          <a:xfrm>
            <a:off x="10097550" y="5398633"/>
            <a:ext cx="1154151" cy="1090789"/>
          </a:xfrm>
        </p:spPr>
        <p:txBody>
          <a:bodyPr anchor="t"/>
          <a:lstStyle>
            <a:lvl1pPr algn="ctr">
              <a:defRPr/>
            </a:lvl1pPr>
          </a:lstStyle>
          <a:p>
            <a:fld id="{FBB28B50-BDCB-4F0E-A753-E0CFF39BC2C4}" type="slidenum">
              <a:rPr lang="en-CA" smtClean="0"/>
              <a:t>‹#›</a:t>
            </a:fld>
            <a:endParaRPr lang="en-CA"/>
          </a:p>
        </p:txBody>
      </p:sp>
    </p:spTree>
    <p:extLst>
      <p:ext uri="{BB962C8B-B14F-4D97-AF65-F5344CB8AC3E}">
        <p14:creationId xmlns:p14="http://schemas.microsoft.com/office/powerpoint/2010/main" val="353998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6" descr="hashOverlay-FullResolve.png"/>
          <p:cNvPicPr>
            <a:picLocks noChangeAspect="1"/>
          </p:cNvPicPr>
          <p:nvPr/>
        </p:nvPicPr>
        <p:blipFill>
          <a:blip r:embed="rId19">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Placeholder 1"/>
          <p:cNvSpPr>
            <a:spLocks noGrp="1"/>
          </p:cNvSpPr>
          <p:nvPr>
            <p:ph type="title"/>
          </p:nvPr>
        </p:nvSpPr>
        <p:spPr>
          <a:xfrm>
            <a:off x="680321" y="753228"/>
            <a:ext cx="9613861" cy="108093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0321" y="2336873"/>
            <a:ext cx="9613861" cy="35993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0981" y="5936187"/>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3372BB4F-0E8D-4BE5-A3CF-D81A39B506F9}" type="datetimeFigureOut">
              <a:rPr lang="en-CA" smtClean="0"/>
              <a:t>2020-11-06</a:t>
            </a:fld>
            <a:endParaRPr lang="en-CA"/>
          </a:p>
        </p:txBody>
      </p:sp>
      <p:sp>
        <p:nvSpPr>
          <p:cNvPr id="5" name="Footer Placeholder 4"/>
          <p:cNvSpPr>
            <a:spLocks noGrp="1"/>
          </p:cNvSpPr>
          <p:nvPr>
            <p:ph type="ftr" sz="quarter" idx="3"/>
          </p:nvPr>
        </p:nvSpPr>
        <p:spPr>
          <a:xfrm>
            <a:off x="680321" y="5936188"/>
            <a:ext cx="687066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CA"/>
          </a:p>
        </p:txBody>
      </p:sp>
      <p:sp>
        <p:nvSpPr>
          <p:cNvPr id="6" name="Slide Number Placeholder 5"/>
          <p:cNvSpPr>
            <a:spLocks noGrp="1"/>
          </p:cNvSpPr>
          <p:nvPr>
            <p:ph type="sldNum" sz="quarter" idx="4"/>
          </p:nvPr>
        </p:nvSpPr>
        <p:spPr>
          <a:xfrm>
            <a:off x="10729455" y="753227"/>
            <a:ext cx="1154151" cy="1090789"/>
          </a:xfrm>
          <a:prstGeom prst="rect">
            <a:avLst/>
          </a:prstGeom>
        </p:spPr>
        <p:txBody>
          <a:bodyPr vert="horz" lIns="91440" tIns="45720" rIns="91440" bIns="45720" rtlCol="0" anchor="ctr"/>
          <a:lstStyle>
            <a:lvl1pPr algn="l">
              <a:defRPr sz="3600">
                <a:solidFill>
                  <a:schemeClr val="tx1">
                    <a:tint val="75000"/>
                  </a:schemeClr>
                </a:solidFill>
              </a:defRPr>
            </a:lvl1pPr>
          </a:lstStyle>
          <a:p>
            <a:fld id="{FBB28B50-BDCB-4F0E-A753-E0CFF39BC2C4}" type="slidenum">
              <a:rPr lang="en-CA" smtClean="0"/>
              <a:t>‹#›</a:t>
            </a:fld>
            <a:endParaRPr lang="en-CA"/>
          </a:p>
        </p:txBody>
      </p:sp>
    </p:spTree>
    <p:extLst>
      <p:ext uri="{BB962C8B-B14F-4D97-AF65-F5344CB8AC3E}">
        <p14:creationId xmlns:p14="http://schemas.microsoft.com/office/powerpoint/2010/main" val="3002066521"/>
      </p:ext>
    </p:extLst>
  </p:cSld>
  <p:clrMap bg1="dk1" tx1="lt1" bg2="dk2" tx2="lt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www.imdb.com/"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E0094F-9610-4213-9BDD-A7317AED8002}"/>
              </a:ext>
            </a:extLst>
          </p:cNvPr>
          <p:cNvSpPr>
            <a:spLocks noGrp="1"/>
          </p:cNvSpPr>
          <p:nvPr>
            <p:ph type="ctrTitle"/>
          </p:nvPr>
        </p:nvSpPr>
        <p:spPr>
          <a:xfrm>
            <a:off x="568180" y="2993062"/>
            <a:ext cx="8144134" cy="871873"/>
          </a:xfrm>
        </p:spPr>
        <p:txBody>
          <a:bodyPr/>
          <a:lstStyle/>
          <a:p>
            <a:r>
              <a:rPr lang="en-US" dirty="0"/>
              <a:t>Homework 1 Presentation</a:t>
            </a:r>
            <a:endParaRPr lang="en-CA" dirty="0"/>
          </a:p>
        </p:txBody>
      </p:sp>
      <p:sp>
        <p:nvSpPr>
          <p:cNvPr id="3" name="Subtitle 2">
            <a:extLst>
              <a:ext uri="{FF2B5EF4-FFF2-40B4-BE49-F238E27FC236}">
                <a16:creationId xmlns:a16="http://schemas.microsoft.com/office/drawing/2014/main" id="{F948B34D-00B8-427B-89AC-B972CD048902}"/>
              </a:ext>
            </a:extLst>
          </p:cNvPr>
          <p:cNvSpPr>
            <a:spLocks noGrp="1"/>
          </p:cNvSpPr>
          <p:nvPr>
            <p:ph type="subTitle" idx="1"/>
          </p:nvPr>
        </p:nvSpPr>
        <p:spPr>
          <a:xfrm>
            <a:off x="3694982" y="2876907"/>
            <a:ext cx="8497018" cy="1104181"/>
          </a:xfrm>
        </p:spPr>
        <p:txBody>
          <a:bodyPr>
            <a:normAutofit fontScale="92500" lnSpcReduction="10000"/>
          </a:bodyPr>
          <a:lstStyle/>
          <a:p>
            <a:r>
              <a:rPr lang="en-US" b="1" dirty="0">
                <a:solidFill>
                  <a:schemeClr val="bg1"/>
                </a:solidFill>
              </a:rPr>
              <a:t>Group 2: </a:t>
            </a:r>
            <a:r>
              <a:rPr lang="en-US" b="1" dirty="0" err="1">
                <a:solidFill>
                  <a:schemeClr val="bg1"/>
                </a:solidFill>
              </a:rPr>
              <a:t>Shiyu</a:t>
            </a:r>
            <a:r>
              <a:rPr lang="en-US" b="1" dirty="0">
                <a:solidFill>
                  <a:schemeClr val="bg1"/>
                </a:solidFill>
              </a:rPr>
              <a:t> FAN</a:t>
            </a:r>
            <a:r>
              <a:rPr lang="zh-CN" altLang="en-US" b="1" dirty="0">
                <a:solidFill>
                  <a:schemeClr val="bg1"/>
                </a:solidFill>
              </a:rPr>
              <a:t> </a:t>
            </a:r>
            <a:r>
              <a:rPr lang="en-CA" altLang="zh-CN" b="1" dirty="0">
                <a:solidFill>
                  <a:schemeClr val="bg1"/>
                </a:solidFill>
              </a:rPr>
              <a:t>(Leo)</a:t>
            </a:r>
            <a:endParaRPr lang="en-US" b="1" dirty="0">
              <a:solidFill>
                <a:schemeClr val="bg1"/>
              </a:solidFill>
            </a:endParaRPr>
          </a:p>
          <a:p>
            <a:r>
              <a:rPr lang="en-US" b="1" dirty="0">
                <a:solidFill>
                  <a:schemeClr val="bg1"/>
                </a:solidFill>
              </a:rPr>
              <a:t>					               </a:t>
            </a:r>
            <a:r>
              <a:rPr lang="en-US" b="1" dirty="0" err="1">
                <a:solidFill>
                  <a:schemeClr val="bg1"/>
                </a:solidFill>
              </a:rPr>
              <a:t>Runhai</a:t>
            </a:r>
            <a:r>
              <a:rPr lang="en-US" b="1" dirty="0">
                <a:solidFill>
                  <a:schemeClr val="bg1"/>
                </a:solidFill>
              </a:rPr>
              <a:t> XU (James)</a:t>
            </a:r>
          </a:p>
          <a:p>
            <a:r>
              <a:rPr lang="en-US" b="1" dirty="0">
                <a:solidFill>
                  <a:schemeClr val="bg1"/>
                </a:solidFill>
              </a:rPr>
              <a:t>						   </a:t>
            </a:r>
            <a:r>
              <a:rPr lang="en-US" b="1" dirty="0" err="1">
                <a:solidFill>
                  <a:schemeClr val="bg1"/>
                </a:solidFill>
              </a:rPr>
              <a:t>Zhaohang</a:t>
            </a:r>
            <a:r>
              <a:rPr lang="en-US" b="1" dirty="0">
                <a:solidFill>
                  <a:schemeClr val="bg1"/>
                </a:solidFill>
              </a:rPr>
              <a:t> YAN (Martin)</a:t>
            </a:r>
          </a:p>
          <a:p>
            <a:endParaRPr lang="en-CA" dirty="0"/>
          </a:p>
        </p:txBody>
      </p:sp>
    </p:spTree>
    <p:extLst>
      <p:ext uri="{BB962C8B-B14F-4D97-AF65-F5344CB8AC3E}">
        <p14:creationId xmlns:p14="http://schemas.microsoft.com/office/powerpoint/2010/main" val="14119452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58A093-8743-41A4-866B-5062326A8002}"/>
              </a:ext>
            </a:extLst>
          </p:cNvPr>
          <p:cNvSpPr>
            <a:spLocks noGrp="1"/>
          </p:cNvSpPr>
          <p:nvPr>
            <p:ph type="title"/>
          </p:nvPr>
        </p:nvSpPr>
        <p:spPr/>
        <p:txBody>
          <a:bodyPr/>
          <a:lstStyle/>
          <a:p>
            <a:r>
              <a:rPr lang="en-CA" dirty="0"/>
              <a:t>The data we are interested in:</a:t>
            </a:r>
          </a:p>
        </p:txBody>
      </p:sp>
      <p:sp>
        <p:nvSpPr>
          <p:cNvPr id="3" name="Content Placeholder 2">
            <a:extLst>
              <a:ext uri="{FF2B5EF4-FFF2-40B4-BE49-F238E27FC236}">
                <a16:creationId xmlns:a16="http://schemas.microsoft.com/office/drawing/2014/main" id="{505D2F80-2A76-43CC-8482-96A660AFAB25}"/>
              </a:ext>
            </a:extLst>
          </p:cNvPr>
          <p:cNvSpPr>
            <a:spLocks noGrp="1"/>
          </p:cNvSpPr>
          <p:nvPr>
            <p:ph idx="1"/>
          </p:nvPr>
        </p:nvSpPr>
        <p:spPr>
          <a:xfrm>
            <a:off x="1289069" y="2555527"/>
            <a:ext cx="9613861" cy="3025959"/>
          </a:xfrm>
        </p:spPr>
        <p:txBody>
          <a:bodyPr/>
          <a:lstStyle/>
          <a:p>
            <a:r>
              <a:rPr lang="en-CA" dirty="0"/>
              <a:t>We are interested in visualizing the data of movies so that we can understand the overall trends and do</a:t>
            </a:r>
            <a:r>
              <a:rPr lang="zh-CN" altLang="en-US" dirty="0"/>
              <a:t> </a:t>
            </a:r>
            <a:r>
              <a:rPr lang="en-CA" altLang="zh-CN" dirty="0"/>
              <a:t>some</a:t>
            </a:r>
            <a:r>
              <a:rPr lang="zh-CN" altLang="en-US" dirty="0"/>
              <a:t> </a:t>
            </a:r>
            <a:r>
              <a:rPr lang="en-CA" altLang="zh-CN" dirty="0"/>
              <a:t>data </a:t>
            </a:r>
            <a:r>
              <a:rPr lang="en-CA" dirty="0"/>
              <a:t>analysis of the movie industry.</a:t>
            </a:r>
          </a:p>
          <a:p>
            <a:r>
              <a:rPr lang="en-CA" dirty="0"/>
              <a:t>We chose </a:t>
            </a:r>
            <a:r>
              <a:rPr lang="en-CA" dirty="0">
                <a:hlinkClick r:id="rId2"/>
              </a:rPr>
              <a:t>IMDb</a:t>
            </a:r>
            <a:r>
              <a:rPr lang="en-CA" dirty="0"/>
              <a:t> (Internet Movie Database) to get the movie data we want.</a:t>
            </a:r>
          </a:p>
          <a:p>
            <a:r>
              <a:rPr lang="en-CA" dirty="0"/>
              <a:t>There are tons of movie data in IMDb. We only want to focus on comedy films. We retrieved data of ~450,000 comedy movies from IMDb to do further analysis.</a:t>
            </a:r>
          </a:p>
        </p:txBody>
      </p:sp>
      <p:pic>
        <p:nvPicPr>
          <p:cNvPr id="1032" name="Picture 8" descr="IMDb - Wikipedia">
            <a:extLst>
              <a:ext uri="{FF2B5EF4-FFF2-40B4-BE49-F238E27FC236}">
                <a16:creationId xmlns:a16="http://schemas.microsoft.com/office/drawing/2014/main" id="{311A8351-6C71-4C89-8867-F65B9D4DA96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956" t="1864" r="3749" b="3054"/>
          <a:stretch/>
        </p:blipFill>
        <p:spPr bwMode="auto">
          <a:xfrm>
            <a:off x="8973704" y="586409"/>
            <a:ext cx="2808000" cy="14014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67848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4EF0E8-A500-452F-A6CF-1DD8D7051326}"/>
              </a:ext>
            </a:extLst>
          </p:cNvPr>
          <p:cNvSpPr>
            <a:spLocks noGrp="1"/>
          </p:cNvSpPr>
          <p:nvPr>
            <p:ph type="title"/>
          </p:nvPr>
        </p:nvSpPr>
        <p:spPr/>
        <p:txBody>
          <a:bodyPr/>
          <a:lstStyle/>
          <a:p>
            <a:r>
              <a:rPr lang="en-CA"/>
              <a:t>How we retrieve the data</a:t>
            </a:r>
            <a:endParaRPr lang="en-CA" dirty="0"/>
          </a:p>
        </p:txBody>
      </p:sp>
      <p:sp>
        <p:nvSpPr>
          <p:cNvPr id="6" name="Content Placeholder 5">
            <a:extLst>
              <a:ext uri="{FF2B5EF4-FFF2-40B4-BE49-F238E27FC236}">
                <a16:creationId xmlns:a16="http://schemas.microsoft.com/office/drawing/2014/main" id="{3E58CCC8-5FD8-4159-AF1B-63AA85F54D87}"/>
              </a:ext>
            </a:extLst>
          </p:cNvPr>
          <p:cNvSpPr>
            <a:spLocks noGrp="1"/>
          </p:cNvSpPr>
          <p:nvPr>
            <p:ph idx="1"/>
          </p:nvPr>
        </p:nvSpPr>
        <p:spPr>
          <a:xfrm>
            <a:off x="1289069" y="2369825"/>
            <a:ext cx="9613861" cy="3599316"/>
          </a:xfrm>
        </p:spPr>
        <p:txBody>
          <a:bodyPr/>
          <a:lstStyle/>
          <a:p>
            <a:r>
              <a:rPr lang="en-CA" dirty="0"/>
              <a:t>Use bs4 (</a:t>
            </a:r>
            <a:r>
              <a:rPr lang="en-CA" dirty="0" err="1"/>
              <a:t>BeautifulSoup</a:t>
            </a:r>
            <a:r>
              <a:rPr lang="en-CA" dirty="0"/>
              <a:t>) library to parse the HTML web page.</a:t>
            </a:r>
          </a:p>
        </p:txBody>
      </p:sp>
      <p:pic>
        <p:nvPicPr>
          <p:cNvPr id="7" name="Picture 6">
            <a:extLst>
              <a:ext uri="{FF2B5EF4-FFF2-40B4-BE49-F238E27FC236}">
                <a16:creationId xmlns:a16="http://schemas.microsoft.com/office/drawing/2014/main" id="{06AA430F-AC82-457F-B5AA-095935E0202D}"/>
              </a:ext>
            </a:extLst>
          </p:cNvPr>
          <p:cNvPicPr>
            <a:picLocks noChangeAspect="1"/>
          </p:cNvPicPr>
          <p:nvPr/>
        </p:nvPicPr>
        <p:blipFill>
          <a:blip r:embed="rId3"/>
          <a:stretch>
            <a:fillRect/>
          </a:stretch>
        </p:blipFill>
        <p:spPr>
          <a:xfrm>
            <a:off x="274414" y="3006939"/>
            <a:ext cx="6044133" cy="3297608"/>
          </a:xfrm>
          <a:prstGeom prst="rect">
            <a:avLst/>
          </a:prstGeom>
        </p:spPr>
      </p:pic>
      <p:pic>
        <p:nvPicPr>
          <p:cNvPr id="8" name="Picture 7">
            <a:extLst>
              <a:ext uri="{FF2B5EF4-FFF2-40B4-BE49-F238E27FC236}">
                <a16:creationId xmlns:a16="http://schemas.microsoft.com/office/drawing/2014/main" id="{91A9011B-ADFD-4275-B9FE-2ABD19CE9ADF}"/>
              </a:ext>
            </a:extLst>
          </p:cNvPr>
          <p:cNvPicPr>
            <a:picLocks noChangeAspect="1"/>
          </p:cNvPicPr>
          <p:nvPr/>
        </p:nvPicPr>
        <p:blipFill>
          <a:blip r:embed="rId4"/>
          <a:stretch>
            <a:fillRect/>
          </a:stretch>
        </p:blipFill>
        <p:spPr>
          <a:xfrm>
            <a:off x="6457356" y="3032790"/>
            <a:ext cx="5558319" cy="2430188"/>
          </a:xfrm>
          <a:prstGeom prst="rect">
            <a:avLst/>
          </a:prstGeom>
        </p:spPr>
      </p:pic>
    </p:spTree>
    <p:extLst>
      <p:ext uri="{BB962C8B-B14F-4D97-AF65-F5344CB8AC3E}">
        <p14:creationId xmlns:p14="http://schemas.microsoft.com/office/powerpoint/2010/main" val="13566593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2EE7D7-304C-4843-9B8B-EF14D03E7B81}"/>
              </a:ext>
            </a:extLst>
          </p:cNvPr>
          <p:cNvSpPr>
            <a:spLocks noGrp="1"/>
          </p:cNvSpPr>
          <p:nvPr>
            <p:ph type="title"/>
          </p:nvPr>
        </p:nvSpPr>
        <p:spPr/>
        <p:txBody>
          <a:bodyPr/>
          <a:lstStyle/>
          <a:p>
            <a:r>
              <a:rPr lang="en-CA" dirty="0"/>
              <a:t>Errors/Exceptions handling:</a:t>
            </a:r>
          </a:p>
        </p:txBody>
      </p:sp>
      <p:sp>
        <p:nvSpPr>
          <p:cNvPr id="3" name="Content Placeholder 2">
            <a:extLst>
              <a:ext uri="{FF2B5EF4-FFF2-40B4-BE49-F238E27FC236}">
                <a16:creationId xmlns:a16="http://schemas.microsoft.com/office/drawing/2014/main" id="{381D8BAF-FB8C-4F59-9B43-93C688D8D2B6}"/>
              </a:ext>
            </a:extLst>
          </p:cNvPr>
          <p:cNvSpPr>
            <a:spLocks noGrp="1"/>
          </p:cNvSpPr>
          <p:nvPr>
            <p:ph idx="1"/>
          </p:nvPr>
        </p:nvSpPr>
        <p:spPr>
          <a:xfrm>
            <a:off x="6539023" y="2115471"/>
            <a:ext cx="5335440" cy="4695540"/>
          </a:xfrm>
        </p:spPr>
        <p:txBody>
          <a:bodyPr>
            <a:normAutofit/>
          </a:bodyPr>
          <a:lstStyle/>
          <a:p>
            <a:r>
              <a:rPr lang="en-CA" dirty="0"/>
              <a:t>While we were scraping the data from IMDb, we encountered some  request exceptions that terminate our web scraping program since we requested too frequently.</a:t>
            </a:r>
          </a:p>
          <a:p>
            <a:r>
              <a:rPr lang="en-CA" dirty="0"/>
              <a:t>Therefore, we use try/except keywords to catch the exception and continue to the next iteration so that the program will not be terminated.</a:t>
            </a:r>
          </a:p>
          <a:p>
            <a:r>
              <a:rPr lang="en-CA" dirty="0"/>
              <a:t>We also extended the default timeout time of socket to avoid exceptions.</a:t>
            </a:r>
          </a:p>
        </p:txBody>
      </p:sp>
      <p:pic>
        <p:nvPicPr>
          <p:cNvPr id="5" name="Picture 4">
            <a:extLst>
              <a:ext uri="{FF2B5EF4-FFF2-40B4-BE49-F238E27FC236}">
                <a16:creationId xmlns:a16="http://schemas.microsoft.com/office/drawing/2014/main" id="{2CC89C07-623F-4663-8A57-9B83124B7406}"/>
              </a:ext>
            </a:extLst>
          </p:cNvPr>
          <p:cNvPicPr>
            <a:picLocks noChangeAspect="1"/>
          </p:cNvPicPr>
          <p:nvPr/>
        </p:nvPicPr>
        <p:blipFill>
          <a:blip r:embed="rId2"/>
          <a:stretch>
            <a:fillRect/>
          </a:stretch>
        </p:blipFill>
        <p:spPr>
          <a:xfrm>
            <a:off x="408153" y="2173963"/>
            <a:ext cx="5857875" cy="2228850"/>
          </a:xfrm>
          <a:prstGeom prst="rect">
            <a:avLst/>
          </a:prstGeom>
        </p:spPr>
      </p:pic>
      <p:pic>
        <p:nvPicPr>
          <p:cNvPr id="7" name="Picture 6">
            <a:extLst>
              <a:ext uri="{FF2B5EF4-FFF2-40B4-BE49-F238E27FC236}">
                <a16:creationId xmlns:a16="http://schemas.microsoft.com/office/drawing/2014/main" id="{39A5EB6E-6CA1-4220-91AA-D8E4FAD55B65}"/>
              </a:ext>
            </a:extLst>
          </p:cNvPr>
          <p:cNvPicPr>
            <a:picLocks noChangeAspect="1"/>
          </p:cNvPicPr>
          <p:nvPr/>
        </p:nvPicPr>
        <p:blipFill>
          <a:blip r:embed="rId3"/>
          <a:stretch>
            <a:fillRect/>
          </a:stretch>
        </p:blipFill>
        <p:spPr>
          <a:xfrm>
            <a:off x="408154" y="4463241"/>
            <a:ext cx="5857874" cy="2220710"/>
          </a:xfrm>
          <a:prstGeom prst="rect">
            <a:avLst/>
          </a:prstGeom>
        </p:spPr>
      </p:pic>
    </p:spTree>
    <p:extLst>
      <p:ext uri="{BB962C8B-B14F-4D97-AF65-F5344CB8AC3E}">
        <p14:creationId xmlns:p14="http://schemas.microsoft.com/office/powerpoint/2010/main" val="19643909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481B4F-60FD-47F6-AD90-FA3A76EB1A70}"/>
              </a:ext>
            </a:extLst>
          </p:cNvPr>
          <p:cNvSpPr>
            <a:spLocks noGrp="1"/>
          </p:cNvSpPr>
          <p:nvPr>
            <p:ph type="title"/>
          </p:nvPr>
        </p:nvSpPr>
        <p:spPr/>
        <p:txBody>
          <a:bodyPr/>
          <a:lstStyle/>
          <a:p>
            <a:r>
              <a:rPr lang="en-CA" dirty="0"/>
              <a:t>Inspect our database:</a:t>
            </a:r>
          </a:p>
        </p:txBody>
      </p:sp>
      <p:pic>
        <p:nvPicPr>
          <p:cNvPr id="5" name="Picture 4">
            <a:extLst>
              <a:ext uri="{FF2B5EF4-FFF2-40B4-BE49-F238E27FC236}">
                <a16:creationId xmlns:a16="http://schemas.microsoft.com/office/drawing/2014/main" id="{7F571364-6BD6-40DC-9243-AAC77F5BFB63}"/>
              </a:ext>
            </a:extLst>
          </p:cNvPr>
          <p:cNvPicPr>
            <a:picLocks noChangeAspect="1"/>
          </p:cNvPicPr>
          <p:nvPr/>
        </p:nvPicPr>
        <p:blipFill>
          <a:blip r:embed="rId3"/>
          <a:stretch>
            <a:fillRect/>
          </a:stretch>
        </p:blipFill>
        <p:spPr>
          <a:xfrm>
            <a:off x="5487251" y="2315551"/>
            <a:ext cx="5439139" cy="2095500"/>
          </a:xfrm>
          <a:prstGeom prst="rect">
            <a:avLst/>
          </a:prstGeom>
        </p:spPr>
      </p:pic>
      <p:pic>
        <p:nvPicPr>
          <p:cNvPr id="6" name="Picture 5">
            <a:extLst>
              <a:ext uri="{FF2B5EF4-FFF2-40B4-BE49-F238E27FC236}">
                <a16:creationId xmlns:a16="http://schemas.microsoft.com/office/drawing/2014/main" id="{27C137F2-3DAD-4675-AE5A-57F96582CB94}"/>
              </a:ext>
            </a:extLst>
          </p:cNvPr>
          <p:cNvPicPr>
            <a:picLocks noChangeAspect="1"/>
          </p:cNvPicPr>
          <p:nvPr/>
        </p:nvPicPr>
        <p:blipFill>
          <a:blip r:embed="rId4"/>
          <a:stretch>
            <a:fillRect/>
          </a:stretch>
        </p:blipFill>
        <p:spPr>
          <a:xfrm>
            <a:off x="302540" y="4752503"/>
            <a:ext cx="6239484" cy="1761621"/>
          </a:xfrm>
          <a:prstGeom prst="rect">
            <a:avLst/>
          </a:prstGeom>
        </p:spPr>
      </p:pic>
      <p:pic>
        <p:nvPicPr>
          <p:cNvPr id="11" name="Picture 10">
            <a:extLst>
              <a:ext uri="{FF2B5EF4-FFF2-40B4-BE49-F238E27FC236}">
                <a16:creationId xmlns:a16="http://schemas.microsoft.com/office/drawing/2014/main" id="{E53FAE3D-7AB7-4051-A683-4C45EE4B609D}"/>
              </a:ext>
            </a:extLst>
          </p:cNvPr>
          <p:cNvPicPr>
            <a:picLocks noChangeAspect="1"/>
          </p:cNvPicPr>
          <p:nvPr/>
        </p:nvPicPr>
        <p:blipFill>
          <a:blip r:embed="rId5"/>
          <a:stretch>
            <a:fillRect/>
          </a:stretch>
        </p:blipFill>
        <p:spPr>
          <a:xfrm>
            <a:off x="1120996" y="2265746"/>
            <a:ext cx="3630865" cy="2133268"/>
          </a:xfrm>
          <a:prstGeom prst="rect">
            <a:avLst/>
          </a:prstGeom>
        </p:spPr>
      </p:pic>
      <p:pic>
        <p:nvPicPr>
          <p:cNvPr id="4" name="Picture 3">
            <a:extLst>
              <a:ext uri="{FF2B5EF4-FFF2-40B4-BE49-F238E27FC236}">
                <a16:creationId xmlns:a16="http://schemas.microsoft.com/office/drawing/2014/main" id="{D59E0C3C-943B-4903-9EF0-5E95DCA3059D}"/>
              </a:ext>
            </a:extLst>
          </p:cNvPr>
          <p:cNvPicPr>
            <a:picLocks noChangeAspect="1"/>
          </p:cNvPicPr>
          <p:nvPr/>
        </p:nvPicPr>
        <p:blipFill>
          <a:blip r:embed="rId6"/>
          <a:stretch>
            <a:fillRect/>
          </a:stretch>
        </p:blipFill>
        <p:spPr>
          <a:xfrm>
            <a:off x="6673715" y="5045652"/>
            <a:ext cx="5107304" cy="799046"/>
          </a:xfrm>
          <a:prstGeom prst="rect">
            <a:avLst/>
          </a:prstGeom>
        </p:spPr>
      </p:pic>
    </p:spTree>
    <p:extLst>
      <p:ext uri="{BB962C8B-B14F-4D97-AF65-F5344CB8AC3E}">
        <p14:creationId xmlns:p14="http://schemas.microsoft.com/office/powerpoint/2010/main" val="24926223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481B4F-60FD-47F6-AD90-FA3A76EB1A70}"/>
              </a:ext>
            </a:extLst>
          </p:cNvPr>
          <p:cNvSpPr>
            <a:spLocks noGrp="1"/>
          </p:cNvSpPr>
          <p:nvPr>
            <p:ph type="title"/>
          </p:nvPr>
        </p:nvSpPr>
        <p:spPr/>
        <p:txBody>
          <a:bodyPr/>
          <a:lstStyle/>
          <a:p>
            <a:r>
              <a:rPr lang="en-CA" dirty="0"/>
              <a:t>Inspect our database:</a:t>
            </a:r>
          </a:p>
        </p:txBody>
      </p:sp>
      <p:sp>
        <p:nvSpPr>
          <p:cNvPr id="6" name="Content Placeholder 2">
            <a:extLst>
              <a:ext uri="{FF2B5EF4-FFF2-40B4-BE49-F238E27FC236}">
                <a16:creationId xmlns:a16="http://schemas.microsoft.com/office/drawing/2014/main" id="{D84FFC1A-492F-4787-ADF5-070381D004F3}"/>
              </a:ext>
            </a:extLst>
          </p:cNvPr>
          <p:cNvSpPr>
            <a:spLocks noGrp="1"/>
          </p:cNvSpPr>
          <p:nvPr>
            <p:ph idx="1"/>
          </p:nvPr>
        </p:nvSpPr>
        <p:spPr>
          <a:xfrm>
            <a:off x="6475015" y="3108960"/>
            <a:ext cx="5335440" cy="2160709"/>
          </a:xfrm>
        </p:spPr>
        <p:txBody>
          <a:bodyPr/>
          <a:lstStyle/>
          <a:p>
            <a:r>
              <a:rPr lang="en-CA" dirty="0"/>
              <a:t>We use MongoDB to store our data.</a:t>
            </a:r>
          </a:p>
          <a:p>
            <a:r>
              <a:rPr lang="en-CA" dirty="0"/>
              <a:t>The database has ~451,100 movies and the size of them is 526.1 MB.</a:t>
            </a:r>
          </a:p>
          <a:p>
            <a:r>
              <a:rPr lang="en-CA" dirty="0"/>
              <a:t>We use MongoDB Compass to interact with the database.</a:t>
            </a:r>
          </a:p>
        </p:txBody>
      </p:sp>
      <p:pic>
        <p:nvPicPr>
          <p:cNvPr id="9" name="Picture 8" descr="Graphical user interface, text, application, email&#10;&#10;Description automatically generated">
            <a:extLst>
              <a:ext uri="{FF2B5EF4-FFF2-40B4-BE49-F238E27FC236}">
                <a16:creationId xmlns:a16="http://schemas.microsoft.com/office/drawing/2014/main" id="{52802CFC-B11E-46A4-81AA-391BD1179D5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5914" y="2165640"/>
            <a:ext cx="4901072" cy="4472933"/>
          </a:xfrm>
          <a:prstGeom prst="rect">
            <a:avLst/>
          </a:prstGeom>
        </p:spPr>
      </p:pic>
    </p:spTree>
    <p:extLst>
      <p:ext uri="{BB962C8B-B14F-4D97-AF65-F5344CB8AC3E}">
        <p14:creationId xmlns:p14="http://schemas.microsoft.com/office/powerpoint/2010/main" val="38511188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34049D-3163-4745-A063-61906785AA08}"/>
              </a:ext>
            </a:extLst>
          </p:cNvPr>
          <p:cNvSpPr>
            <a:spLocks noGrp="1"/>
          </p:cNvSpPr>
          <p:nvPr>
            <p:ph type="title"/>
          </p:nvPr>
        </p:nvSpPr>
        <p:spPr/>
        <p:txBody>
          <a:bodyPr/>
          <a:lstStyle/>
          <a:p>
            <a:r>
              <a:rPr lang="en-CA"/>
              <a:t>Data Visualization:</a:t>
            </a:r>
            <a:endParaRPr lang="en-CA" dirty="0"/>
          </a:p>
        </p:txBody>
      </p:sp>
      <p:pic>
        <p:nvPicPr>
          <p:cNvPr id="5" name="Picture 4" descr="Chart&#10;&#10;Description automatically generated">
            <a:extLst>
              <a:ext uri="{FF2B5EF4-FFF2-40B4-BE49-F238E27FC236}">
                <a16:creationId xmlns:a16="http://schemas.microsoft.com/office/drawing/2014/main" id="{B3AEBE2C-1472-48A0-8B14-E942AE136B1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0984" y="2155838"/>
            <a:ext cx="5361437" cy="3397947"/>
          </a:xfrm>
          <a:prstGeom prst="rect">
            <a:avLst/>
          </a:prstGeom>
        </p:spPr>
      </p:pic>
      <p:pic>
        <p:nvPicPr>
          <p:cNvPr id="7" name="Picture 6" descr="Chart, scatter chart&#10;&#10;Description automatically generated">
            <a:extLst>
              <a:ext uri="{FF2B5EF4-FFF2-40B4-BE49-F238E27FC236}">
                <a16:creationId xmlns:a16="http://schemas.microsoft.com/office/drawing/2014/main" id="{E6B19871-1290-44A2-A4CC-01F8880B1E4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19580" y="92687"/>
            <a:ext cx="4485905" cy="3482958"/>
          </a:xfrm>
          <a:prstGeom prst="rect">
            <a:avLst/>
          </a:prstGeom>
        </p:spPr>
      </p:pic>
      <p:pic>
        <p:nvPicPr>
          <p:cNvPr id="14" name="Picture 13" descr="Chart, scatter chart&#10;&#10;Description automatically generated">
            <a:extLst>
              <a:ext uri="{FF2B5EF4-FFF2-40B4-BE49-F238E27FC236}">
                <a16:creationId xmlns:a16="http://schemas.microsoft.com/office/drawing/2014/main" id="{E9DBA6DC-EEB4-4CC8-BD10-D70A5C6F86D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096000" y="3705801"/>
            <a:ext cx="5133067" cy="3059512"/>
          </a:xfrm>
          <a:prstGeom prst="rect">
            <a:avLst/>
          </a:prstGeom>
        </p:spPr>
      </p:pic>
    </p:spTree>
    <p:extLst>
      <p:ext uri="{BB962C8B-B14F-4D97-AF65-F5344CB8AC3E}">
        <p14:creationId xmlns:p14="http://schemas.microsoft.com/office/powerpoint/2010/main" val="36707585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E1F931-415E-464E-A7D9-CA8B8F85F634}"/>
              </a:ext>
            </a:extLst>
          </p:cNvPr>
          <p:cNvSpPr>
            <a:spLocks noGrp="1"/>
          </p:cNvSpPr>
          <p:nvPr>
            <p:ph type="title"/>
          </p:nvPr>
        </p:nvSpPr>
        <p:spPr/>
        <p:txBody>
          <a:bodyPr/>
          <a:lstStyle/>
          <a:p>
            <a:r>
              <a:rPr lang="en-US" altLang="zh-CN" dirty="0"/>
              <a:t>How did we create such </a:t>
            </a:r>
            <a:r>
              <a:rPr lang="en-US" altLang="zh-CN" i="1" dirty="0"/>
              <a:t>MAGICAL</a:t>
            </a:r>
            <a:r>
              <a:rPr lang="en-US" altLang="zh-CN" dirty="0"/>
              <a:t> plotting:</a:t>
            </a:r>
            <a:endParaRPr lang="en-CA" dirty="0"/>
          </a:p>
        </p:txBody>
      </p:sp>
      <p:sp>
        <p:nvSpPr>
          <p:cNvPr id="3" name="Content Placeholder 2">
            <a:extLst>
              <a:ext uri="{FF2B5EF4-FFF2-40B4-BE49-F238E27FC236}">
                <a16:creationId xmlns:a16="http://schemas.microsoft.com/office/drawing/2014/main" id="{22603DBE-291D-430A-8634-03A36435777F}"/>
              </a:ext>
            </a:extLst>
          </p:cNvPr>
          <p:cNvSpPr>
            <a:spLocks noGrp="1"/>
          </p:cNvSpPr>
          <p:nvPr>
            <p:ph idx="1"/>
          </p:nvPr>
        </p:nvSpPr>
        <p:spPr>
          <a:xfrm>
            <a:off x="7253826" y="2900854"/>
            <a:ext cx="4854091" cy="2448911"/>
          </a:xfrm>
        </p:spPr>
        <p:txBody>
          <a:bodyPr/>
          <a:lstStyle/>
          <a:p>
            <a:r>
              <a:rPr lang="en-CA" dirty="0"/>
              <a:t>With help of matplotlib and </a:t>
            </a:r>
            <a:r>
              <a:rPr lang="en-CA" dirty="0" err="1"/>
              <a:t>glueviz</a:t>
            </a:r>
            <a:r>
              <a:rPr lang="en-CA" dirty="0"/>
              <a:t> libraries/packages, we construct such informative graph showing the relationships within the database.</a:t>
            </a:r>
          </a:p>
        </p:txBody>
      </p:sp>
      <p:pic>
        <p:nvPicPr>
          <p:cNvPr id="4" name="Picture 3">
            <a:extLst>
              <a:ext uri="{FF2B5EF4-FFF2-40B4-BE49-F238E27FC236}">
                <a16:creationId xmlns:a16="http://schemas.microsoft.com/office/drawing/2014/main" id="{0E21B050-C1E0-4F04-BE88-F8B56C3763DD}"/>
              </a:ext>
            </a:extLst>
          </p:cNvPr>
          <p:cNvPicPr>
            <a:picLocks noChangeAspect="1"/>
          </p:cNvPicPr>
          <p:nvPr/>
        </p:nvPicPr>
        <p:blipFill>
          <a:blip r:embed="rId2"/>
          <a:stretch>
            <a:fillRect/>
          </a:stretch>
        </p:blipFill>
        <p:spPr>
          <a:xfrm>
            <a:off x="215460" y="3429000"/>
            <a:ext cx="1200150" cy="990600"/>
          </a:xfrm>
          <a:prstGeom prst="rect">
            <a:avLst/>
          </a:prstGeom>
        </p:spPr>
      </p:pic>
      <p:pic>
        <p:nvPicPr>
          <p:cNvPr id="6" name="Picture 5">
            <a:extLst>
              <a:ext uri="{FF2B5EF4-FFF2-40B4-BE49-F238E27FC236}">
                <a16:creationId xmlns:a16="http://schemas.microsoft.com/office/drawing/2014/main" id="{9D0601F7-39F8-48D5-BE38-192DD5FC97B6}"/>
              </a:ext>
            </a:extLst>
          </p:cNvPr>
          <p:cNvPicPr>
            <a:picLocks noChangeAspect="1"/>
          </p:cNvPicPr>
          <p:nvPr/>
        </p:nvPicPr>
        <p:blipFill>
          <a:blip r:embed="rId3"/>
          <a:stretch>
            <a:fillRect/>
          </a:stretch>
        </p:blipFill>
        <p:spPr>
          <a:xfrm>
            <a:off x="1609711" y="2526949"/>
            <a:ext cx="5534097" cy="3577823"/>
          </a:xfrm>
          <a:prstGeom prst="rect">
            <a:avLst/>
          </a:prstGeom>
        </p:spPr>
      </p:pic>
    </p:spTree>
    <p:extLst>
      <p:ext uri="{BB962C8B-B14F-4D97-AF65-F5344CB8AC3E}">
        <p14:creationId xmlns:p14="http://schemas.microsoft.com/office/powerpoint/2010/main" val="1818127384"/>
      </p:ext>
    </p:extLst>
  </p:cSld>
  <p:clrMapOvr>
    <a:masterClrMapping/>
  </p:clrMapOvr>
</p:sld>
</file>

<file path=ppt/theme/theme1.xml><?xml version="1.0" encoding="utf-8"?>
<a:theme xmlns:a="http://schemas.openxmlformats.org/drawingml/2006/main" name="Berlin">
  <a:themeElements>
    <a:clrScheme name="Berlin">
      <a:dk1>
        <a:sysClr val="windowText" lastClr="000000"/>
      </a:dk1>
      <a:lt1>
        <a:sysClr val="window" lastClr="FFFFFF"/>
      </a:lt1>
      <a:dk2>
        <a:srgbClr val="9D360E"/>
      </a:dk2>
      <a:lt2>
        <a:srgbClr val="E7E6E6"/>
      </a:lt2>
      <a:accent1>
        <a:srgbClr val="F09415"/>
      </a:accent1>
      <a:accent2>
        <a:srgbClr val="C1B56B"/>
      </a:accent2>
      <a:accent3>
        <a:srgbClr val="4BAF73"/>
      </a:accent3>
      <a:accent4>
        <a:srgbClr val="5AA6C0"/>
      </a:accent4>
      <a:accent5>
        <a:srgbClr val="D17DF9"/>
      </a:accent5>
      <a:accent6>
        <a:srgbClr val="FA7E5C"/>
      </a:accent6>
      <a:hlink>
        <a:srgbClr val="FFAE3E"/>
      </a:hlink>
      <a:folHlink>
        <a:srgbClr val="FCC77E"/>
      </a:folHlink>
    </a:clrScheme>
    <a:fontScheme name="Berlin">
      <a:majorFont>
        <a:latin typeface="Trebuchet MS" panose="020B0603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rebuchet MS" panose="020B0603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erlin">
      <a:fillStyleLst>
        <a:solidFill>
          <a:schemeClr val="phClr"/>
        </a:solidFill>
        <a:gradFill rotWithShape="1">
          <a:gsLst>
            <a:gs pos="0">
              <a:schemeClr val="phClr">
                <a:tint val="60000"/>
                <a:satMod val="100000"/>
                <a:lumMod val="110000"/>
              </a:schemeClr>
            </a:gs>
            <a:gs pos="100000">
              <a:schemeClr val="phClr">
                <a:tint val="70000"/>
                <a:satMod val="100000"/>
                <a:lumMod val="100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6000"/>
                <a:shade val="100000"/>
                <a:hueMod val="270000"/>
                <a:satMod val="200000"/>
                <a:lumMod val="128000"/>
              </a:schemeClr>
            </a:gs>
            <a:gs pos="50000">
              <a:schemeClr val="phClr">
                <a:shade val="100000"/>
                <a:hueMod val="100000"/>
                <a:satMod val="110000"/>
                <a:lumMod val="130000"/>
              </a:schemeClr>
            </a:gs>
            <a:gs pos="100000">
              <a:schemeClr val="phClr">
                <a:shade val="78000"/>
                <a:hueMod val="44000"/>
                <a:satMod val="200000"/>
                <a:lumMod val="69000"/>
              </a:schemeClr>
            </a:gs>
          </a:gsLst>
          <a:lin ang="2520000" scaled="0"/>
        </a:gradFill>
      </a:bgFillStyleLst>
    </a:fmtScheme>
  </a:themeElements>
  <a:objectDefaults/>
  <a:extraClrSchemeLst/>
  <a:extLst>
    <a:ext uri="{05A4C25C-085E-4340-85A3-A5531E510DB2}">
      <thm15:themeFamily xmlns:thm15="http://schemas.microsoft.com/office/thememl/2012/main" name="Berlin" id="{7B5DBA9E-B069-418E-9360-A61BDD0615A4}" vid="{C0CBE056-4EF4-4D92-969E-947779DA7AA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TM04033917[[fn=Berlin]]</Template>
  <TotalTime>183</TotalTime>
  <Words>618</Words>
  <Application>Microsoft Office PowerPoint</Application>
  <PresentationFormat>Widescreen</PresentationFormat>
  <Paragraphs>32</Paragraphs>
  <Slides>8</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Trebuchet MS</vt:lpstr>
      <vt:lpstr>Berlin</vt:lpstr>
      <vt:lpstr>Homework 1 Presentation</vt:lpstr>
      <vt:lpstr>The data we are interested in:</vt:lpstr>
      <vt:lpstr>How we retrieve the data</vt:lpstr>
      <vt:lpstr>Errors/Exceptions handling:</vt:lpstr>
      <vt:lpstr>Inspect our database:</vt:lpstr>
      <vt:lpstr>Inspect our database:</vt:lpstr>
      <vt:lpstr>Data Visualization:</vt:lpstr>
      <vt:lpstr>How did we create such MAGICAL plotting: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Homework 1 Presentation</dc:title>
  <dc:creator>Martin Yan</dc:creator>
  <cp:lastModifiedBy>Martin Yan</cp:lastModifiedBy>
  <cp:revision>36</cp:revision>
  <dcterms:created xsi:type="dcterms:W3CDTF">2020-11-06T08:33:04Z</dcterms:created>
  <dcterms:modified xsi:type="dcterms:W3CDTF">2020-11-06T16:29:10Z</dcterms:modified>
</cp:coreProperties>
</file>