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6" r:id="rId3"/>
    <p:sldId id="257" r:id="rId4"/>
    <p:sldId id="260" r:id="rId5"/>
    <p:sldId id="265" r:id="rId6"/>
    <p:sldId id="267" r:id="rId7"/>
    <p:sldId id="268" r:id="rId8"/>
    <p:sldId id="269" r:id="rId9"/>
    <p:sldId id="270" r:id="rId10"/>
    <p:sldId id="261" r:id="rId11"/>
    <p:sldId id="262" r:id="rId12"/>
    <p:sldId id="258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8"/>
    <p:restoredTop sz="96327"/>
  </p:normalViewPr>
  <p:slideViewPr>
    <p:cSldViewPr snapToGrid="0" snapToObjects="1">
      <p:cViewPr varScale="1">
        <p:scale>
          <a:sx n="125" d="100"/>
          <a:sy n="125" d="100"/>
        </p:scale>
        <p:origin x="160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hinelearningplus.com/julia/logistic-regression-in-julia-practical-guide-with-examples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39AA4-7043-7242-A759-8B0166B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5724" y="1770704"/>
            <a:ext cx="8679915" cy="1748729"/>
          </a:xfrm>
        </p:spPr>
        <p:txBody>
          <a:bodyPr/>
          <a:lstStyle/>
          <a:p>
            <a:r>
              <a:rPr lang="en-US" dirty="0"/>
              <a:t>Homework 1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61E9A-86F8-6F42-83D7-D5C97B4F7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2212" y="3729286"/>
            <a:ext cx="8673427" cy="1353992"/>
          </a:xfrm>
        </p:spPr>
        <p:txBody>
          <a:bodyPr>
            <a:normAutofit/>
          </a:bodyPr>
          <a:lstStyle/>
          <a:p>
            <a:r>
              <a:rPr lang="en-US" dirty="0"/>
              <a:t>						   Group: </a:t>
            </a:r>
            <a:r>
              <a:rPr lang="en-US" dirty="0" err="1"/>
              <a:t>Shiyu</a:t>
            </a:r>
            <a:r>
              <a:rPr lang="en-US" dirty="0"/>
              <a:t> FAN</a:t>
            </a:r>
          </a:p>
          <a:p>
            <a:r>
              <a:rPr lang="en-US" dirty="0"/>
              <a:t>							 </a:t>
            </a:r>
            <a:r>
              <a:rPr lang="en-US" dirty="0" err="1"/>
              <a:t>Runhai</a:t>
            </a:r>
            <a:r>
              <a:rPr lang="en-US" dirty="0"/>
              <a:t> XU</a:t>
            </a:r>
          </a:p>
          <a:p>
            <a:r>
              <a:rPr lang="en-US" dirty="0"/>
              <a:t>							         </a:t>
            </a:r>
            <a:r>
              <a:rPr lang="en-US" dirty="0" err="1"/>
              <a:t>Zhaohang</a:t>
            </a:r>
            <a:r>
              <a:rPr lang="en-US" dirty="0"/>
              <a:t> YAN</a:t>
            </a:r>
          </a:p>
        </p:txBody>
      </p:sp>
    </p:spTree>
    <p:extLst>
      <p:ext uri="{BB962C8B-B14F-4D97-AF65-F5344CB8AC3E}">
        <p14:creationId xmlns:p14="http://schemas.microsoft.com/office/powerpoint/2010/main" val="9534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0ABE-4435-8647-98B9-590090FE1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we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550BA-B97B-2D45-A4FF-ECD5906A0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92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974814"/>
          </a:xfrm>
        </p:spPr>
        <p:txBody>
          <a:bodyPr/>
          <a:lstStyle/>
          <a:p>
            <a:r>
              <a:rPr lang="en-US" dirty="0"/>
              <a:t>Used the “@time” tag in Julia to measure performance: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</a:t>
            </a:r>
          </a:p>
          <a:p>
            <a:r>
              <a:rPr lang="en-US" dirty="0"/>
              <a:t>Time and Space)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E8B09F-2A35-6645-96B1-1ADE5BA94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755" y="1507738"/>
            <a:ext cx="6357256" cy="137060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65D1AED-4645-5246-AC01-5D74CBFD060B}"/>
              </a:ext>
            </a:extLst>
          </p:cNvPr>
          <p:cNvSpPr txBox="1">
            <a:spLocks/>
          </p:cNvSpPr>
          <p:nvPr/>
        </p:nvSpPr>
        <p:spPr>
          <a:xfrm>
            <a:off x="5118447" y="2608076"/>
            <a:ext cx="6281873" cy="40401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Used the “@time” tag in Julia to measure performance:</a:t>
            </a:r>
          </a:p>
          <a:p>
            <a:r>
              <a:rPr lang="en-US" dirty="0"/>
              <a:t>0.000406 seconds (479 allocations: 117.445 KiB) (per prediction)</a:t>
            </a:r>
          </a:p>
          <a:p>
            <a:r>
              <a:rPr lang="en-US" dirty="0"/>
              <a:t>6.229780 seconds (9.34 M allocations: 1.593 GiB, 10.32% </a:t>
            </a:r>
            <a:r>
              <a:rPr lang="en-US" dirty="0" err="1"/>
              <a:t>gc</a:t>
            </a:r>
            <a:r>
              <a:rPr lang="en-US" dirty="0"/>
              <a:t> time) (find the average accuracy of 10000 predictions)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Julia</a:t>
            </a:r>
          </a:p>
        </p:txBody>
      </p:sp>
    </p:spTree>
    <p:extLst>
      <p:ext uri="{BB962C8B-B14F-4D97-AF65-F5344CB8AC3E}">
        <p14:creationId xmlns:p14="http://schemas.microsoft.com/office/powerpoint/2010/main" val="679169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average accuracy (</a:t>
            </a:r>
            <a:r>
              <a:rPr lang="en-US"/>
              <a:t>10000 predictions) </a:t>
            </a:r>
            <a:r>
              <a:rPr lang="en-US" dirty="0"/>
              <a:t>of the logistic regression model in the Julia implementation is 70%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9B7C17-1646-A44D-B06F-781B23A992B2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Julia</a:t>
            </a:r>
          </a:p>
        </p:txBody>
      </p:sp>
    </p:spTree>
    <p:extLst>
      <p:ext uri="{BB962C8B-B14F-4D97-AF65-F5344CB8AC3E}">
        <p14:creationId xmlns:p14="http://schemas.microsoft.com/office/powerpoint/2010/main" val="3944298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38">
            <a:extLst>
              <a:ext uri="{FF2B5EF4-FFF2-40B4-BE49-F238E27FC236}">
                <a16:creationId xmlns:a16="http://schemas.microsoft.com/office/drawing/2014/main" id="{828D1E49-2A21-4A83-A0E0-FB1597B4B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0" name="Group 40">
            <a:extLst>
              <a:ext uri="{FF2B5EF4-FFF2-40B4-BE49-F238E27FC236}">
                <a16:creationId xmlns:a16="http://schemas.microsoft.com/office/drawing/2014/main" id="{088B852E-5494-418B-A833-75CF016A9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91" name="Freeform 5">
              <a:extLst>
                <a:ext uri="{FF2B5EF4-FFF2-40B4-BE49-F238E27FC236}">
                  <a16:creationId xmlns:a16="http://schemas.microsoft.com/office/drawing/2014/main" id="{DF31E3C1-1A46-4329-9F80-B576692FEE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>
              <a:extLst>
                <a:ext uri="{FF2B5EF4-FFF2-40B4-BE49-F238E27FC236}">
                  <a16:creationId xmlns:a16="http://schemas.microsoft.com/office/drawing/2014/main" id="{294B4592-99CA-47B1-816F-CE2D44F65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3" name="Freeform 7">
              <a:extLst>
                <a:ext uri="{FF2B5EF4-FFF2-40B4-BE49-F238E27FC236}">
                  <a16:creationId xmlns:a16="http://schemas.microsoft.com/office/drawing/2014/main" id="{BF690E4C-72F8-4AC5-AF99-562763CC67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Freeform 8">
              <a:extLst>
                <a:ext uri="{FF2B5EF4-FFF2-40B4-BE49-F238E27FC236}">
                  <a16:creationId xmlns:a16="http://schemas.microsoft.com/office/drawing/2014/main" id="{F834CDD4-CAB8-4ACC-9AAC-5399C743D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9">
              <a:extLst>
                <a:ext uri="{FF2B5EF4-FFF2-40B4-BE49-F238E27FC236}">
                  <a16:creationId xmlns:a16="http://schemas.microsoft.com/office/drawing/2014/main" id="{1AEB045A-6821-475B-A28E-047437ABEF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6" name="Freeform 10">
              <a:extLst>
                <a:ext uri="{FF2B5EF4-FFF2-40B4-BE49-F238E27FC236}">
                  <a16:creationId xmlns:a16="http://schemas.microsoft.com/office/drawing/2014/main" id="{D9B790C0-3D34-4626-BAFB-6EB473F40C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7" name="Freeform 11">
              <a:extLst>
                <a:ext uri="{FF2B5EF4-FFF2-40B4-BE49-F238E27FC236}">
                  <a16:creationId xmlns:a16="http://schemas.microsoft.com/office/drawing/2014/main" id="{EDA4D87F-91A4-4628-9A6E-F01820A7E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8" name="Freeform 12">
              <a:extLst>
                <a:ext uri="{FF2B5EF4-FFF2-40B4-BE49-F238E27FC236}">
                  <a16:creationId xmlns:a16="http://schemas.microsoft.com/office/drawing/2014/main" id="{045DAB88-124C-459C-A889-DAE9C9BE2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9" name="Freeform 13">
              <a:extLst>
                <a:ext uri="{FF2B5EF4-FFF2-40B4-BE49-F238E27FC236}">
                  <a16:creationId xmlns:a16="http://schemas.microsoft.com/office/drawing/2014/main" id="{85D44010-1DAA-4CAC-B83F-7E3E8C455D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Freeform 14">
              <a:extLst>
                <a:ext uri="{FF2B5EF4-FFF2-40B4-BE49-F238E27FC236}">
                  <a16:creationId xmlns:a16="http://schemas.microsoft.com/office/drawing/2014/main" id="{E8C01D66-5C93-4A2E-AA74-DE97574EA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1" name="Freeform 15">
              <a:extLst>
                <a:ext uri="{FF2B5EF4-FFF2-40B4-BE49-F238E27FC236}">
                  <a16:creationId xmlns:a16="http://schemas.microsoft.com/office/drawing/2014/main" id="{E2E1A6E1-6C4A-47D3-81E2-9F8624F1BB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reeform 16">
              <a:extLst>
                <a:ext uri="{FF2B5EF4-FFF2-40B4-BE49-F238E27FC236}">
                  <a16:creationId xmlns:a16="http://schemas.microsoft.com/office/drawing/2014/main" id="{3E849CB5-4526-49DC-B77B-A20FDB7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" name="Freeform 17">
              <a:extLst>
                <a:ext uri="{FF2B5EF4-FFF2-40B4-BE49-F238E27FC236}">
                  <a16:creationId xmlns:a16="http://schemas.microsoft.com/office/drawing/2014/main" id="{5A18C8A4-FB2A-44C1-93D3-26C6DDFE0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4" name="Freeform 18">
              <a:extLst>
                <a:ext uri="{FF2B5EF4-FFF2-40B4-BE49-F238E27FC236}">
                  <a16:creationId xmlns:a16="http://schemas.microsoft.com/office/drawing/2014/main" id="{85D014FD-8C5A-4071-B19E-4910AAB618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Freeform 19">
              <a:extLst>
                <a:ext uri="{FF2B5EF4-FFF2-40B4-BE49-F238E27FC236}">
                  <a16:creationId xmlns:a16="http://schemas.microsoft.com/office/drawing/2014/main" id="{A37D7262-3596-4026-9AD4-E94332E526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6" name="Freeform 20">
              <a:extLst>
                <a:ext uri="{FF2B5EF4-FFF2-40B4-BE49-F238E27FC236}">
                  <a16:creationId xmlns:a16="http://schemas.microsoft.com/office/drawing/2014/main" id="{187E37E0-AAC3-4B33-AF36-334ACCBD33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09758BB-8A0E-4BEB-BC0C-F410AD98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8" name="Freeform 22">
              <a:extLst>
                <a:ext uri="{FF2B5EF4-FFF2-40B4-BE49-F238E27FC236}">
                  <a16:creationId xmlns:a16="http://schemas.microsoft.com/office/drawing/2014/main" id="{97C4EFE2-9D25-4978-BD9A-873B49270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9" name="Freeform 23">
              <a:extLst>
                <a:ext uri="{FF2B5EF4-FFF2-40B4-BE49-F238E27FC236}">
                  <a16:creationId xmlns:a16="http://schemas.microsoft.com/office/drawing/2014/main" id="{9CCAF82A-A0E0-4B55-A97B-EFFAE79AF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0" name="Freeform 24">
              <a:extLst>
                <a:ext uri="{FF2B5EF4-FFF2-40B4-BE49-F238E27FC236}">
                  <a16:creationId xmlns:a16="http://schemas.microsoft.com/office/drawing/2014/main" id="{4F800DD8-3954-4F73-8807-16F1CFAC1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1" name="Freeform 25">
              <a:extLst>
                <a:ext uri="{FF2B5EF4-FFF2-40B4-BE49-F238E27FC236}">
                  <a16:creationId xmlns:a16="http://schemas.microsoft.com/office/drawing/2014/main" id="{84E1C91A-4B06-4852-918C-6380FA98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2D95D0F-36E6-D248-9046-6BA200FE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916" y="488694"/>
            <a:ext cx="10488547" cy="1436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ROC Curve (Julia)</a:t>
            </a:r>
          </a:p>
        </p:txBody>
      </p:sp>
      <p:sp>
        <p:nvSpPr>
          <p:cNvPr id="112" name="Rectangle 63">
            <a:extLst>
              <a:ext uri="{FF2B5EF4-FFF2-40B4-BE49-F238E27FC236}">
                <a16:creationId xmlns:a16="http://schemas.microsoft.com/office/drawing/2014/main" id="{E972DE0D-2E53-4159-ABD3-C601524262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7030" y="2250281"/>
            <a:ext cx="4959318" cy="3678237"/>
          </a:xfrm>
          <a:prstGeom prst="rect">
            <a:avLst/>
          </a:prstGeom>
          <a:solidFill>
            <a:schemeClr val="bg1"/>
          </a:solidFill>
          <a:ln w="19050">
            <a:solidFill>
              <a:srgbClr val="8CDDFE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84892727-E2BE-3B48-9FF0-8F840D99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45" y="2474839"/>
            <a:ext cx="4726912" cy="3143396"/>
          </a:xfrm>
          <a:prstGeom prst="rect">
            <a:avLst/>
          </a:prstGeom>
          <a:ln w="12700">
            <a:noFill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37789-16AA-DE48-86F2-28CE4174B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9472" y="2082390"/>
            <a:ext cx="5028928" cy="4003279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8CDDFE"/>
              </a:buClr>
            </a:pPr>
            <a:r>
              <a:rPr lang="en-CA" dirty="0"/>
              <a:t>Receiver Operating Characteristics curve is the evaluation metric used to evaluate the classification model based on its predictive power to predict class one’s accuracy and class zero’s accuracy.</a:t>
            </a:r>
          </a:p>
          <a:p>
            <a:r>
              <a:rPr lang="en-CA" dirty="0"/>
              <a:t>Ideally the curve should be close to the y-axis line and top line of the x-axis, but it’s far from it. That means it is not a good model.</a:t>
            </a:r>
          </a:p>
          <a:p>
            <a:r>
              <a:rPr lang="en-CA" dirty="0"/>
              <a:t>This is because of the high-class imbalance. i.e. while training the data, most of the data points were having class 0.</a:t>
            </a:r>
          </a:p>
          <a:p>
            <a:r>
              <a:rPr lang="en-CA" dirty="0"/>
              <a:t>Unfortunately,  we did not find a way to fix this issue.</a:t>
            </a:r>
          </a:p>
          <a:p>
            <a:pPr>
              <a:buClr>
                <a:srgbClr val="8CDDFE"/>
              </a:buCl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C8206B-2BC3-804A-BE7B-88026C36E799}"/>
              </a:ext>
            </a:extLst>
          </p:cNvPr>
          <p:cNvSpPr txBox="1"/>
          <p:nvPr/>
        </p:nvSpPr>
        <p:spPr>
          <a:xfrm>
            <a:off x="951310" y="6262172"/>
            <a:ext cx="4510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Reference: </a:t>
            </a:r>
            <a:r>
              <a:rPr lang="en-US" dirty="0">
                <a:hlinkClick r:id="rId3"/>
              </a:rPr>
              <a:t>Logistic Regression in Julia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76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</a:t>
            </a:r>
          </a:p>
          <a:p>
            <a:r>
              <a:rPr lang="en-US" dirty="0"/>
              <a:t>Time and Space)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77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897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</a:t>
            </a:r>
          </a:p>
          <a:p>
            <a:r>
              <a:rPr lang="en-US" dirty="0"/>
              <a:t>Time and Space)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1858561" y="665124"/>
            <a:ext cx="2174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Python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868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441FD0-CB59-6142-A924-6321735439A2}"/>
              </a:ext>
            </a:extLst>
          </p:cNvPr>
          <p:cNvSpPr txBox="1"/>
          <p:nvPr/>
        </p:nvSpPr>
        <p:spPr>
          <a:xfrm>
            <a:off x="1858561" y="665124"/>
            <a:ext cx="2174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101147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Time)</a:t>
            </a:r>
          </a:p>
        </p:txBody>
      </p:sp>
    </p:spTree>
    <p:extLst>
      <p:ext uri="{BB962C8B-B14F-4D97-AF65-F5344CB8AC3E}">
        <p14:creationId xmlns:p14="http://schemas.microsoft.com/office/powerpoint/2010/main" val="2623462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Space)</a:t>
            </a:r>
          </a:p>
        </p:txBody>
      </p:sp>
    </p:spTree>
    <p:extLst>
      <p:ext uri="{BB962C8B-B14F-4D97-AF65-F5344CB8AC3E}">
        <p14:creationId xmlns:p14="http://schemas.microsoft.com/office/powerpoint/2010/main" val="1956971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72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</a:t>
            </a:r>
            <a:br>
              <a:rPr lang="en-US" dirty="0"/>
            </a:br>
            <a:r>
              <a:rPr lang="en-US" dirty="0"/>
              <a:t>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174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Julia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135" y="803186"/>
            <a:ext cx="6543185" cy="5248622"/>
          </a:xfrm>
        </p:spPr>
        <p:txBody>
          <a:bodyPr/>
          <a:lstStyle/>
          <a:p>
            <a:r>
              <a:rPr lang="en-US" dirty="0"/>
              <a:t>Pros:</a:t>
            </a:r>
          </a:p>
          <a:p>
            <a:pPr marL="0" indent="0">
              <a:buNone/>
            </a:pPr>
            <a:r>
              <a:rPr lang="en-US" dirty="0"/>
              <a:t>    Fast</a:t>
            </a:r>
          </a:p>
          <a:p>
            <a:pPr marL="0" indent="0">
              <a:buNone/>
            </a:pPr>
            <a:r>
              <a:rPr lang="en-US" dirty="0"/>
              <a:t>    The syntax and grammar are straightforward</a:t>
            </a:r>
          </a:p>
          <a:p>
            <a:pPr marL="0" indent="0">
              <a:buNone/>
            </a:pPr>
            <a:r>
              <a:rPr lang="en-US" dirty="0"/>
              <a:t>    Abundant Data Science libraries and packages to import</a:t>
            </a:r>
          </a:p>
          <a:p>
            <a:r>
              <a:rPr lang="en-US" dirty="0"/>
              <a:t>Cons:</a:t>
            </a:r>
          </a:p>
          <a:p>
            <a:pPr marL="0" indent="0">
              <a:buNone/>
            </a:pPr>
            <a:r>
              <a:rPr lang="en-US" dirty="0"/>
              <a:t>    The size of the user population is small</a:t>
            </a:r>
          </a:p>
          <a:p>
            <a:pPr marL="0" indent="0">
              <a:buNone/>
            </a:pPr>
            <a:r>
              <a:rPr lang="en-US" dirty="0"/>
              <a:t>    Bad IDE support</a:t>
            </a:r>
          </a:p>
          <a:p>
            <a:pPr marL="0" indent="0">
              <a:buNone/>
            </a:pPr>
            <a:r>
              <a:rPr lang="en-US" dirty="0"/>
              <a:t>    Hard to execute the codes in terminal</a:t>
            </a:r>
          </a:p>
          <a:p>
            <a:pPr marL="0" indent="0">
              <a:buNone/>
            </a:pPr>
            <a:r>
              <a:rPr lang="en-US" dirty="0"/>
              <a:t>    The</a:t>
            </a:r>
            <a:r>
              <a:rPr lang="zh-CN" altLang="en-US" dirty="0"/>
              <a:t> </a:t>
            </a:r>
            <a:r>
              <a:rPr lang="en-CA" altLang="zh-CN" dirty="0"/>
              <a:t>re</a:t>
            </a:r>
            <a:r>
              <a:rPr lang="en-US"/>
              <a:t>sources </a:t>
            </a:r>
            <a:r>
              <a:rPr lang="en-US" dirty="0"/>
              <a:t>are fewer than the other two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829262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417</Words>
  <Application>Microsoft Macintosh PowerPoint</Application>
  <PresentationFormat>Widescreen</PresentationFormat>
  <Paragraphs>61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Calibri Light</vt:lpstr>
      <vt:lpstr>Rockwell</vt:lpstr>
      <vt:lpstr>Wingdings</vt:lpstr>
      <vt:lpstr>Atlas</vt:lpstr>
      <vt:lpstr>Homework 1 Presentation</vt:lpstr>
      <vt:lpstr>Dataset we use</vt:lpstr>
      <vt:lpstr>Logistic Regression</vt:lpstr>
      <vt:lpstr>Logistic Regression</vt:lpstr>
      <vt:lpstr>ROC Curve (Julia)</vt:lpstr>
      <vt:lpstr>Logistic Regression</vt:lpstr>
      <vt:lpstr>Logistic Regression</vt:lpstr>
      <vt:lpstr>Logistic Regression</vt:lpstr>
      <vt:lpstr>Logistic Regression</vt:lpstr>
      <vt:lpstr>Random Forest</vt:lpstr>
      <vt:lpstr>Random Forest</vt:lpstr>
      <vt:lpstr>Pro/Con List: Python</vt:lpstr>
      <vt:lpstr>Pro/Con List: R</vt:lpstr>
      <vt:lpstr>Pro/Con List: Julia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Homework 1 Presentation</dc:title>
  <dc:creator>Zhaohang Yan</dc:creator>
  <cp:lastModifiedBy>Zhaohang Yan</cp:lastModifiedBy>
  <cp:revision>9</cp:revision>
  <dcterms:created xsi:type="dcterms:W3CDTF">2020-10-30T10:11:13Z</dcterms:created>
  <dcterms:modified xsi:type="dcterms:W3CDTF">2020-10-30T12:16:50Z</dcterms:modified>
</cp:coreProperties>
</file>