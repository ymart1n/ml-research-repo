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5" r:id="rId5"/>
    <p:sldId id="261" r:id="rId6"/>
    <p:sldId id="262" r:id="rId7"/>
    <p:sldId id="258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6327"/>
  </p:normalViewPr>
  <p:slideViewPr>
    <p:cSldViewPr snapToGrid="0" snapToObjects="1">
      <p:cViewPr varScale="1">
        <p:scale>
          <a:sx n="132" d="100"/>
          <a:sy n="132" d="100"/>
        </p:scale>
        <p:origin x="168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10/30/20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chinelearningplus.com/julia/logistic-regression-in-julia-practical-guide-with-example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39AA4-7043-7242-A759-8B0166B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5724" y="1770704"/>
            <a:ext cx="8679915" cy="1748729"/>
          </a:xfrm>
        </p:spPr>
        <p:txBody>
          <a:bodyPr/>
          <a:lstStyle/>
          <a:p>
            <a:r>
              <a:rPr lang="en-US" dirty="0"/>
              <a:t>Homework 1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161E9A-86F8-6F42-83D7-D5C97B4F7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2212" y="3729286"/>
            <a:ext cx="8673427" cy="1353992"/>
          </a:xfrm>
        </p:spPr>
        <p:txBody>
          <a:bodyPr>
            <a:normAutofit/>
          </a:bodyPr>
          <a:lstStyle/>
          <a:p>
            <a:r>
              <a:rPr lang="en-US" dirty="0"/>
              <a:t>						   Group: </a:t>
            </a:r>
            <a:r>
              <a:rPr lang="en-US" dirty="0" err="1"/>
              <a:t>Shiyu</a:t>
            </a:r>
            <a:r>
              <a:rPr lang="en-US" dirty="0"/>
              <a:t> FAN</a:t>
            </a:r>
          </a:p>
          <a:p>
            <a:r>
              <a:rPr lang="en-US" dirty="0"/>
              <a:t>							 </a:t>
            </a:r>
            <a:r>
              <a:rPr lang="en-US" dirty="0" err="1"/>
              <a:t>Runhai</a:t>
            </a:r>
            <a:r>
              <a:rPr lang="en-US" dirty="0"/>
              <a:t> XU</a:t>
            </a:r>
          </a:p>
          <a:p>
            <a:r>
              <a:rPr lang="en-US" dirty="0"/>
              <a:t>							         </a:t>
            </a:r>
            <a:r>
              <a:rPr lang="en-US" dirty="0" err="1"/>
              <a:t>Zhaohang</a:t>
            </a:r>
            <a:r>
              <a:rPr lang="en-US" dirty="0"/>
              <a:t> YAN</a:t>
            </a:r>
          </a:p>
        </p:txBody>
      </p:sp>
    </p:spTree>
    <p:extLst>
      <p:ext uri="{BB962C8B-B14F-4D97-AF65-F5344CB8AC3E}">
        <p14:creationId xmlns:p14="http://schemas.microsoft.com/office/powerpoint/2010/main" val="9534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679169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average accuracy (</a:t>
            </a:r>
            <a:r>
              <a:rPr lang="en-US"/>
              <a:t>10000 predictions) </a:t>
            </a:r>
            <a:r>
              <a:rPr lang="en-US" dirty="0"/>
              <a:t>of the logistic regression model in the Julia implementation is 70%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Accuracy)</a:t>
            </a:r>
          </a:p>
        </p:txBody>
      </p:sp>
    </p:spTree>
    <p:extLst>
      <p:ext uri="{BB962C8B-B14F-4D97-AF65-F5344CB8AC3E}">
        <p14:creationId xmlns:p14="http://schemas.microsoft.com/office/powerpoint/2010/main" val="3944298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38">
            <a:extLst>
              <a:ext uri="{FF2B5EF4-FFF2-40B4-BE49-F238E27FC236}">
                <a16:creationId xmlns:a16="http://schemas.microsoft.com/office/drawing/2014/main" id="{828D1E49-2A21-4A83-A0E0-FB1597B4B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40">
            <a:extLst>
              <a:ext uri="{FF2B5EF4-FFF2-40B4-BE49-F238E27FC236}">
                <a16:creationId xmlns:a16="http://schemas.microsoft.com/office/drawing/2014/main" id="{088B852E-5494-418B-A833-75CF016A9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91" name="Freeform 5">
              <a:extLst>
                <a:ext uri="{FF2B5EF4-FFF2-40B4-BE49-F238E27FC236}">
                  <a16:creationId xmlns:a16="http://schemas.microsoft.com/office/drawing/2014/main" id="{DF31E3C1-1A46-4329-9F80-B576692FEE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6513" y="0"/>
              <a:ext cx="3862388" cy="6843713"/>
            </a:xfrm>
            <a:custGeom>
              <a:avLst/>
              <a:gdLst>
                <a:gd name="T0" fmla="*/ 813 w 813"/>
                <a:gd name="T1" fmla="*/ 0 h 1440"/>
                <a:gd name="T2" fmla="*/ 435 w 81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>
              <a:extLst>
                <a:ext uri="{FF2B5EF4-FFF2-40B4-BE49-F238E27FC236}">
                  <a16:creationId xmlns:a16="http://schemas.microsoft.com/office/drawing/2014/main" id="{294B4592-99CA-47B1-816F-CE2D44F65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26725" y="9525"/>
              <a:ext cx="1539875" cy="555625"/>
            </a:xfrm>
            <a:custGeom>
              <a:avLst/>
              <a:gdLst>
                <a:gd name="T0" fmla="*/ 324 w 324"/>
                <a:gd name="T1" fmla="*/ 117 h 117"/>
                <a:gd name="T2" fmla="*/ 0 w 324"/>
                <a:gd name="T3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3" name="Freeform 7">
              <a:extLst>
                <a:ext uri="{FF2B5EF4-FFF2-40B4-BE49-F238E27FC236}">
                  <a16:creationId xmlns:a16="http://schemas.microsoft.com/office/drawing/2014/main" id="{BF690E4C-72F8-4AC5-AF99-562763CC67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47313" y="5013325"/>
              <a:ext cx="1919288" cy="1830388"/>
            </a:xfrm>
            <a:custGeom>
              <a:avLst/>
              <a:gdLst>
                <a:gd name="T0" fmla="*/ 0 w 404"/>
                <a:gd name="T1" fmla="*/ 385 h 385"/>
                <a:gd name="T2" fmla="*/ 404 w 404"/>
                <a:gd name="T3" fmla="*/ 0 h 3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Freeform 8">
              <a:extLst>
                <a:ext uri="{FF2B5EF4-FFF2-40B4-BE49-F238E27FC236}">
                  <a16:creationId xmlns:a16="http://schemas.microsoft.com/office/drawing/2014/main" id="{F834CDD4-CAB8-4ACC-9AAC-5399C743D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775" y="0"/>
              <a:ext cx="3676650" cy="6843713"/>
            </a:xfrm>
            <a:custGeom>
              <a:avLst/>
              <a:gdLst>
                <a:gd name="T0" fmla="*/ 774 w 774"/>
                <a:gd name="T1" fmla="*/ 0 h 1440"/>
                <a:gd name="T2" fmla="*/ 411 w 774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9">
              <a:extLst>
                <a:ext uri="{FF2B5EF4-FFF2-40B4-BE49-F238E27FC236}">
                  <a16:creationId xmlns:a16="http://schemas.microsoft.com/office/drawing/2014/main" id="{1AEB045A-6821-475B-A28E-047437ABEF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02988" y="9525"/>
              <a:ext cx="963613" cy="366713"/>
            </a:xfrm>
            <a:custGeom>
              <a:avLst/>
              <a:gdLst>
                <a:gd name="T0" fmla="*/ 203 w 203"/>
                <a:gd name="T1" fmla="*/ 77 h 77"/>
                <a:gd name="T2" fmla="*/ 0 w 203"/>
                <a:gd name="T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6" name="Freeform 10">
              <a:extLst>
                <a:ext uri="{FF2B5EF4-FFF2-40B4-BE49-F238E27FC236}">
                  <a16:creationId xmlns:a16="http://schemas.microsoft.com/office/drawing/2014/main" id="{D9B790C0-3D34-4626-BAFB-6EB473F40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4963" y="5275263"/>
              <a:ext cx="1666875" cy="1577975"/>
            </a:xfrm>
            <a:custGeom>
              <a:avLst/>
              <a:gdLst>
                <a:gd name="T0" fmla="*/ 0 w 351"/>
                <a:gd name="T1" fmla="*/ 332 h 332"/>
                <a:gd name="T2" fmla="*/ 351 w 351"/>
                <a:gd name="T3" fmla="*/ 0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EDA4D87F-91A4-4628-9A6E-F01820A7E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621088" cy="6843713"/>
            </a:xfrm>
            <a:custGeom>
              <a:avLst/>
              <a:gdLst>
                <a:gd name="T0" fmla="*/ 762 w 762"/>
                <a:gd name="T1" fmla="*/ 0 h 1440"/>
                <a:gd name="T2" fmla="*/ 403 w 76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045DAB88-124C-459C-A889-DAE9C9BE2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01438" y="9525"/>
              <a:ext cx="665163" cy="257175"/>
            </a:xfrm>
            <a:custGeom>
              <a:avLst/>
              <a:gdLst>
                <a:gd name="T0" fmla="*/ 140 w 140"/>
                <a:gd name="T1" fmla="*/ 54 h 54"/>
                <a:gd name="T2" fmla="*/ 0 w 140"/>
                <a:gd name="T3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85D44010-1DAA-4CAC-B83F-7E3E8C455D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641013" y="5408613"/>
              <a:ext cx="1525588" cy="1435100"/>
            </a:xfrm>
            <a:custGeom>
              <a:avLst/>
              <a:gdLst>
                <a:gd name="T0" fmla="*/ 0 w 321"/>
                <a:gd name="T1" fmla="*/ 302 h 302"/>
                <a:gd name="T2" fmla="*/ 321 w 321"/>
                <a:gd name="T3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E8C01D66-5C93-4A2E-AA74-DE97574EA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1713" y="0"/>
              <a:ext cx="3244850" cy="6843713"/>
            </a:xfrm>
            <a:custGeom>
              <a:avLst/>
              <a:gdLst>
                <a:gd name="T0" fmla="*/ 683 w 683"/>
                <a:gd name="T1" fmla="*/ 0 h 1440"/>
                <a:gd name="T2" fmla="*/ 355 w 683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E2E1A6E1-6C4A-47D3-81E2-9F8624F1B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802938" y="5518150"/>
              <a:ext cx="1363663" cy="1325563"/>
            </a:xfrm>
            <a:custGeom>
              <a:avLst/>
              <a:gdLst>
                <a:gd name="T0" fmla="*/ 0 w 287"/>
                <a:gd name="T1" fmla="*/ 279 h 279"/>
                <a:gd name="T2" fmla="*/ 287 w 287"/>
                <a:gd name="T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3E849CB5-4526-49DC-B77B-A20FDB7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89000" y="0"/>
              <a:ext cx="3230563" cy="6843713"/>
            </a:xfrm>
            <a:custGeom>
              <a:avLst/>
              <a:gdLst>
                <a:gd name="T0" fmla="*/ 680 w 680"/>
                <a:gd name="T1" fmla="*/ 0 h 1440"/>
                <a:gd name="T2" fmla="*/ 337 w 68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5A18C8A4-FB2A-44C1-93D3-26C6DDFE0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979150" y="5694363"/>
              <a:ext cx="1187450" cy="1149350"/>
            </a:xfrm>
            <a:custGeom>
              <a:avLst/>
              <a:gdLst>
                <a:gd name="T0" fmla="*/ 0 w 250"/>
                <a:gd name="T1" fmla="*/ 242 h 242"/>
                <a:gd name="T2" fmla="*/ 250 w 250"/>
                <a:gd name="T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85D014FD-8C5A-4071-B19E-4910AAB618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84188" y="0"/>
              <a:ext cx="3421063" cy="6843713"/>
            </a:xfrm>
            <a:custGeom>
              <a:avLst/>
              <a:gdLst>
                <a:gd name="T0" fmla="*/ 720 w 720"/>
                <a:gd name="T1" fmla="*/ 0 h 1440"/>
                <a:gd name="T2" fmla="*/ 362 w 7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A37D7262-3596-4026-9AD4-E94332E526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25" y="6049963"/>
              <a:ext cx="879475" cy="793750"/>
            </a:xfrm>
            <a:custGeom>
              <a:avLst/>
              <a:gdLst>
                <a:gd name="T0" fmla="*/ 0 w 185"/>
                <a:gd name="T1" fmla="*/ 167 h 167"/>
                <a:gd name="T2" fmla="*/ 185 w 185"/>
                <a:gd name="T3" fmla="*/ 0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187E37E0-AAC3-4B33-AF36-334ACCBD33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8488" y="0"/>
              <a:ext cx="2717800" cy="6843713"/>
            </a:xfrm>
            <a:custGeom>
              <a:avLst/>
              <a:gdLst>
                <a:gd name="T0" fmla="*/ 572 w 572"/>
                <a:gd name="T1" fmla="*/ 0 h 1440"/>
                <a:gd name="T2" fmla="*/ 164 w 572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09758BB-8A0E-4BEB-BC0C-F410AD98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61938" y="0"/>
              <a:ext cx="2944813" cy="6843713"/>
            </a:xfrm>
            <a:custGeom>
              <a:avLst/>
              <a:gdLst>
                <a:gd name="T0" fmla="*/ 620 w 620"/>
                <a:gd name="T1" fmla="*/ 0 h 1440"/>
                <a:gd name="T2" fmla="*/ 186 w 620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97C4EFE2-9D25-4978-BD9A-873B49270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17513" y="0"/>
              <a:ext cx="2403475" cy="6843713"/>
            </a:xfrm>
            <a:custGeom>
              <a:avLst/>
              <a:gdLst>
                <a:gd name="T0" fmla="*/ 506 w 506"/>
                <a:gd name="T1" fmla="*/ 0 h 1440"/>
                <a:gd name="T2" fmla="*/ 171 w 506"/>
                <a:gd name="T3" fmla="*/ 144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9" name="Freeform 23">
              <a:extLst>
                <a:ext uri="{FF2B5EF4-FFF2-40B4-BE49-F238E27FC236}">
                  <a16:creationId xmlns:a16="http://schemas.microsoft.com/office/drawing/2014/main" id="{9CCAF82A-A0E0-4B55-A97B-EFFAE79AF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9525"/>
              <a:ext cx="1771650" cy="3198813"/>
            </a:xfrm>
            <a:custGeom>
              <a:avLst/>
              <a:gdLst>
                <a:gd name="T0" fmla="*/ 373 w 373"/>
                <a:gd name="T1" fmla="*/ 0 h 673"/>
                <a:gd name="T2" fmla="*/ 0 w 373"/>
                <a:gd name="T3" fmla="*/ 673 h 6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24">
              <a:extLst>
                <a:ext uri="{FF2B5EF4-FFF2-40B4-BE49-F238E27FC236}">
                  <a16:creationId xmlns:a16="http://schemas.microsoft.com/office/drawing/2014/main" id="{4F800DD8-3954-4F73-8807-16F1CFAC1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6016625"/>
              <a:ext cx="214313" cy="827088"/>
            </a:xfrm>
            <a:custGeom>
              <a:avLst/>
              <a:gdLst>
                <a:gd name="T0" fmla="*/ 0 w 45"/>
                <a:gd name="T1" fmla="*/ 0 h 174"/>
                <a:gd name="T2" fmla="*/ 45 w 45"/>
                <a:gd name="T3" fmla="*/ 174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25">
              <a:extLst>
                <a:ext uri="{FF2B5EF4-FFF2-40B4-BE49-F238E27FC236}">
                  <a16:creationId xmlns:a16="http://schemas.microsoft.com/office/drawing/2014/main" id="{84E1C91A-4B06-4852-918C-6380FA98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288" y="0"/>
              <a:ext cx="1562100" cy="2228850"/>
            </a:xfrm>
            <a:custGeom>
              <a:avLst/>
              <a:gdLst>
                <a:gd name="T0" fmla="*/ 329 w 329"/>
                <a:gd name="T1" fmla="*/ 0 h 469"/>
                <a:gd name="T2" fmla="*/ 0 w 329"/>
                <a:gd name="T3" fmla="*/ 4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2D95D0F-36E6-D248-9046-6BA200FE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916" y="488694"/>
            <a:ext cx="10488547" cy="1436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ROC Curve (Julia)</a:t>
            </a:r>
          </a:p>
        </p:txBody>
      </p:sp>
      <p:sp>
        <p:nvSpPr>
          <p:cNvPr id="112" name="Rectangle 63">
            <a:extLst>
              <a:ext uri="{FF2B5EF4-FFF2-40B4-BE49-F238E27FC236}">
                <a16:creationId xmlns:a16="http://schemas.microsoft.com/office/drawing/2014/main" id="{E972DE0D-2E53-4159-ABD3-C601524262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7030" y="2250281"/>
            <a:ext cx="4959318" cy="3678237"/>
          </a:xfrm>
          <a:prstGeom prst="rect">
            <a:avLst/>
          </a:prstGeom>
          <a:solidFill>
            <a:schemeClr val="bg1"/>
          </a:solidFill>
          <a:ln w="19050">
            <a:solidFill>
              <a:srgbClr val="8CDDFE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84892727-E2BE-3B48-9FF0-8F840D99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45" y="2474839"/>
            <a:ext cx="4726912" cy="3143396"/>
          </a:xfrm>
          <a:prstGeom prst="rect">
            <a:avLst/>
          </a:prstGeom>
          <a:ln w="12700">
            <a:noFill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37789-16AA-DE48-86F2-28CE4174B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9472" y="2082390"/>
            <a:ext cx="5028928" cy="4003279"/>
          </a:xfrm>
        </p:spPr>
        <p:txBody>
          <a:bodyPr>
            <a:normAutofit fontScale="92500" lnSpcReduction="20000"/>
          </a:bodyPr>
          <a:lstStyle/>
          <a:p>
            <a:pPr>
              <a:buClr>
                <a:srgbClr val="8CDDFE"/>
              </a:buClr>
            </a:pPr>
            <a:r>
              <a:rPr lang="en-CA" dirty="0"/>
              <a:t>Receiver Operating Characteristics curve is the evaluation metric used to evaluate the classification model based on its predictive power to predict class one’s accuracy and class zero’s accuracy.</a:t>
            </a:r>
          </a:p>
          <a:p>
            <a:r>
              <a:rPr lang="en-CA" dirty="0"/>
              <a:t>Ideally the curve should be close to the y-axis line and top line of the x-axis, but it’s far from it. That means it is not a good model.</a:t>
            </a:r>
          </a:p>
          <a:p>
            <a:r>
              <a:rPr lang="en-CA" dirty="0"/>
              <a:t>This is because of the high-class imbalance. i.e. while training the data, most of the data points were having class 0.</a:t>
            </a:r>
          </a:p>
          <a:p>
            <a:r>
              <a:rPr lang="en-CA" dirty="0"/>
              <a:t>Unfortunately,  we did not find a way to fix this issue.</a:t>
            </a:r>
          </a:p>
          <a:p>
            <a:pPr>
              <a:buClr>
                <a:srgbClr val="8CDDFE"/>
              </a:buCl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206B-2BC3-804A-BE7B-88026C36E799}"/>
              </a:ext>
            </a:extLst>
          </p:cNvPr>
          <p:cNvSpPr txBox="1"/>
          <p:nvPr/>
        </p:nvSpPr>
        <p:spPr>
          <a:xfrm>
            <a:off x="951310" y="6262172"/>
            <a:ext cx="4510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Reference: </a:t>
            </a:r>
            <a:r>
              <a:rPr lang="en-US" dirty="0">
                <a:hlinkClick r:id="rId3"/>
              </a:rPr>
              <a:t>Logistic Regression in Julia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676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Time)</a:t>
            </a:r>
          </a:p>
        </p:txBody>
      </p:sp>
    </p:spTree>
    <p:extLst>
      <p:ext uri="{BB962C8B-B14F-4D97-AF65-F5344CB8AC3E}">
        <p14:creationId xmlns:p14="http://schemas.microsoft.com/office/powerpoint/2010/main" val="2623462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CFDC-98F7-4A41-B1B0-7AD433F3D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799" y="1553513"/>
            <a:ext cx="3644040" cy="825894"/>
          </a:xfrm>
        </p:spPr>
        <p:txBody>
          <a:bodyPr>
            <a:normAutofit fontScale="90000"/>
          </a:bodyPr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E8550-172A-3545-B6B1-F376EA7E8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06A374-F05B-8E44-BDA6-239B50994B61}"/>
              </a:ext>
            </a:extLst>
          </p:cNvPr>
          <p:cNvSpPr txBox="1">
            <a:spLocks/>
          </p:cNvSpPr>
          <p:nvPr/>
        </p:nvSpPr>
        <p:spPr>
          <a:xfrm>
            <a:off x="878798" y="2340093"/>
            <a:ext cx="3555549" cy="2467881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Performance Comparison</a:t>
            </a:r>
          </a:p>
          <a:p>
            <a:r>
              <a:rPr lang="en-US" dirty="0"/>
              <a:t>(</a:t>
            </a:r>
            <a:r>
              <a:rPr lang="en-US" dirty="0" err="1"/>
              <a:t>w.r.t.</a:t>
            </a:r>
            <a:r>
              <a:rPr lang="en-US" dirty="0"/>
              <a:t> Space)</a:t>
            </a:r>
          </a:p>
        </p:txBody>
      </p:sp>
    </p:spTree>
    <p:extLst>
      <p:ext uri="{BB962C8B-B14F-4D97-AF65-F5344CB8AC3E}">
        <p14:creationId xmlns:p14="http://schemas.microsoft.com/office/powerpoint/2010/main" val="1956971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72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</a:t>
            </a:r>
            <a:br>
              <a:rPr lang="en-US" dirty="0"/>
            </a:br>
            <a:r>
              <a:rPr lang="en-US" dirty="0"/>
              <a:t>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174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25D05-6AB1-DE4D-8F11-0D88D56E2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Pro/Con List: Julia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07128-1BA8-8E42-A764-F9F783CB9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135" y="803186"/>
            <a:ext cx="6543185" cy="5248622"/>
          </a:xfrm>
        </p:spPr>
        <p:txBody>
          <a:bodyPr/>
          <a:lstStyle/>
          <a:p>
            <a:r>
              <a:rPr lang="en-US" dirty="0"/>
              <a:t>Pros:</a:t>
            </a:r>
          </a:p>
          <a:p>
            <a:pPr marL="0" indent="0">
              <a:buNone/>
            </a:pPr>
            <a:r>
              <a:rPr lang="en-US" dirty="0"/>
              <a:t>    Fast</a:t>
            </a:r>
          </a:p>
          <a:p>
            <a:pPr marL="0" indent="0">
              <a:buNone/>
            </a:pPr>
            <a:r>
              <a:rPr lang="en-US" dirty="0"/>
              <a:t>    The syntax and grammar are straightforward</a:t>
            </a:r>
          </a:p>
          <a:p>
            <a:pPr marL="0" indent="0">
              <a:buNone/>
            </a:pPr>
            <a:r>
              <a:rPr lang="en-US" dirty="0"/>
              <a:t>    Abundant Data Science libraries and packages to import</a:t>
            </a:r>
          </a:p>
          <a:p>
            <a:r>
              <a:rPr lang="en-US" dirty="0"/>
              <a:t>Cons:</a:t>
            </a:r>
          </a:p>
          <a:p>
            <a:pPr marL="0" indent="0">
              <a:buNone/>
            </a:pPr>
            <a:r>
              <a:rPr lang="en-US" dirty="0"/>
              <a:t>    The size of the user population is small</a:t>
            </a:r>
          </a:p>
          <a:p>
            <a:pPr marL="0" indent="0">
              <a:buNone/>
            </a:pPr>
            <a:r>
              <a:rPr lang="en-US" dirty="0"/>
              <a:t>    Bad IDE support</a:t>
            </a:r>
          </a:p>
          <a:p>
            <a:pPr marL="0" indent="0">
              <a:buNone/>
            </a:pPr>
            <a:r>
              <a:rPr lang="en-US" dirty="0"/>
              <a:t>    Hard to execute the codes in terminal</a:t>
            </a:r>
          </a:p>
          <a:p>
            <a:pPr marL="0" indent="0">
              <a:buNone/>
            </a:pPr>
            <a:r>
              <a:rPr lang="en-US" dirty="0"/>
              <a:t>    The</a:t>
            </a:r>
            <a:r>
              <a:rPr lang="zh-CN" altLang="en-US" dirty="0"/>
              <a:t> </a:t>
            </a:r>
            <a:r>
              <a:rPr lang="en-CA" altLang="zh-CN" dirty="0"/>
              <a:t>re</a:t>
            </a:r>
            <a:r>
              <a:rPr lang="en-US"/>
              <a:t>sources </a:t>
            </a:r>
            <a:r>
              <a:rPr lang="en-US" dirty="0"/>
              <a:t>are fewer than the other two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829262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289</Words>
  <Application>Microsoft Macintosh PowerPoint</Application>
  <PresentationFormat>Widescreen</PresentationFormat>
  <Paragraphs>35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 Light</vt:lpstr>
      <vt:lpstr>Rockwell</vt:lpstr>
      <vt:lpstr>Wingdings</vt:lpstr>
      <vt:lpstr>Atlas</vt:lpstr>
      <vt:lpstr>Homework 1 Presentation</vt:lpstr>
      <vt:lpstr>Logistic Regression</vt:lpstr>
      <vt:lpstr>Logistic Regression</vt:lpstr>
      <vt:lpstr>ROC Curve (Julia)</vt:lpstr>
      <vt:lpstr>Random Forest</vt:lpstr>
      <vt:lpstr>Random Forest</vt:lpstr>
      <vt:lpstr>Pro/Con List: Python</vt:lpstr>
      <vt:lpstr>Pro/Con List: R</vt:lpstr>
      <vt:lpstr>Pro/Con List: Julia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Zhaohang Yan</dc:creator>
  <cp:lastModifiedBy>Zhaohang Yan</cp:lastModifiedBy>
  <cp:revision>3</cp:revision>
  <dcterms:created xsi:type="dcterms:W3CDTF">2020-10-30T10:11:13Z</dcterms:created>
  <dcterms:modified xsi:type="dcterms:W3CDTF">2020-10-30T11:16:02Z</dcterms:modified>
</cp:coreProperties>
</file>